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2" d="100"/>
          <a:sy n="62" d="100"/>
        </p:scale>
        <p:origin x="804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099176" y="887413"/>
            <a:ext cx="5370512" cy="5334000"/>
            <a:chOff x="6099176" y="887413"/>
            <a:chExt cx="5370512" cy="5334000"/>
          </a:xfrm>
        </p:grpSpPr>
        <p:sp>
          <p:nvSpPr>
            <p:cNvPr id="3" name="AutoShape 3"/>
            <p:cNvSpPr/>
            <p:nvPr/>
          </p:nvSpPr>
          <p:spPr>
            <a:xfrm>
              <a:off x="7759701" y="887413"/>
              <a:ext cx="454025" cy="630238"/>
            </a:xfrm>
            <a:custGeom>
              <a:avLst/>
              <a:gdLst/>
              <a:ahLst/>
              <a:cxnLst/>
              <a:rect l="l" t="t" r="r" b="b"/>
              <a:pathLst>
                <a:path w="286" h="397">
                  <a:moveTo>
                    <a:pt x="286" y="319"/>
                  </a:moveTo>
                  <a:cubicBezTo>
                    <a:pt x="286" y="319"/>
                    <a:pt x="197" y="186"/>
                    <a:pt x="157" y="150"/>
                  </a:cubicBezTo>
                  <a:cubicBezTo>
                    <a:pt x="157" y="150"/>
                    <a:pt x="87" y="5"/>
                    <a:pt x="53" y="3"/>
                  </a:cubicBezTo>
                  <a:cubicBezTo>
                    <a:pt x="20" y="0"/>
                    <a:pt x="68" y="77"/>
                    <a:pt x="72" y="88"/>
                  </a:cubicBezTo>
                  <a:cubicBezTo>
                    <a:pt x="72" y="88"/>
                    <a:pt x="11" y="111"/>
                    <a:pt x="5" y="146"/>
                  </a:cubicBezTo>
                  <a:cubicBezTo>
                    <a:pt x="0" y="182"/>
                    <a:pt x="5" y="188"/>
                    <a:pt x="28" y="190"/>
                  </a:cubicBezTo>
                  <a:cubicBezTo>
                    <a:pt x="51" y="193"/>
                    <a:pt x="117" y="208"/>
                    <a:pt x="130" y="242"/>
                  </a:cubicBezTo>
                  <a:cubicBezTo>
                    <a:pt x="144" y="277"/>
                    <a:pt x="230" y="397"/>
                    <a:pt x="230" y="397"/>
                  </a:cubicBezTo>
                  <a:lnTo>
                    <a:pt x="286" y="319"/>
                  </a:lnTo>
                  <a:close/>
                </a:path>
              </a:pathLst>
            </a:custGeom>
            <a:solidFill>
              <a:srgbClr val="F9B5AA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>
              <a:off x="9151938" y="1295400"/>
              <a:ext cx="485775" cy="531813"/>
            </a:xfrm>
            <a:custGeom>
              <a:avLst/>
              <a:gdLst/>
              <a:ahLst/>
              <a:cxnLst/>
              <a:rect l="l" t="t" r="r" b="b"/>
              <a:pathLst>
                <a:path w="307" h="335">
                  <a:moveTo>
                    <a:pt x="46" y="166"/>
                  </a:moveTo>
                  <a:cubicBezTo>
                    <a:pt x="46" y="166"/>
                    <a:pt x="0" y="96"/>
                    <a:pt x="10" y="57"/>
                  </a:cubicBezTo>
                  <a:cubicBezTo>
                    <a:pt x="20" y="17"/>
                    <a:pt x="24" y="0"/>
                    <a:pt x="77" y="2"/>
                  </a:cubicBezTo>
                  <a:cubicBezTo>
                    <a:pt x="134" y="5"/>
                    <a:pt x="195" y="25"/>
                    <a:pt x="238" y="65"/>
                  </a:cubicBezTo>
                  <a:cubicBezTo>
                    <a:pt x="282" y="106"/>
                    <a:pt x="281" y="147"/>
                    <a:pt x="294" y="178"/>
                  </a:cubicBezTo>
                  <a:cubicBezTo>
                    <a:pt x="307" y="210"/>
                    <a:pt x="307" y="270"/>
                    <a:pt x="295" y="294"/>
                  </a:cubicBezTo>
                  <a:cubicBezTo>
                    <a:pt x="283" y="317"/>
                    <a:pt x="259" y="335"/>
                    <a:pt x="223" y="316"/>
                  </a:cubicBezTo>
                  <a:cubicBezTo>
                    <a:pt x="188" y="297"/>
                    <a:pt x="46" y="166"/>
                    <a:pt x="46" y="166"/>
                  </a:cubicBezTo>
                  <a:close/>
                </a:path>
              </a:pathLst>
            </a:custGeom>
            <a:solidFill>
              <a:srgbClr val="3462E1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9278938" y="1382713"/>
              <a:ext cx="434975" cy="917575"/>
            </a:xfrm>
            <a:custGeom>
              <a:avLst/>
              <a:gdLst/>
              <a:ahLst/>
              <a:cxnLst/>
              <a:rect l="l" t="t" r="r" b="b"/>
              <a:pathLst>
                <a:path w="275" h="578">
                  <a:moveTo>
                    <a:pt x="37" y="6"/>
                  </a:moveTo>
                  <a:cubicBezTo>
                    <a:pt x="37" y="6"/>
                    <a:pt x="89" y="0"/>
                    <a:pt x="111" y="28"/>
                  </a:cubicBezTo>
                  <a:cubicBezTo>
                    <a:pt x="133" y="56"/>
                    <a:pt x="164" y="85"/>
                    <a:pt x="168" y="132"/>
                  </a:cubicBezTo>
                  <a:cubicBezTo>
                    <a:pt x="173" y="179"/>
                    <a:pt x="170" y="250"/>
                    <a:pt x="177" y="291"/>
                  </a:cubicBezTo>
                  <a:cubicBezTo>
                    <a:pt x="184" y="332"/>
                    <a:pt x="239" y="438"/>
                    <a:pt x="249" y="458"/>
                  </a:cubicBezTo>
                  <a:cubicBezTo>
                    <a:pt x="259" y="479"/>
                    <a:pt x="275" y="517"/>
                    <a:pt x="266" y="546"/>
                  </a:cubicBezTo>
                  <a:cubicBezTo>
                    <a:pt x="258" y="575"/>
                    <a:pt x="262" y="578"/>
                    <a:pt x="234" y="568"/>
                  </a:cubicBezTo>
                  <a:cubicBezTo>
                    <a:pt x="206" y="558"/>
                    <a:pt x="162" y="569"/>
                    <a:pt x="158" y="560"/>
                  </a:cubicBezTo>
                  <a:cubicBezTo>
                    <a:pt x="154" y="552"/>
                    <a:pt x="155" y="481"/>
                    <a:pt x="139" y="479"/>
                  </a:cubicBezTo>
                  <a:cubicBezTo>
                    <a:pt x="123" y="476"/>
                    <a:pt x="81" y="399"/>
                    <a:pt x="70" y="346"/>
                  </a:cubicBezTo>
                  <a:cubicBezTo>
                    <a:pt x="60" y="293"/>
                    <a:pt x="0" y="167"/>
                    <a:pt x="9" y="154"/>
                  </a:cubicBezTo>
                  <a:cubicBezTo>
                    <a:pt x="18" y="141"/>
                    <a:pt x="37" y="6"/>
                    <a:pt x="37" y="6"/>
                  </a:cubicBezTo>
                  <a:close/>
                </a:path>
              </a:pathLst>
            </a:custGeom>
            <a:solidFill>
              <a:srgbClr val="1F1B1C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>
              <a:off x="7107238" y="5095875"/>
              <a:ext cx="3960813" cy="1125538"/>
            </a:xfrm>
            <a:custGeom>
              <a:avLst/>
              <a:gdLst/>
              <a:ahLst/>
              <a:cxnLst/>
              <a:rect l="l" t="t" r="r" b="b"/>
              <a:pathLst>
                <a:path w="2496" h="709">
                  <a:moveTo>
                    <a:pt x="378" y="67"/>
                  </a:moveTo>
                  <a:cubicBezTo>
                    <a:pt x="378" y="67"/>
                    <a:pt x="154" y="104"/>
                    <a:pt x="101" y="228"/>
                  </a:cubicBezTo>
                  <a:cubicBezTo>
                    <a:pt x="49" y="351"/>
                    <a:pt x="0" y="467"/>
                    <a:pt x="131" y="546"/>
                  </a:cubicBezTo>
                  <a:cubicBezTo>
                    <a:pt x="262" y="625"/>
                    <a:pt x="924" y="682"/>
                    <a:pt x="1055" y="688"/>
                  </a:cubicBezTo>
                  <a:cubicBezTo>
                    <a:pt x="1508" y="709"/>
                    <a:pt x="2240" y="593"/>
                    <a:pt x="2294" y="583"/>
                  </a:cubicBezTo>
                  <a:cubicBezTo>
                    <a:pt x="2373" y="569"/>
                    <a:pt x="2496" y="434"/>
                    <a:pt x="2302" y="355"/>
                  </a:cubicBezTo>
                  <a:cubicBezTo>
                    <a:pt x="2107" y="277"/>
                    <a:pt x="1235" y="206"/>
                    <a:pt x="1142" y="183"/>
                  </a:cubicBezTo>
                  <a:cubicBezTo>
                    <a:pt x="1048" y="161"/>
                    <a:pt x="591" y="0"/>
                    <a:pt x="378" y="67"/>
                  </a:cubicBezTo>
                  <a:close/>
                </a:path>
              </a:pathLst>
            </a:custGeom>
            <a:solidFill>
              <a:srgbClr val="7EACF8">
                <a:alpha val="100000"/>
                <a:lumMod val="20000"/>
                <a:lumOff val="80000"/>
              </a:srgbClr>
            </a:solidFill>
            <a:ln>
              <a:headEnd type="none"/>
              <a:tailEnd type="none"/>
            </a:ln>
          </p:spPr>
        </p:sp>
        <p:sp>
          <p:nvSpPr>
            <p:cNvPr id="7" name="AutoShape 7"/>
            <p:cNvSpPr/>
            <p:nvPr/>
          </p:nvSpPr>
          <p:spPr>
            <a:xfrm>
              <a:off x="8753476" y="5549900"/>
              <a:ext cx="193675" cy="349250"/>
            </a:xfrm>
            <a:custGeom>
              <a:avLst/>
              <a:gdLst/>
              <a:ahLst/>
              <a:cxnLst/>
              <a:rect l="l" t="t" r="r" b="b"/>
              <a:pathLst>
                <a:path w="122" h="220">
                  <a:moveTo>
                    <a:pt x="35" y="10"/>
                  </a:moveTo>
                  <a:cubicBezTo>
                    <a:pt x="35" y="10"/>
                    <a:pt x="41" y="64"/>
                    <a:pt x="30" y="93"/>
                  </a:cubicBezTo>
                  <a:cubicBezTo>
                    <a:pt x="19" y="121"/>
                    <a:pt x="0" y="147"/>
                    <a:pt x="6" y="171"/>
                  </a:cubicBezTo>
                  <a:cubicBezTo>
                    <a:pt x="13" y="194"/>
                    <a:pt x="33" y="220"/>
                    <a:pt x="62" y="207"/>
                  </a:cubicBezTo>
                  <a:cubicBezTo>
                    <a:pt x="91" y="194"/>
                    <a:pt x="116" y="147"/>
                    <a:pt x="119" y="116"/>
                  </a:cubicBezTo>
                  <a:cubicBezTo>
                    <a:pt x="122" y="86"/>
                    <a:pt x="113" y="0"/>
                    <a:pt x="113" y="0"/>
                  </a:cubicBezTo>
                  <a:lnTo>
                    <a:pt x="35" y="10"/>
                  </a:lnTo>
                  <a:close/>
                </a:path>
              </a:pathLst>
            </a:custGeom>
            <a:solidFill>
              <a:srgbClr val="3462E1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8" name="AutoShape 8"/>
            <p:cNvSpPr/>
            <p:nvPr/>
          </p:nvSpPr>
          <p:spPr>
            <a:xfrm>
              <a:off x="7631113" y="5414963"/>
              <a:ext cx="609600" cy="317500"/>
            </a:xfrm>
            <a:custGeom>
              <a:avLst/>
              <a:gdLst/>
              <a:ahLst/>
              <a:cxnLst/>
              <a:rect l="l" t="t" r="r" b="b"/>
              <a:pathLst>
                <a:path w="384" h="200">
                  <a:moveTo>
                    <a:pt x="349" y="11"/>
                  </a:moveTo>
                  <a:cubicBezTo>
                    <a:pt x="349" y="11"/>
                    <a:pt x="362" y="62"/>
                    <a:pt x="373" y="84"/>
                  </a:cubicBezTo>
                  <a:cubicBezTo>
                    <a:pt x="384" y="106"/>
                    <a:pt x="370" y="173"/>
                    <a:pt x="359" y="181"/>
                  </a:cubicBezTo>
                  <a:cubicBezTo>
                    <a:pt x="348" y="189"/>
                    <a:pt x="313" y="181"/>
                    <a:pt x="313" y="181"/>
                  </a:cubicBezTo>
                  <a:cubicBezTo>
                    <a:pt x="313" y="181"/>
                    <a:pt x="311" y="128"/>
                    <a:pt x="276" y="147"/>
                  </a:cubicBezTo>
                  <a:cubicBezTo>
                    <a:pt x="241" y="167"/>
                    <a:pt x="167" y="200"/>
                    <a:pt x="97" y="197"/>
                  </a:cubicBezTo>
                  <a:cubicBezTo>
                    <a:pt x="27" y="194"/>
                    <a:pt x="0" y="181"/>
                    <a:pt x="25" y="155"/>
                  </a:cubicBezTo>
                  <a:cubicBezTo>
                    <a:pt x="25" y="155"/>
                    <a:pt x="132" y="141"/>
                    <a:pt x="176" y="98"/>
                  </a:cubicBezTo>
                  <a:cubicBezTo>
                    <a:pt x="221" y="55"/>
                    <a:pt x="245" y="31"/>
                    <a:pt x="245" y="31"/>
                  </a:cubicBezTo>
                  <a:cubicBezTo>
                    <a:pt x="251" y="0"/>
                    <a:pt x="251" y="0"/>
                    <a:pt x="251" y="0"/>
                  </a:cubicBezTo>
                  <a:lnTo>
                    <a:pt x="349" y="11"/>
                  </a:lnTo>
                  <a:close/>
                </a:path>
              </a:pathLst>
            </a:custGeom>
            <a:solidFill>
              <a:srgbClr val="3462E1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9" name="AutoShape 9"/>
            <p:cNvSpPr/>
            <p:nvPr/>
          </p:nvSpPr>
          <p:spPr>
            <a:xfrm>
              <a:off x="7986713" y="2962275"/>
              <a:ext cx="1000125" cy="2636838"/>
            </a:xfrm>
            <a:custGeom>
              <a:avLst/>
              <a:gdLst/>
              <a:ahLst/>
              <a:cxnLst/>
              <a:rect l="l" t="t" r="r" b="b"/>
              <a:pathLst>
                <a:path w="630" h="1661">
                  <a:moveTo>
                    <a:pt x="165" y="0"/>
                  </a:moveTo>
                  <a:lnTo>
                    <a:pt x="14" y="915"/>
                  </a:lnTo>
                  <a:lnTo>
                    <a:pt x="36" y="1517"/>
                  </a:lnTo>
                  <a:lnTo>
                    <a:pt x="0" y="1519"/>
                  </a:lnTo>
                  <a:lnTo>
                    <a:pt x="21" y="1576"/>
                  </a:lnTo>
                  <a:lnTo>
                    <a:pt x="138" y="1574"/>
                  </a:lnTo>
                  <a:lnTo>
                    <a:pt x="155" y="1520"/>
                  </a:lnTo>
                  <a:lnTo>
                    <a:pt x="121" y="1521"/>
                  </a:lnTo>
                  <a:lnTo>
                    <a:pt x="207" y="1028"/>
                  </a:lnTo>
                  <a:lnTo>
                    <a:pt x="315" y="444"/>
                  </a:lnTo>
                  <a:lnTo>
                    <a:pt x="394" y="1045"/>
                  </a:lnTo>
                  <a:lnTo>
                    <a:pt x="516" y="1611"/>
                  </a:lnTo>
                  <a:lnTo>
                    <a:pt x="489" y="1609"/>
                  </a:lnTo>
                  <a:lnTo>
                    <a:pt x="502" y="1657"/>
                  </a:lnTo>
                  <a:lnTo>
                    <a:pt x="611" y="1661"/>
                  </a:lnTo>
                  <a:lnTo>
                    <a:pt x="630" y="1607"/>
                  </a:lnTo>
                  <a:lnTo>
                    <a:pt x="587" y="1607"/>
                  </a:lnTo>
                  <a:lnTo>
                    <a:pt x="576" y="977"/>
                  </a:lnTo>
                  <a:lnTo>
                    <a:pt x="553" y="291"/>
                  </a:lnTo>
                  <a:lnTo>
                    <a:pt x="547" y="24"/>
                  </a:lnTo>
                  <a:lnTo>
                    <a:pt x="165" y="0"/>
                  </a:lnTo>
                  <a:close/>
                </a:path>
              </a:pathLst>
            </a:custGeom>
            <a:solidFill>
              <a:srgbClr val="1E1A1B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0" name="AutoShape 10"/>
            <p:cNvSpPr/>
            <p:nvPr/>
          </p:nvSpPr>
          <p:spPr>
            <a:xfrm>
              <a:off x="7983538" y="1374775"/>
              <a:ext cx="1184275" cy="1747838"/>
            </a:xfrm>
            <a:custGeom>
              <a:avLst/>
              <a:gdLst/>
              <a:ahLst/>
              <a:cxnLst/>
              <a:rect l="l" t="t" r="r" b="b"/>
              <a:pathLst>
                <a:path w="746" h="1101">
                  <a:moveTo>
                    <a:pt x="153" y="0"/>
                  </a:moveTo>
                  <a:cubicBezTo>
                    <a:pt x="79" y="79"/>
                    <a:pt x="79" y="79"/>
                    <a:pt x="79" y="79"/>
                  </a:cubicBezTo>
                  <a:cubicBezTo>
                    <a:pt x="226" y="381"/>
                    <a:pt x="226" y="381"/>
                    <a:pt x="226" y="381"/>
                  </a:cubicBezTo>
                  <a:cubicBezTo>
                    <a:pt x="0" y="923"/>
                    <a:pt x="0" y="923"/>
                    <a:pt x="0" y="923"/>
                  </a:cubicBezTo>
                  <a:cubicBezTo>
                    <a:pt x="99" y="1019"/>
                    <a:pt x="99" y="1019"/>
                    <a:pt x="99" y="1019"/>
                  </a:cubicBezTo>
                  <a:cubicBezTo>
                    <a:pt x="333" y="678"/>
                    <a:pt x="333" y="678"/>
                    <a:pt x="333" y="678"/>
                  </a:cubicBezTo>
                  <a:cubicBezTo>
                    <a:pt x="342" y="1014"/>
                    <a:pt x="342" y="1014"/>
                    <a:pt x="342" y="1014"/>
                  </a:cubicBezTo>
                  <a:cubicBezTo>
                    <a:pt x="410" y="1008"/>
                    <a:pt x="410" y="1008"/>
                    <a:pt x="410" y="1008"/>
                  </a:cubicBezTo>
                  <a:cubicBezTo>
                    <a:pt x="424" y="1101"/>
                    <a:pt x="424" y="1101"/>
                    <a:pt x="424" y="1101"/>
                  </a:cubicBezTo>
                  <a:cubicBezTo>
                    <a:pt x="542" y="1101"/>
                    <a:pt x="542" y="1101"/>
                    <a:pt x="542" y="1101"/>
                  </a:cubicBezTo>
                  <a:cubicBezTo>
                    <a:pt x="542" y="1101"/>
                    <a:pt x="644" y="867"/>
                    <a:pt x="667" y="726"/>
                  </a:cubicBezTo>
                  <a:cubicBezTo>
                    <a:pt x="689" y="585"/>
                    <a:pt x="746" y="421"/>
                    <a:pt x="746" y="421"/>
                  </a:cubicBezTo>
                  <a:cubicBezTo>
                    <a:pt x="596" y="291"/>
                    <a:pt x="596" y="291"/>
                    <a:pt x="596" y="291"/>
                  </a:cubicBezTo>
                  <a:cubicBezTo>
                    <a:pt x="453" y="252"/>
                    <a:pt x="453" y="252"/>
                    <a:pt x="453" y="252"/>
                  </a:cubicBezTo>
                  <a:cubicBezTo>
                    <a:pt x="348" y="254"/>
                    <a:pt x="348" y="254"/>
                    <a:pt x="348" y="254"/>
                  </a:cubicBezTo>
                  <a:lnTo>
                    <a:pt x="153" y="0"/>
                  </a:lnTo>
                  <a:close/>
                </a:path>
              </a:pathLst>
            </a:custGeom>
            <a:solidFill>
              <a:srgbClr val="3462E1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1" name="AutoShape 11"/>
            <p:cNvSpPr/>
            <p:nvPr/>
          </p:nvSpPr>
          <p:spPr>
            <a:xfrm>
              <a:off x="8582026" y="1774825"/>
              <a:ext cx="169863" cy="150813"/>
            </a:xfrm>
            <a:custGeom>
              <a:avLst/>
              <a:gdLst/>
              <a:ahLst/>
              <a:cxnLst/>
              <a:rect l="l" t="t" r="r" b="b"/>
              <a:pathLst>
                <a:path w="107" h="95">
                  <a:moveTo>
                    <a:pt x="76" y="0"/>
                  </a:moveTo>
                  <a:lnTo>
                    <a:pt x="0" y="95"/>
                  </a:lnTo>
                  <a:lnTo>
                    <a:pt x="107" y="68"/>
                  </a:lnTo>
                  <a:lnTo>
                    <a:pt x="76" y="0"/>
                  </a:lnTo>
                  <a:close/>
                </a:path>
              </a:pathLst>
            </a:custGeom>
            <a:solidFill>
              <a:srgbClr val="618C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2" name="AutoShape 12"/>
            <p:cNvSpPr/>
            <p:nvPr/>
          </p:nvSpPr>
          <p:spPr>
            <a:xfrm>
              <a:off x="8751888" y="1839913"/>
              <a:ext cx="138113" cy="217488"/>
            </a:xfrm>
            <a:custGeom>
              <a:avLst/>
              <a:gdLst/>
              <a:ahLst/>
              <a:cxnLst/>
              <a:rect l="l" t="t" r="r" b="b"/>
              <a:pathLst>
                <a:path w="87" h="137">
                  <a:moveTo>
                    <a:pt x="13" y="137"/>
                  </a:moveTo>
                  <a:lnTo>
                    <a:pt x="0" y="27"/>
                  </a:lnTo>
                  <a:lnTo>
                    <a:pt x="87" y="0"/>
                  </a:lnTo>
                  <a:lnTo>
                    <a:pt x="13" y="137"/>
                  </a:lnTo>
                  <a:close/>
                </a:path>
              </a:pathLst>
            </a:custGeom>
            <a:solidFill>
              <a:srgbClr val="618C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3" name="AutoShape 13"/>
            <p:cNvSpPr/>
            <p:nvPr/>
          </p:nvSpPr>
          <p:spPr>
            <a:xfrm>
              <a:off x="9215438" y="1730375"/>
              <a:ext cx="187325" cy="282575"/>
            </a:xfrm>
            <a:custGeom>
              <a:avLst/>
              <a:gdLst/>
              <a:ahLst/>
              <a:cxnLst/>
              <a:rect l="l" t="t" r="r" b="b"/>
              <a:pathLst>
                <a:path w="118" h="178">
                  <a:moveTo>
                    <a:pt x="20" y="23"/>
                  </a:moveTo>
                  <a:cubicBezTo>
                    <a:pt x="20" y="23"/>
                    <a:pt x="19" y="158"/>
                    <a:pt x="0" y="178"/>
                  </a:cubicBezTo>
                  <a:cubicBezTo>
                    <a:pt x="0" y="178"/>
                    <a:pt x="93" y="118"/>
                    <a:pt x="110" y="127"/>
                  </a:cubicBezTo>
                  <a:cubicBezTo>
                    <a:pt x="110" y="127"/>
                    <a:pt x="118" y="79"/>
                    <a:pt x="110" y="40"/>
                  </a:cubicBezTo>
                  <a:cubicBezTo>
                    <a:pt x="103" y="0"/>
                    <a:pt x="20" y="23"/>
                    <a:pt x="20" y="23"/>
                  </a:cubicBezTo>
                  <a:close/>
                </a:path>
              </a:pathLst>
            </a:custGeom>
            <a:solidFill>
              <a:srgbClr val="EC9387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4" name="AutoShape 14"/>
            <p:cNvSpPr/>
            <p:nvPr/>
          </p:nvSpPr>
          <p:spPr>
            <a:xfrm>
              <a:off x="8689976" y="1825625"/>
              <a:ext cx="538163" cy="514350"/>
            </a:xfrm>
            <a:custGeom>
              <a:avLst/>
              <a:gdLst/>
              <a:ahLst/>
              <a:cxnLst/>
              <a:rect l="l" t="t" r="r" b="b"/>
              <a:pathLst>
                <a:path w="339" h="324">
                  <a:moveTo>
                    <a:pt x="69" y="304"/>
                  </a:moveTo>
                  <a:cubicBezTo>
                    <a:pt x="69" y="304"/>
                    <a:pt x="0" y="324"/>
                    <a:pt x="0" y="270"/>
                  </a:cubicBezTo>
                  <a:cubicBezTo>
                    <a:pt x="0" y="215"/>
                    <a:pt x="119" y="101"/>
                    <a:pt x="149" y="79"/>
                  </a:cubicBezTo>
                  <a:cubicBezTo>
                    <a:pt x="178" y="57"/>
                    <a:pt x="231" y="0"/>
                    <a:pt x="280" y="7"/>
                  </a:cubicBezTo>
                  <a:cubicBezTo>
                    <a:pt x="330" y="14"/>
                    <a:pt x="339" y="85"/>
                    <a:pt x="331" y="118"/>
                  </a:cubicBezTo>
                  <a:cubicBezTo>
                    <a:pt x="331" y="118"/>
                    <a:pt x="273" y="59"/>
                    <a:pt x="245" y="79"/>
                  </a:cubicBezTo>
                  <a:cubicBezTo>
                    <a:pt x="218" y="99"/>
                    <a:pt x="178" y="190"/>
                    <a:pt x="178" y="190"/>
                  </a:cubicBezTo>
                  <a:cubicBezTo>
                    <a:pt x="213" y="213"/>
                    <a:pt x="213" y="213"/>
                    <a:pt x="213" y="213"/>
                  </a:cubicBezTo>
                  <a:lnTo>
                    <a:pt x="69" y="304"/>
                  </a:lnTo>
                  <a:close/>
                </a:path>
              </a:pathLst>
            </a:custGeom>
            <a:solidFill>
              <a:srgbClr val="F9B5AA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5" name="AutoShape 15"/>
            <p:cNvSpPr/>
            <p:nvPr/>
          </p:nvSpPr>
          <p:spPr>
            <a:xfrm>
              <a:off x="9050338" y="2976563"/>
              <a:ext cx="981075" cy="2501900"/>
            </a:xfrm>
            <a:custGeom>
              <a:avLst/>
              <a:gdLst/>
              <a:ahLst/>
              <a:cxnLst/>
              <a:rect l="l" t="t" r="r" b="b"/>
              <a:pathLst>
                <a:path w="619" h="1576">
                  <a:moveTo>
                    <a:pt x="0" y="87"/>
                  </a:moveTo>
                  <a:cubicBezTo>
                    <a:pt x="39" y="606"/>
                    <a:pt x="39" y="606"/>
                    <a:pt x="39" y="606"/>
                  </a:cubicBezTo>
                  <a:cubicBezTo>
                    <a:pt x="33" y="1016"/>
                    <a:pt x="33" y="1016"/>
                    <a:pt x="33" y="1016"/>
                  </a:cubicBezTo>
                  <a:cubicBezTo>
                    <a:pt x="33" y="1016"/>
                    <a:pt x="52" y="1080"/>
                    <a:pt x="107" y="1073"/>
                  </a:cubicBezTo>
                  <a:cubicBezTo>
                    <a:pt x="161" y="1067"/>
                    <a:pt x="135" y="1064"/>
                    <a:pt x="135" y="1064"/>
                  </a:cubicBezTo>
                  <a:cubicBezTo>
                    <a:pt x="251" y="1576"/>
                    <a:pt x="251" y="1576"/>
                    <a:pt x="251" y="1576"/>
                  </a:cubicBezTo>
                  <a:cubicBezTo>
                    <a:pt x="327" y="1550"/>
                    <a:pt x="327" y="1550"/>
                    <a:pt x="327" y="1550"/>
                  </a:cubicBezTo>
                  <a:cubicBezTo>
                    <a:pt x="251" y="1041"/>
                    <a:pt x="251" y="1041"/>
                    <a:pt x="251" y="1041"/>
                  </a:cubicBezTo>
                  <a:cubicBezTo>
                    <a:pt x="619" y="948"/>
                    <a:pt x="619" y="948"/>
                    <a:pt x="619" y="948"/>
                  </a:cubicBezTo>
                  <a:cubicBezTo>
                    <a:pt x="616" y="862"/>
                    <a:pt x="616" y="862"/>
                    <a:pt x="616" y="862"/>
                  </a:cubicBezTo>
                  <a:cubicBezTo>
                    <a:pt x="360" y="839"/>
                    <a:pt x="360" y="839"/>
                    <a:pt x="360" y="839"/>
                  </a:cubicBezTo>
                  <a:cubicBezTo>
                    <a:pt x="360" y="839"/>
                    <a:pt x="254" y="833"/>
                    <a:pt x="222" y="881"/>
                  </a:cubicBezTo>
                  <a:cubicBezTo>
                    <a:pt x="222" y="881"/>
                    <a:pt x="193" y="724"/>
                    <a:pt x="228" y="615"/>
                  </a:cubicBezTo>
                  <a:cubicBezTo>
                    <a:pt x="263" y="506"/>
                    <a:pt x="321" y="260"/>
                    <a:pt x="324" y="183"/>
                  </a:cubicBezTo>
                  <a:cubicBezTo>
                    <a:pt x="327" y="106"/>
                    <a:pt x="259" y="0"/>
                    <a:pt x="259" y="0"/>
                  </a:cubicBezTo>
                  <a:lnTo>
                    <a:pt x="0" y="87"/>
                  </a:lnTo>
                  <a:close/>
                </a:path>
              </a:pathLst>
            </a:custGeom>
            <a:solidFill>
              <a:srgbClr val="3462E1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6" name="AutoShape 16"/>
            <p:cNvSpPr/>
            <p:nvPr/>
          </p:nvSpPr>
          <p:spPr>
            <a:xfrm>
              <a:off x="10026651" y="4283075"/>
              <a:ext cx="355600" cy="576263"/>
            </a:xfrm>
            <a:custGeom>
              <a:avLst/>
              <a:gdLst/>
              <a:ahLst/>
              <a:cxnLst/>
              <a:rect l="l" t="t" r="r" b="b"/>
              <a:pathLst>
                <a:path w="224" h="363">
                  <a:moveTo>
                    <a:pt x="184" y="340"/>
                  </a:moveTo>
                  <a:cubicBezTo>
                    <a:pt x="184" y="340"/>
                    <a:pt x="208" y="363"/>
                    <a:pt x="224" y="345"/>
                  </a:cubicBezTo>
                  <a:cubicBezTo>
                    <a:pt x="224" y="345"/>
                    <a:pt x="195" y="45"/>
                    <a:pt x="179" y="22"/>
                  </a:cubicBezTo>
                  <a:cubicBezTo>
                    <a:pt x="164" y="0"/>
                    <a:pt x="0" y="39"/>
                    <a:pt x="0" y="39"/>
                  </a:cubicBezTo>
                  <a:cubicBezTo>
                    <a:pt x="3" y="125"/>
                    <a:pt x="3" y="125"/>
                    <a:pt x="3" y="125"/>
                  </a:cubicBezTo>
                  <a:cubicBezTo>
                    <a:pt x="3" y="125"/>
                    <a:pt x="96" y="121"/>
                    <a:pt x="114" y="163"/>
                  </a:cubicBezTo>
                  <a:cubicBezTo>
                    <a:pt x="132" y="206"/>
                    <a:pt x="161" y="318"/>
                    <a:pt x="184" y="340"/>
                  </a:cubicBezTo>
                  <a:close/>
                </a:path>
              </a:pathLst>
            </a:custGeom>
            <a:solidFill>
              <a:srgbClr val="0C0527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7" name="AutoShape 17"/>
            <p:cNvSpPr/>
            <p:nvPr/>
          </p:nvSpPr>
          <p:spPr>
            <a:xfrm>
              <a:off x="9117013" y="5437188"/>
              <a:ext cx="511175" cy="379413"/>
            </a:xfrm>
            <a:custGeom>
              <a:avLst/>
              <a:gdLst/>
              <a:ahLst/>
              <a:cxnLst/>
              <a:rect l="l" t="t" r="r" b="b"/>
              <a:pathLst>
                <a:path w="323" h="239">
                  <a:moveTo>
                    <a:pt x="285" y="0"/>
                  </a:moveTo>
                  <a:cubicBezTo>
                    <a:pt x="285" y="0"/>
                    <a:pt x="323" y="126"/>
                    <a:pt x="323" y="167"/>
                  </a:cubicBezTo>
                  <a:cubicBezTo>
                    <a:pt x="323" y="207"/>
                    <a:pt x="316" y="189"/>
                    <a:pt x="316" y="189"/>
                  </a:cubicBezTo>
                  <a:cubicBezTo>
                    <a:pt x="316" y="189"/>
                    <a:pt x="32" y="239"/>
                    <a:pt x="16" y="227"/>
                  </a:cubicBezTo>
                  <a:cubicBezTo>
                    <a:pt x="0" y="216"/>
                    <a:pt x="14" y="191"/>
                    <a:pt x="32" y="187"/>
                  </a:cubicBezTo>
                  <a:cubicBezTo>
                    <a:pt x="50" y="182"/>
                    <a:pt x="186" y="120"/>
                    <a:pt x="200" y="84"/>
                  </a:cubicBezTo>
                  <a:cubicBezTo>
                    <a:pt x="213" y="48"/>
                    <a:pt x="209" y="26"/>
                    <a:pt x="209" y="26"/>
                  </a:cubicBezTo>
                  <a:lnTo>
                    <a:pt x="285" y="0"/>
                  </a:lnTo>
                  <a:close/>
                </a:path>
              </a:pathLst>
            </a:custGeom>
            <a:solidFill>
              <a:srgbClr val="0C0527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8" name="AutoShape 18"/>
            <p:cNvSpPr/>
            <p:nvPr/>
          </p:nvSpPr>
          <p:spPr>
            <a:xfrm>
              <a:off x="7318376" y="3324225"/>
              <a:ext cx="1527175" cy="1414463"/>
            </a:xfrm>
            <a:custGeom>
              <a:avLst/>
              <a:gdLst/>
              <a:ahLst/>
              <a:cxnLst/>
              <a:rect l="l" t="t" r="r" b="b"/>
              <a:pathLst>
                <a:path w="962" h="891">
                  <a:moveTo>
                    <a:pt x="6" y="110"/>
                  </a:moveTo>
                  <a:cubicBezTo>
                    <a:pt x="0" y="127"/>
                    <a:pt x="11" y="891"/>
                    <a:pt x="11" y="891"/>
                  </a:cubicBezTo>
                  <a:cubicBezTo>
                    <a:pt x="962" y="858"/>
                    <a:pt x="962" y="858"/>
                    <a:pt x="962" y="858"/>
                  </a:cubicBezTo>
                  <a:cubicBezTo>
                    <a:pt x="924" y="0"/>
                    <a:pt x="924" y="0"/>
                    <a:pt x="924" y="0"/>
                  </a:cubicBezTo>
                  <a:cubicBezTo>
                    <a:pt x="924" y="0"/>
                    <a:pt x="110" y="66"/>
                    <a:pt x="61" y="61"/>
                  </a:cubicBezTo>
                  <a:cubicBezTo>
                    <a:pt x="11" y="55"/>
                    <a:pt x="6" y="110"/>
                    <a:pt x="6" y="110"/>
                  </a:cubicBezTo>
                  <a:close/>
                </a:path>
              </a:pathLst>
            </a:custGeom>
            <a:solidFill>
              <a:srgbClr val="7EACF8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9" name="AutoShape 19"/>
            <p:cNvSpPr/>
            <p:nvPr/>
          </p:nvSpPr>
          <p:spPr>
            <a:xfrm>
              <a:off x="8785226" y="3324225"/>
              <a:ext cx="269875" cy="1362075"/>
            </a:xfrm>
            <a:custGeom>
              <a:avLst/>
              <a:gdLst/>
              <a:ahLst/>
              <a:cxnLst/>
              <a:rect l="l" t="t" r="r" b="b"/>
              <a:pathLst>
                <a:path w="170" h="858">
                  <a:moveTo>
                    <a:pt x="170" y="820"/>
                  </a:moveTo>
                  <a:lnTo>
                    <a:pt x="38" y="858"/>
                  </a:lnTo>
                  <a:lnTo>
                    <a:pt x="0" y="0"/>
                  </a:lnTo>
                  <a:lnTo>
                    <a:pt x="126" y="28"/>
                  </a:lnTo>
                  <a:lnTo>
                    <a:pt x="170" y="820"/>
                  </a:lnTo>
                  <a:close/>
                </a:path>
              </a:pathLst>
            </a:custGeom>
            <a:solidFill>
              <a:srgbClr val="7EACF8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0" name="AutoShape 20"/>
            <p:cNvSpPr/>
            <p:nvPr/>
          </p:nvSpPr>
          <p:spPr>
            <a:xfrm>
              <a:off x="7996238" y="3205163"/>
              <a:ext cx="411163" cy="215900"/>
            </a:xfrm>
            <a:custGeom>
              <a:avLst/>
              <a:gdLst/>
              <a:ahLst/>
              <a:cxnLst/>
              <a:rect l="l" t="t" r="r" b="b"/>
              <a:pathLst>
                <a:path w="259" h="136">
                  <a:moveTo>
                    <a:pt x="1" y="130"/>
                  </a:moveTo>
                  <a:cubicBezTo>
                    <a:pt x="1" y="130"/>
                    <a:pt x="0" y="77"/>
                    <a:pt x="16" y="57"/>
                  </a:cubicBezTo>
                  <a:cubicBezTo>
                    <a:pt x="33" y="38"/>
                    <a:pt x="101" y="0"/>
                    <a:pt x="168" y="19"/>
                  </a:cubicBezTo>
                  <a:cubicBezTo>
                    <a:pt x="235" y="39"/>
                    <a:pt x="259" y="68"/>
                    <a:pt x="255" y="110"/>
                  </a:cubicBezTo>
                  <a:cubicBezTo>
                    <a:pt x="226" y="114"/>
                    <a:pt x="226" y="114"/>
                    <a:pt x="226" y="114"/>
                  </a:cubicBezTo>
                  <a:cubicBezTo>
                    <a:pt x="226" y="114"/>
                    <a:pt x="147" y="40"/>
                    <a:pt x="95" y="63"/>
                  </a:cubicBezTo>
                  <a:cubicBezTo>
                    <a:pt x="43" y="87"/>
                    <a:pt x="40" y="124"/>
                    <a:pt x="45" y="130"/>
                  </a:cubicBezTo>
                  <a:cubicBezTo>
                    <a:pt x="49" y="136"/>
                    <a:pt x="1" y="130"/>
                    <a:pt x="1" y="130"/>
                  </a:cubicBezTo>
                  <a:close/>
                </a:path>
              </a:pathLst>
            </a:custGeom>
            <a:solidFill>
              <a:srgbClr val="7EACF8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1" name="AutoShape 21"/>
            <p:cNvSpPr/>
            <p:nvPr/>
          </p:nvSpPr>
          <p:spPr>
            <a:xfrm>
              <a:off x="8097838" y="2709863"/>
              <a:ext cx="703263" cy="650875"/>
            </a:xfrm>
            <a:custGeom>
              <a:avLst/>
              <a:gdLst/>
              <a:ahLst/>
              <a:cxnLst/>
              <a:rect l="l" t="t" r="r" b="b"/>
              <a:pathLst>
                <a:path w="442" h="410">
                  <a:moveTo>
                    <a:pt x="363" y="0"/>
                  </a:moveTo>
                  <a:cubicBezTo>
                    <a:pt x="115" y="271"/>
                    <a:pt x="115" y="271"/>
                    <a:pt x="115" y="271"/>
                  </a:cubicBezTo>
                  <a:cubicBezTo>
                    <a:pt x="115" y="271"/>
                    <a:pt x="25" y="276"/>
                    <a:pt x="13" y="320"/>
                  </a:cubicBezTo>
                  <a:cubicBezTo>
                    <a:pt x="0" y="365"/>
                    <a:pt x="3" y="410"/>
                    <a:pt x="43" y="410"/>
                  </a:cubicBezTo>
                  <a:cubicBezTo>
                    <a:pt x="82" y="410"/>
                    <a:pt x="95" y="367"/>
                    <a:pt x="115" y="357"/>
                  </a:cubicBezTo>
                  <a:cubicBezTo>
                    <a:pt x="135" y="348"/>
                    <a:pt x="147" y="353"/>
                    <a:pt x="199" y="310"/>
                  </a:cubicBezTo>
                  <a:cubicBezTo>
                    <a:pt x="251" y="268"/>
                    <a:pt x="443" y="59"/>
                    <a:pt x="443" y="59"/>
                  </a:cubicBezTo>
                  <a:lnTo>
                    <a:pt x="363" y="0"/>
                  </a:lnTo>
                  <a:close/>
                </a:path>
              </a:pathLst>
            </a:custGeom>
            <a:solidFill>
              <a:srgbClr val="F9B5AA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2" name="AutoShape 22"/>
            <p:cNvSpPr/>
            <p:nvPr/>
          </p:nvSpPr>
          <p:spPr>
            <a:xfrm>
              <a:off x="8799513" y="1868488"/>
              <a:ext cx="927100" cy="1258888"/>
            </a:xfrm>
            <a:custGeom>
              <a:avLst/>
              <a:gdLst/>
              <a:ahLst/>
              <a:cxnLst/>
              <a:rect l="l" t="t" r="r" b="b"/>
              <a:pathLst>
                <a:path w="585" h="793">
                  <a:moveTo>
                    <a:pt x="262" y="91"/>
                  </a:moveTo>
                  <a:cubicBezTo>
                    <a:pt x="236" y="146"/>
                    <a:pt x="236" y="146"/>
                    <a:pt x="236" y="146"/>
                  </a:cubicBezTo>
                  <a:cubicBezTo>
                    <a:pt x="109" y="163"/>
                    <a:pt x="109" y="163"/>
                    <a:pt x="109" y="163"/>
                  </a:cubicBezTo>
                  <a:cubicBezTo>
                    <a:pt x="0" y="277"/>
                    <a:pt x="0" y="277"/>
                    <a:pt x="0" y="277"/>
                  </a:cubicBezTo>
                  <a:cubicBezTo>
                    <a:pt x="199" y="277"/>
                    <a:pt x="199" y="277"/>
                    <a:pt x="199" y="277"/>
                  </a:cubicBezTo>
                  <a:cubicBezTo>
                    <a:pt x="199" y="277"/>
                    <a:pt x="147" y="448"/>
                    <a:pt x="139" y="483"/>
                  </a:cubicBezTo>
                  <a:cubicBezTo>
                    <a:pt x="132" y="518"/>
                    <a:pt x="134" y="793"/>
                    <a:pt x="134" y="793"/>
                  </a:cubicBezTo>
                  <a:cubicBezTo>
                    <a:pt x="417" y="698"/>
                    <a:pt x="417" y="698"/>
                    <a:pt x="417" y="698"/>
                  </a:cubicBezTo>
                  <a:cubicBezTo>
                    <a:pt x="585" y="347"/>
                    <a:pt x="585" y="347"/>
                    <a:pt x="585" y="347"/>
                  </a:cubicBezTo>
                  <a:cubicBezTo>
                    <a:pt x="503" y="171"/>
                    <a:pt x="503" y="171"/>
                    <a:pt x="503" y="171"/>
                  </a:cubicBezTo>
                  <a:cubicBezTo>
                    <a:pt x="437" y="0"/>
                    <a:pt x="437" y="0"/>
                    <a:pt x="437" y="0"/>
                  </a:cubicBezTo>
                  <a:cubicBezTo>
                    <a:pt x="288" y="49"/>
                    <a:pt x="288" y="49"/>
                    <a:pt x="288" y="49"/>
                  </a:cubicBezTo>
                  <a:lnTo>
                    <a:pt x="262" y="9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3" name="AutoShape 23"/>
            <p:cNvSpPr/>
            <p:nvPr/>
          </p:nvSpPr>
          <p:spPr>
            <a:xfrm>
              <a:off x="9185276" y="2308225"/>
              <a:ext cx="287338" cy="633413"/>
            </a:xfrm>
            <a:custGeom>
              <a:avLst/>
              <a:gdLst/>
              <a:ahLst/>
              <a:cxnLst/>
              <a:rect l="l" t="t" r="r" b="b"/>
              <a:pathLst>
                <a:path w="181" h="399">
                  <a:moveTo>
                    <a:pt x="0" y="0"/>
                  </a:moveTo>
                  <a:lnTo>
                    <a:pt x="176" y="399"/>
                  </a:lnTo>
                  <a:lnTo>
                    <a:pt x="181" y="295"/>
                  </a:lnTo>
                  <a:lnTo>
                    <a:pt x="5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EACF8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4" name="AutoShape 24"/>
            <p:cNvSpPr/>
            <p:nvPr/>
          </p:nvSpPr>
          <p:spPr>
            <a:xfrm>
              <a:off x="9413876" y="2254250"/>
              <a:ext cx="536575" cy="849313"/>
            </a:xfrm>
            <a:custGeom>
              <a:avLst/>
              <a:gdLst/>
              <a:ahLst/>
              <a:cxnLst/>
              <a:rect l="l" t="t" r="r" b="b"/>
              <a:pathLst>
                <a:path w="339" h="535">
                  <a:moveTo>
                    <a:pt x="84" y="19"/>
                  </a:moveTo>
                  <a:cubicBezTo>
                    <a:pt x="84" y="19"/>
                    <a:pt x="144" y="0"/>
                    <a:pt x="203" y="34"/>
                  </a:cubicBezTo>
                  <a:cubicBezTo>
                    <a:pt x="263" y="69"/>
                    <a:pt x="300" y="101"/>
                    <a:pt x="320" y="143"/>
                  </a:cubicBezTo>
                  <a:cubicBezTo>
                    <a:pt x="339" y="185"/>
                    <a:pt x="334" y="302"/>
                    <a:pt x="292" y="364"/>
                  </a:cubicBezTo>
                  <a:cubicBezTo>
                    <a:pt x="250" y="426"/>
                    <a:pt x="151" y="535"/>
                    <a:pt x="119" y="532"/>
                  </a:cubicBezTo>
                  <a:cubicBezTo>
                    <a:pt x="87" y="530"/>
                    <a:pt x="5" y="455"/>
                    <a:pt x="2" y="436"/>
                  </a:cubicBezTo>
                  <a:cubicBezTo>
                    <a:pt x="0" y="416"/>
                    <a:pt x="84" y="19"/>
                    <a:pt x="84" y="19"/>
                  </a:cubicBezTo>
                  <a:close/>
                </a:path>
              </a:pathLst>
            </a:custGeom>
            <a:solidFill>
              <a:srgbClr val="7EACF8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5" name="AutoShape 25"/>
            <p:cNvSpPr/>
            <p:nvPr/>
          </p:nvSpPr>
          <p:spPr>
            <a:xfrm>
              <a:off x="9585326" y="2287588"/>
              <a:ext cx="290513" cy="677863"/>
            </a:xfrm>
            <a:custGeom>
              <a:avLst/>
              <a:gdLst/>
              <a:ahLst/>
              <a:cxnLst/>
              <a:rect l="l" t="t" r="r" b="b"/>
              <a:pathLst>
                <a:path w="183" h="427">
                  <a:moveTo>
                    <a:pt x="183" y="276"/>
                  </a:moveTo>
                  <a:cubicBezTo>
                    <a:pt x="183" y="259"/>
                    <a:pt x="141" y="268"/>
                    <a:pt x="141" y="268"/>
                  </a:cubicBezTo>
                  <a:cubicBezTo>
                    <a:pt x="141" y="268"/>
                    <a:pt x="143" y="101"/>
                    <a:pt x="132" y="37"/>
                  </a:cubicBezTo>
                  <a:cubicBezTo>
                    <a:pt x="121" y="29"/>
                    <a:pt x="108" y="21"/>
                    <a:pt x="94" y="13"/>
                  </a:cubicBezTo>
                  <a:cubicBezTo>
                    <a:pt x="84" y="8"/>
                    <a:pt x="75" y="3"/>
                    <a:pt x="65" y="0"/>
                  </a:cubicBezTo>
                  <a:cubicBezTo>
                    <a:pt x="65" y="1"/>
                    <a:pt x="64" y="1"/>
                    <a:pt x="64" y="1"/>
                  </a:cubicBezTo>
                  <a:cubicBezTo>
                    <a:pt x="64" y="1"/>
                    <a:pt x="109" y="209"/>
                    <a:pt x="87" y="256"/>
                  </a:cubicBezTo>
                  <a:cubicBezTo>
                    <a:pt x="45" y="256"/>
                    <a:pt x="45" y="256"/>
                    <a:pt x="45" y="256"/>
                  </a:cubicBezTo>
                  <a:cubicBezTo>
                    <a:pt x="45" y="256"/>
                    <a:pt x="30" y="355"/>
                    <a:pt x="0" y="373"/>
                  </a:cubicBezTo>
                  <a:cubicBezTo>
                    <a:pt x="0" y="373"/>
                    <a:pt x="64" y="425"/>
                    <a:pt x="104" y="427"/>
                  </a:cubicBezTo>
                  <a:cubicBezTo>
                    <a:pt x="111" y="427"/>
                    <a:pt x="118" y="423"/>
                    <a:pt x="125" y="416"/>
                  </a:cubicBezTo>
                  <a:cubicBezTo>
                    <a:pt x="127" y="414"/>
                    <a:pt x="129" y="412"/>
                    <a:pt x="131" y="410"/>
                  </a:cubicBezTo>
                  <a:cubicBezTo>
                    <a:pt x="160" y="373"/>
                    <a:pt x="183" y="289"/>
                    <a:pt x="183" y="276"/>
                  </a:cubicBezTo>
                  <a:close/>
                </a:path>
              </a:pathLst>
            </a:custGeom>
            <a:solidFill>
              <a:srgbClr val="7EACF8">
                <a:alpha val="100000"/>
                <a:lumMod val="60000"/>
                <a:lumOff val="40000"/>
              </a:srgbClr>
            </a:solidFill>
            <a:ln>
              <a:headEnd type="none"/>
              <a:tailEnd type="none"/>
            </a:ln>
          </p:spPr>
        </p:sp>
        <p:sp>
          <p:nvSpPr>
            <p:cNvPr id="26" name="AutoShape 26"/>
            <p:cNvSpPr/>
            <p:nvPr/>
          </p:nvSpPr>
          <p:spPr>
            <a:xfrm>
              <a:off x="9417051" y="2800350"/>
              <a:ext cx="358775" cy="298450"/>
            </a:xfrm>
            <a:custGeom>
              <a:avLst/>
              <a:gdLst/>
              <a:ahLst/>
              <a:cxnLst/>
              <a:rect l="l" t="t" r="r" b="b"/>
              <a:pathLst>
                <a:path w="226" h="188">
                  <a:moveTo>
                    <a:pt x="227" y="100"/>
                  </a:moveTo>
                  <a:cubicBezTo>
                    <a:pt x="161" y="82"/>
                    <a:pt x="42" y="15"/>
                    <a:pt x="16" y="0"/>
                  </a:cubicBezTo>
                  <a:cubicBezTo>
                    <a:pt x="6" y="50"/>
                    <a:pt x="0" y="86"/>
                    <a:pt x="0" y="92"/>
                  </a:cubicBezTo>
                  <a:cubicBezTo>
                    <a:pt x="3" y="110"/>
                    <a:pt x="72" y="174"/>
                    <a:pt x="108" y="186"/>
                  </a:cubicBezTo>
                  <a:cubicBezTo>
                    <a:pt x="117" y="188"/>
                    <a:pt x="117" y="188"/>
                    <a:pt x="117" y="188"/>
                  </a:cubicBezTo>
                  <a:cubicBezTo>
                    <a:pt x="128" y="186"/>
                    <a:pt x="128" y="186"/>
                    <a:pt x="128" y="186"/>
                  </a:cubicBezTo>
                  <a:cubicBezTo>
                    <a:pt x="151" y="177"/>
                    <a:pt x="190" y="140"/>
                    <a:pt x="227" y="100"/>
                  </a:cubicBezTo>
                  <a:close/>
                </a:path>
              </a:pathLst>
            </a:custGeom>
            <a:solidFill>
              <a:srgbClr val="5F96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7" name="AutoShape 27"/>
            <p:cNvSpPr/>
            <p:nvPr/>
          </p:nvSpPr>
          <p:spPr>
            <a:xfrm>
              <a:off x="9159876" y="1381125"/>
              <a:ext cx="325438" cy="425450"/>
            </a:xfrm>
            <a:custGeom>
              <a:avLst/>
              <a:gdLst/>
              <a:ahLst/>
              <a:cxnLst/>
              <a:rect l="l" t="t" r="r" b="b"/>
              <a:pathLst>
                <a:path w="205" h="268">
                  <a:moveTo>
                    <a:pt x="97" y="13"/>
                  </a:moveTo>
                  <a:cubicBezTo>
                    <a:pt x="97" y="13"/>
                    <a:pt x="36" y="71"/>
                    <a:pt x="19" y="121"/>
                  </a:cubicBezTo>
                  <a:cubicBezTo>
                    <a:pt x="1" y="171"/>
                    <a:pt x="0" y="248"/>
                    <a:pt x="14" y="258"/>
                  </a:cubicBezTo>
                  <a:cubicBezTo>
                    <a:pt x="29" y="268"/>
                    <a:pt x="125" y="268"/>
                    <a:pt x="145" y="260"/>
                  </a:cubicBezTo>
                  <a:cubicBezTo>
                    <a:pt x="145" y="260"/>
                    <a:pt x="159" y="163"/>
                    <a:pt x="182" y="152"/>
                  </a:cubicBezTo>
                  <a:cubicBezTo>
                    <a:pt x="205" y="140"/>
                    <a:pt x="205" y="66"/>
                    <a:pt x="183" y="47"/>
                  </a:cubicBezTo>
                  <a:cubicBezTo>
                    <a:pt x="161" y="28"/>
                    <a:pt x="126" y="0"/>
                    <a:pt x="97" y="13"/>
                  </a:cubicBezTo>
                  <a:close/>
                </a:path>
              </a:pathLst>
            </a:custGeom>
            <a:solidFill>
              <a:srgbClr val="F9B5AA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8" name="AutoShape 28"/>
            <p:cNvSpPr/>
            <p:nvPr/>
          </p:nvSpPr>
          <p:spPr>
            <a:xfrm>
              <a:off x="8702676" y="1433513"/>
              <a:ext cx="374650" cy="449263"/>
            </a:xfrm>
            <a:custGeom>
              <a:avLst/>
              <a:gdLst/>
              <a:ahLst/>
              <a:cxnLst/>
              <a:rect l="l" t="t" r="r" b="b"/>
              <a:pathLst>
                <a:path w="236" h="283">
                  <a:moveTo>
                    <a:pt x="47" y="97"/>
                  </a:moveTo>
                  <a:cubicBezTo>
                    <a:pt x="47" y="97"/>
                    <a:pt x="59" y="147"/>
                    <a:pt x="38" y="172"/>
                  </a:cubicBezTo>
                  <a:cubicBezTo>
                    <a:pt x="18" y="197"/>
                    <a:pt x="0" y="215"/>
                    <a:pt x="0" y="215"/>
                  </a:cubicBezTo>
                  <a:cubicBezTo>
                    <a:pt x="31" y="283"/>
                    <a:pt x="31" y="283"/>
                    <a:pt x="31" y="283"/>
                  </a:cubicBezTo>
                  <a:cubicBezTo>
                    <a:pt x="118" y="256"/>
                    <a:pt x="118" y="256"/>
                    <a:pt x="118" y="256"/>
                  </a:cubicBezTo>
                  <a:cubicBezTo>
                    <a:pt x="118" y="256"/>
                    <a:pt x="190" y="104"/>
                    <a:pt x="213" y="52"/>
                  </a:cubicBezTo>
                  <a:cubicBezTo>
                    <a:pt x="236" y="0"/>
                    <a:pt x="47" y="97"/>
                    <a:pt x="47" y="97"/>
                  </a:cubicBezTo>
                  <a:close/>
                </a:path>
              </a:pathLst>
            </a:custGeom>
            <a:solidFill>
              <a:srgbClr val="EC9387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9" name="AutoShape 29"/>
            <p:cNvSpPr/>
            <p:nvPr/>
          </p:nvSpPr>
          <p:spPr>
            <a:xfrm>
              <a:off x="8763001" y="1004888"/>
              <a:ext cx="447675" cy="508000"/>
            </a:xfrm>
            <a:custGeom>
              <a:avLst/>
              <a:gdLst/>
              <a:ahLst/>
              <a:cxnLst/>
              <a:rect l="l" t="t" r="r" b="b"/>
              <a:pathLst>
                <a:path w="282" h="320">
                  <a:moveTo>
                    <a:pt x="59" y="0"/>
                  </a:moveTo>
                  <a:cubicBezTo>
                    <a:pt x="59" y="0"/>
                    <a:pt x="0" y="18"/>
                    <a:pt x="0" y="68"/>
                  </a:cubicBezTo>
                  <a:cubicBezTo>
                    <a:pt x="0" y="118"/>
                    <a:pt x="52" y="138"/>
                    <a:pt x="80" y="143"/>
                  </a:cubicBezTo>
                  <a:cubicBezTo>
                    <a:pt x="107" y="147"/>
                    <a:pt x="180" y="152"/>
                    <a:pt x="180" y="179"/>
                  </a:cubicBezTo>
                  <a:cubicBezTo>
                    <a:pt x="180" y="206"/>
                    <a:pt x="175" y="231"/>
                    <a:pt x="168" y="233"/>
                  </a:cubicBezTo>
                  <a:cubicBezTo>
                    <a:pt x="161" y="236"/>
                    <a:pt x="184" y="281"/>
                    <a:pt x="168" y="297"/>
                  </a:cubicBezTo>
                  <a:cubicBezTo>
                    <a:pt x="168" y="297"/>
                    <a:pt x="214" y="302"/>
                    <a:pt x="209" y="317"/>
                  </a:cubicBezTo>
                  <a:cubicBezTo>
                    <a:pt x="209" y="317"/>
                    <a:pt x="254" y="320"/>
                    <a:pt x="268" y="243"/>
                  </a:cubicBezTo>
                  <a:cubicBezTo>
                    <a:pt x="282" y="165"/>
                    <a:pt x="275" y="106"/>
                    <a:pt x="225" y="97"/>
                  </a:cubicBezTo>
                  <a:cubicBezTo>
                    <a:pt x="175" y="88"/>
                    <a:pt x="64" y="61"/>
                    <a:pt x="59" y="0"/>
                  </a:cubicBezTo>
                  <a:close/>
                </a:path>
              </a:pathLst>
            </a:custGeom>
            <a:solidFill>
              <a:srgbClr val="251E25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0" name="AutoShape 30"/>
            <p:cNvSpPr/>
            <p:nvPr/>
          </p:nvSpPr>
          <p:spPr>
            <a:xfrm>
              <a:off x="8662988" y="1177925"/>
              <a:ext cx="431800" cy="482600"/>
            </a:xfrm>
            <a:custGeom>
              <a:avLst/>
              <a:gdLst/>
              <a:ahLst/>
              <a:cxnLst/>
              <a:rect l="l" t="t" r="r" b="b"/>
              <a:pathLst>
                <a:path w="272" h="304">
                  <a:moveTo>
                    <a:pt x="118" y="0"/>
                  </a:moveTo>
                  <a:cubicBezTo>
                    <a:pt x="118" y="0"/>
                    <a:pt x="54" y="63"/>
                    <a:pt x="36" y="138"/>
                  </a:cubicBezTo>
                  <a:cubicBezTo>
                    <a:pt x="18" y="213"/>
                    <a:pt x="0" y="272"/>
                    <a:pt x="38" y="288"/>
                  </a:cubicBezTo>
                  <a:cubicBezTo>
                    <a:pt x="77" y="304"/>
                    <a:pt x="172" y="263"/>
                    <a:pt x="197" y="254"/>
                  </a:cubicBezTo>
                  <a:cubicBezTo>
                    <a:pt x="222" y="245"/>
                    <a:pt x="272" y="208"/>
                    <a:pt x="272" y="208"/>
                  </a:cubicBezTo>
                  <a:cubicBezTo>
                    <a:pt x="256" y="27"/>
                    <a:pt x="256" y="27"/>
                    <a:pt x="256" y="27"/>
                  </a:cubicBezTo>
                  <a:lnTo>
                    <a:pt x="118" y="0"/>
                  </a:lnTo>
                  <a:close/>
                </a:path>
              </a:pathLst>
            </a:custGeom>
            <a:solidFill>
              <a:srgbClr val="F9B5AA">
                <a:alpha val="100000"/>
              </a:srgbClr>
            </a:solidFill>
            <a:ln>
              <a:headEnd type="none"/>
              <a:tailEnd type="none"/>
            </a:ln>
          </p:spPr>
        </p:sp>
        <p:pic>
          <p:nvPicPr>
            <p:cNvPr id="31" name="Picture 31"/>
            <p:cNvPicPr>
              <a:picLocks noChangeAspect="1"/>
            </p:cNvPicPr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099176" y="3252788"/>
              <a:ext cx="195263" cy="985838"/>
            </a:xfrm>
            <a:prstGeom prst="rect">
              <a:avLst/>
            </a:prstGeom>
            <a:ln>
              <a:headEnd type="none"/>
              <a:tailEnd type="none"/>
            </a:ln>
          </p:spPr>
        </p:pic>
        <p:pic>
          <p:nvPicPr>
            <p:cNvPr id="32" name="Picture 32"/>
            <p:cNvPicPr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283326" y="3252788"/>
              <a:ext cx="476250" cy="985838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3" name="AutoShape 33"/>
            <p:cNvSpPr/>
            <p:nvPr/>
          </p:nvSpPr>
          <p:spPr>
            <a:xfrm>
              <a:off x="6351588" y="3338513"/>
              <a:ext cx="323850" cy="7937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4" name="AutoShape 34"/>
            <p:cNvSpPr/>
            <p:nvPr/>
          </p:nvSpPr>
          <p:spPr>
            <a:xfrm>
              <a:off x="6353176" y="3476625"/>
              <a:ext cx="323850" cy="1111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5" name="AutoShape 35"/>
            <p:cNvSpPr/>
            <p:nvPr/>
          </p:nvSpPr>
          <p:spPr>
            <a:xfrm>
              <a:off x="6353176" y="3529013"/>
              <a:ext cx="323850" cy="127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6" name="AutoShape 36"/>
            <p:cNvSpPr/>
            <p:nvPr/>
          </p:nvSpPr>
          <p:spPr>
            <a:xfrm>
              <a:off x="6353176" y="3582988"/>
              <a:ext cx="323850" cy="1111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7" name="AutoShape 37"/>
            <p:cNvSpPr/>
            <p:nvPr/>
          </p:nvSpPr>
          <p:spPr>
            <a:xfrm>
              <a:off x="6353176" y="3635375"/>
              <a:ext cx="323850" cy="127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8" name="AutoShape 38"/>
            <p:cNvSpPr/>
            <p:nvPr/>
          </p:nvSpPr>
          <p:spPr>
            <a:xfrm>
              <a:off x="6353176" y="3689350"/>
              <a:ext cx="323850" cy="1111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pic>
          <p:nvPicPr>
            <p:cNvPr id="39" name="Picture 39"/>
            <p:cNvPicPr>
              <a:picLocks noChangeAspect="1"/>
            </p:cNvPicPr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548563" y="2855913"/>
              <a:ext cx="381000" cy="823913"/>
            </a:xfrm>
            <a:prstGeom prst="rect">
              <a:avLst/>
            </a:prstGeom>
            <a:ln>
              <a:headEnd type="none"/>
              <a:tailEnd type="none"/>
            </a:ln>
          </p:spPr>
        </p:pic>
        <p:pic>
          <p:nvPicPr>
            <p:cNvPr id="40" name="Picture 40"/>
            <p:cNvPicPr>
              <a:picLocks noChangeAspect="1"/>
            </p:cNvPicPr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958013" y="2679700"/>
              <a:ext cx="195263" cy="985838"/>
            </a:xfrm>
            <a:prstGeom prst="rect">
              <a:avLst/>
            </a:prstGeom>
            <a:ln>
              <a:headEnd type="none"/>
              <a:tailEnd type="none"/>
            </a:ln>
          </p:spPr>
        </p:pic>
        <p:pic>
          <p:nvPicPr>
            <p:cNvPr id="41" name="Picture 41"/>
            <p:cNvPicPr>
              <a:picLocks noChangeAspect="1"/>
            </p:cNvPicPr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142163" y="2679700"/>
              <a:ext cx="476250" cy="985838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42" name="AutoShape 42"/>
            <p:cNvSpPr/>
            <p:nvPr/>
          </p:nvSpPr>
          <p:spPr>
            <a:xfrm>
              <a:off x="7210426" y="2765425"/>
              <a:ext cx="323850" cy="7937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3" name="AutoShape 43"/>
            <p:cNvSpPr/>
            <p:nvPr/>
          </p:nvSpPr>
          <p:spPr>
            <a:xfrm>
              <a:off x="7212013" y="2901950"/>
              <a:ext cx="323850" cy="127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4" name="AutoShape 44"/>
            <p:cNvSpPr/>
            <p:nvPr/>
          </p:nvSpPr>
          <p:spPr>
            <a:xfrm>
              <a:off x="7212013" y="2955925"/>
              <a:ext cx="323850" cy="127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5" name="AutoShape 45"/>
            <p:cNvSpPr/>
            <p:nvPr/>
          </p:nvSpPr>
          <p:spPr>
            <a:xfrm>
              <a:off x="7212013" y="3009900"/>
              <a:ext cx="323850" cy="1111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6" name="AutoShape 46"/>
            <p:cNvSpPr/>
            <p:nvPr/>
          </p:nvSpPr>
          <p:spPr>
            <a:xfrm>
              <a:off x="7212013" y="3062288"/>
              <a:ext cx="323850" cy="127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7" name="AutoShape 47"/>
            <p:cNvSpPr/>
            <p:nvPr/>
          </p:nvSpPr>
          <p:spPr>
            <a:xfrm>
              <a:off x="7212013" y="3116263"/>
              <a:ext cx="323850" cy="1111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pic>
          <p:nvPicPr>
            <p:cNvPr id="48" name="Picture 48"/>
            <p:cNvPicPr>
              <a:picLocks noChangeAspect="1"/>
            </p:cNvPicPr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0285413" y="1946275"/>
              <a:ext cx="176213" cy="2062163"/>
            </a:xfrm>
            <a:prstGeom prst="rect">
              <a:avLst/>
            </a:prstGeom>
            <a:ln>
              <a:headEnd type="none"/>
              <a:tailEnd type="none"/>
            </a:ln>
          </p:spPr>
        </p:pic>
        <p:pic>
          <p:nvPicPr>
            <p:cNvPr id="49" name="Picture 49"/>
            <p:cNvPicPr>
              <a:picLocks noChangeAspect="1"/>
            </p:cNvPicPr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9958388" y="3232150"/>
              <a:ext cx="342900" cy="776288"/>
            </a:xfrm>
            <a:prstGeom prst="rect">
              <a:avLst/>
            </a:prstGeom>
            <a:ln>
              <a:headEnd type="none"/>
              <a:tailEnd type="none"/>
            </a:ln>
          </p:spPr>
        </p:pic>
        <p:pic>
          <p:nvPicPr>
            <p:cNvPr id="50" name="Picture 50"/>
            <p:cNvPicPr>
              <a:picLocks noChangeAspect="1"/>
            </p:cNvPicPr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9418638" y="3263900"/>
              <a:ext cx="341313" cy="776288"/>
            </a:xfrm>
            <a:prstGeom prst="rect">
              <a:avLst/>
            </a:prstGeom>
            <a:ln>
              <a:headEnd type="none"/>
              <a:tailEnd type="none"/>
            </a:ln>
          </p:spPr>
        </p:pic>
        <p:pic>
          <p:nvPicPr>
            <p:cNvPr id="51" name="Picture 51"/>
            <p:cNvPicPr>
              <a:picLocks noChangeAspect="1"/>
            </p:cNvPicPr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10448926" y="1946275"/>
              <a:ext cx="428625" cy="2062163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2" name="AutoShape 52"/>
            <p:cNvSpPr/>
            <p:nvPr/>
          </p:nvSpPr>
          <p:spPr>
            <a:xfrm>
              <a:off x="10510838" y="2030413"/>
              <a:ext cx="290513" cy="7937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3" name="AutoShape 53"/>
            <p:cNvSpPr/>
            <p:nvPr/>
          </p:nvSpPr>
          <p:spPr>
            <a:xfrm>
              <a:off x="10512426" y="2168525"/>
              <a:ext cx="288925" cy="1111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4" name="AutoShape 54"/>
            <p:cNvSpPr/>
            <p:nvPr/>
          </p:nvSpPr>
          <p:spPr>
            <a:xfrm>
              <a:off x="10512426" y="2222500"/>
              <a:ext cx="288925" cy="1111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5" name="AutoShape 55"/>
            <p:cNvSpPr/>
            <p:nvPr/>
          </p:nvSpPr>
          <p:spPr>
            <a:xfrm>
              <a:off x="10512426" y="2274888"/>
              <a:ext cx="288925" cy="127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6" name="AutoShape 56"/>
            <p:cNvSpPr/>
            <p:nvPr/>
          </p:nvSpPr>
          <p:spPr>
            <a:xfrm>
              <a:off x="10512426" y="2328863"/>
              <a:ext cx="288925" cy="1111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7" name="AutoShape 57"/>
            <p:cNvSpPr/>
            <p:nvPr/>
          </p:nvSpPr>
          <p:spPr>
            <a:xfrm>
              <a:off x="10512426" y="2381250"/>
              <a:ext cx="288925" cy="127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pic>
          <p:nvPicPr>
            <p:cNvPr id="58" name="Picture 58"/>
            <p:cNvPicPr>
              <a:picLocks noChangeAspect="1"/>
            </p:cNvPicPr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10869613" y="3005138"/>
              <a:ext cx="600075" cy="103822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9" name="AutoShape 59"/>
            <p:cNvSpPr/>
            <p:nvPr/>
          </p:nvSpPr>
          <p:spPr>
            <a:xfrm>
              <a:off x="10953751" y="3090863"/>
              <a:ext cx="409575" cy="7937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0" name="AutoShape 60"/>
            <p:cNvSpPr/>
            <p:nvPr/>
          </p:nvSpPr>
          <p:spPr>
            <a:xfrm>
              <a:off x="10955338" y="3228975"/>
              <a:ext cx="409575" cy="1111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1" name="AutoShape 61"/>
            <p:cNvSpPr/>
            <p:nvPr/>
          </p:nvSpPr>
          <p:spPr>
            <a:xfrm>
              <a:off x="10955338" y="3281363"/>
              <a:ext cx="409575" cy="127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2" name="AutoShape 62"/>
            <p:cNvSpPr/>
            <p:nvPr/>
          </p:nvSpPr>
          <p:spPr>
            <a:xfrm>
              <a:off x="10955338" y="3335338"/>
              <a:ext cx="409575" cy="1111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3" name="AutoShape 63"/>
            <p:cNvSpPr/>
            <p:nvPr/>
          </p:nvSpPr>
          <p:spPr>
            <a:xfrm>
              <a:off x="10955338" y="3387725"/>
              <a:ext cx="409575" cy="127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4" name="AutoShape 64"/>
            <p:cNvSpPr/>
            <p:nvPr/>
          </p:nvSpPr>
          <p:spPr>
            <a:xfrm>
              <a:off x="10955338" y="3441700"/>
              <a:ext cx="409575" cy="1111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80467" y="2115395"/>
            <a:ext cx="3001962" cy="4042722"/>
            <a:chOff x="581025" y="2815278"/>
            <a:chExt cx="3001962" cy="4042722"/>
          </a:xfrm>
        </p:grpSpPr>
        <p:sp>
          <p:nvSpPr>
            <p:cNvPr id="3" name="AutoShape 3"/>
            <p:cNvSpPr/>
            <p:nvPr/>
          </p:nvSpPr>
          <p:spPr>
            <a:xfrm flipH="1">
              <a:off x="581025" y="6004937"/>
              <a:ext cx="3001962" cy="853063"/>
            </a:xfrm>
            <a:custGeom>
              <a:avLst/>
              <a:gdLst/>
              <a:ahLst/>
              <a:cxnLst/>
              <a:rect l="l" t="t" r="r" b="b"/>
              <a:pathLst>
                <a:path w="2496" h="709">
                  <a:moveTo>
                    <a:pt x="378" y="67"/>
                  </a:moveTo>
                  <a:cubicBezTo>
                    <a:pt x="378" y="67"/>
                    <a:pt x="154" y="104"/>
                    <a:pt x="101" y="228"/>
                  </a:cubicBezTo>
                  <a:cubicBezTo>
                    <a:pt x="49" y="351"/>
                    <a:pt x="0" y="467"/>
                    <a:pt x="131" y="546"/>
                  </a:cubicBezTo>
                  <a:cubicBezTo>
                    <a:pt x="262" y="625"/>
                    <a:pt x="924" y="682"/>
                    <a:pt x="1055" y="688"/>
                  </a:cubicBezTo>
                  <a:cubicBezTo>
                    <a:pt x="1508" y="709"/>
                    <a:pt x="2240" y="593"/>
                    <a:pt x="2294" y="583"/>
                  </a:cubicBezTo>
                  <a:cubicBezTo>
                    <a:pt x="2373" y="569"/>
                    <a:pt x="2496" y="434"/>
                    <a:pt x="2302" y="355"/>
                  </a:cubicBezTo>
                  <a:cubicBezTo>
                    <a:pt x="2107" y="277"/>
                    <a:pt x="1235" y="206"/>
                    <a:pt x="1142" y="183"/>
                  </a:cubicBezTo>
                  <a:cubicBezTo>
                    <a:pt x="1048" y="161"/>
                    <a:pt x="591" y="0"/>
                    <a:pt x="378" y="67"/>
                  </a:cubicBezTo>
                  <a:close/>
                </a:path>
              </a:pathLst>
            </a:custGeom>
            <a:solidFill>
              <a:srgbClr val="7EACF8">
                <a:alpha val="100000"/>
                <a:lumMod val="20000"/>
                <a:lumOff val="80000"/>
              </a:srgbClr>
            </a:solidFill>
            <a:ln>
              <a:headEnd type="none"/>
              <a:tailEnd type="none"/>
            </a:ln>
          </p:spPr>
        </p:sp>
        <p:grpSp>
          <p:nvGrpSpPr>
            <p:cNvPr id="4" name="Group 4"/>
            <p:cNvGrpSpPr/>
            <p:nvPr/>
          </p:nvGrpSpPr>
          <p:grpSpPr>
            <a:xfrm>
              <a:off x="920927" y="2815278"/>
              <a:ext cx="2322158" cy="3798474"/>
              <a:chOff x="1100804" y="2815278"/>
              <a:chExt cx="2322158" cy="3798474"/>
            </a:xfrm>
          </p:grpSpPr>
          <p:sp>
            <p:nvSpPr>
              <p:cNvPr id="5" name="AutoShape 5"/>
              <p:cNvSpPr/>
              <p:nvPr/>
            </p:nvSpPr>
            <p:spPr>
              <a:xfrm flipH="1">
                <a:off x="2744362" y="2815278"/>
                <a:ext cx="344113" cy="477667"/>
              </a:xfrm>
              <a:custGeom>
                <a:avLst/>
                <a:gdLst/>
                <a:ahLst/>
                <a:cxnLst/>
                <a:rect l="l" t="t" r="r" b="b"/>
                <a:pathLst>
                  <a:path w="286" h="397">
                    <a:moveTo>
                      <a:pt x="286" y="319"/>
                    </a:moveTo>
                    <a:cubicBezTo>
                      <a:pt x="286" y="319"/>
                      <a:pt x="197" y="186"/>
                      <a:pt x="157" y="150"/>
                    </a:cubicBezTo>
                    <a:cubicBezTo>
                      <a:pt x="157" y="150"/>
                      <a:pt x="87" y="5"/>
                      <a:pt x="53" y="3"/>
                    </a:cubicBezTo>
                    <a:cubicBezTo>
                      <a:pt x="20" y="0"/>
                      <a:pt x="68" y="77"/>
                      <a:pt x="72" y="88"/>
                    </a:cubicBezTo>
                    <a:cubicBezTo>
                      <a:pt x="72" y="88"/>
                      <a:pt x="11" y="111"/>
                      <a:pt x="5" y="146"/>
                    </a:cubicBezTo>
                    <a:cubicBezTo>
                      <a:pt x="0" y="182"/>
                      <a:pt x="5" y="188"/>
                      <a:pt x="28" y="190"/>
                    </a:cubicBezTo>
                    <a:cubicBezTo>
                      <a:pt x="51" y="193"/>
                      <a:pt x="117" y="208"/>
                      <a:pt x="130" y="242"/>
                    </a:cubicBezTo>
                    <a:cubicBezTo>
                      <a:pt x="144" y="277"/>
                      <a:pt x="230" y="397"/>
                      <a:pt x="230" y="397"/>
                    </a:cubicBezTo>
                    <a:lnTo>
                      <a:pt x="286" y="319"/>
                    </a:lnTo>
                    <a:close/>
                  </a:path>
                </a:pathLst>
              </a:custGeom>
              <a:solidFill>
                <a:srgbClr val="F9B5AA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6" name="AutoShape 6"/>
              <p:cNvSpPr/>
              <p:nvPr/>
            </p:nvSpPr>
            <p:spPr>
              <a:xfrm flipH="1">
                <a:off x="1665100" y="3124498"/>
                <a:ext cx="368176" cy="403069"/>
              </a:xfrm>
              <a:custGeom>
                <a:avLst/>
                <a:gdLst/>
                <a:ahLst/>
                <a:cxnLst/>
                <a:rect l="l" t="t" r="r" b="b"/>
                <a:pathLst>
                  <a:path w="307" h="335">
                    <a:moveTo>
                      <a:pt x="46" y="166"/>
                    </a:moveTo>
                    <a:cubicBezTo>
                      <a:pt x="46" y="166"/>
                      <a:pt x="0" y="96"/>
                      <a:pt x="10" y="57"/>
                    </a:cubicBezTo>
                    <a:cubicBezTo>
                      <a:pt x="20" y="17"/>
                      <a:pt x="24" y="0"/>
                      <a:pt x="77" y="2"/>
                    </a:cubicBezTo>
                    <a:cubicBezTo>
                      <a:pt x="134" y="5"/>
                      <a:pt x="195" y="25"/>
                      <a:pt x="238" y="65"/>
                    </a:cubicBezTo>
                    <a:cubicBezTo>
                      <a:pt x="282" y="106"/>
                      <a:pt x="281" y="147"/>
                      <a:pt x="294" y="178"/>
                    </a:cubicBezTo>
                    <a:cubicBezTo>
                      <a:pt x="307" y="210"/>
                      <a:pt x="307" y="270"/>
                      <a:pt x="295" y="294"/>
                    </a:cubicBezTo>
                    <a:cubicBezTo>
                      <a:pt x="283" y="317"/>
                      <a:pt x="259" y="335"/>
                      <a:pt x="223" y="316"/>
                    </a:cubicBezTo>
                    <a:cubicBezTo>
                      <a:pt x="188" y="297"/>
                      <a:pt x="46" y="166"/>
                      <a:pt x="46" y="166"/>
                    </a:cubicBezTo>
                    <a:close/>
                  </a:path>
                </a:pathLst>
              </a:custGeom>
              <a:solidFill>
                <a:srgbClr val="3462E1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7" name="AutoShape 7"/>
              <p:cNvSpPr/>
              <p:nvPr/>
            </p:nvSpPr>
            <p:spPr>
              <a:xfrm flipH="1">
                <a:off x="1607347" y="3190674"/>
                <a:ext cx="329674" cy="695444"/>
              </a:xfrm>
              <a:custGeom>
                <a:avLst/>
                <a:gdLst/>
                <a:ahLst/>
                <a:cxnLst/>
                <a:rect l="l" t="t" r="r" b="b"/>
                <a:pathLst>
                  <a:path w="275" h="578">
                    <a:moveTo>
                      <a:pt x="37" y="6"/>
                    </a:moveTo>
                    <a:cubicBezTo>
                      <a:pt x="37" y="6"/>
                      <a:pt x="89" y="0"/>
                      <a:pt x="111" y="28"/>
                    </a:cubicBezTo>
                    <a:cubicBezTo>
                      <a:pt x="133" y="56"/>
                      <a:pt x="164" y="85"/>
                      <a:pt x="168" y="132"/>
                    </a:cubicBezTo>
                    <a:cubicBezTo>
                      <a:pt x="173" y="179"/>
                      <a:pt x="170" y="250"/>
                      <a:pt x="177" y="291"/>
                    </a:cubicBezTo>
                    <a:cubicBezTo>
                      <a:pt x="184" y="332"/>
                      <a:pt x="239" y="438"/>
                      <a:pt x="249" y="458"/>
                    </a:cubicBezTo>
                    <a:cubicBezTo>
                      <a:pt x="259" y="479"/>
                      <a:pt x="275" y="517"/>
                      <a:pt x="266" y="546"/>
                    </a:cubicBezTo>
                    <a:cubicBezTo>
                      <a:pt x="258" y="575"/>
                      <a:pt x="262" y="578"/>
                      <a:pt x="234" y="568"/>
                    </a:cubicBezTo>
                    <a:cubicBezTo>
                      <a:pt x="206" y="558"/>
                      <a:pt x="162" y="569"/>
                      <a:pt x="158" y="560"/>
                    </a:cubicBezTo>
                    <a:cubicBezTo>
                      <a:pt x="154" y="552"/>
                      <a:pt x="155" y="481"/>
                      <a:pt x="139" y="479"/>
                    </a:cubicBezTo>
                    <a:cubicBezTo>
                      <a:pt x="123" y="476"/>
                      <a:pt x="81" y="399"/>
                      <a:pt x="70" y="346"/>
                    </a:cubicBezTo>
                    <a:cubicBezTo>
                      <a:pt x="60" y="293"/>
                      <a:pt x="0" y="167"/>
                      <a:pt x="9" y="154"/>
                    </a:cubicBezTo>
                    <a:cubicBezTo>
                      <a:pt x="18" y="141"/>
                      <a:pt x="37" y="6"/>
                      <a:pt x="37" y="6"/>
                    </a:cubicBezTo>
                    <a:close/>
                  </a:path>
                </a:pathLst>
              </a:custGeom>
              <a:solidFill>
                <a:srgbClr val="1F1B1C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8" name="AutoShape 8"/>
              <p:cNvSpPr/>
              <p:nvPr/>
            </p:nvSpPr>
            <p:spPr>
              <a:xfrm flipH="1">
                <a:off x="2188488" y="6349050"/>
                <a:ext cx="146789" cy="264702"/>
              </a:xfrm>
              <a:custGeom>
                <a:avLst/>
                <a:gdLst/>
                <a:ahLst/>
                <a:cxnLst/>
                <a:rect l="l" t="t" r="r" b="b"/>
                <a:pathLst>
                  <a:path w="122" h="220">
                    <a:moveTo>
                      <a:pt x="35" y="10"/>
                    </a:moveTo>
                    <a:cubicBezTo>
                      <a:pt x="35" y="10"/>
                      <a:pt x="41" y="64"/>
                      <a:pt x="30" y="93"/>
                    </a:cubicBezTo>
                    <a:cubicBezTo>
                      <a:pt x="19" y="121"/>
                      <a:pt x="0" y="147"/>
                      <a:pt x="6" y="171"/>
                    </a:cubicBezTo>
                    <a:cubicBezTo>
                      <a:pt x="13" y="194"/>
                      <a:pt x="33" y="220"/>
                      <a:pt x="62" y="207"/>
                    </a:cubicBezTo>
                    <a:cubicBezTo>
                      <a:pt x="91" y="194"/>
                      <a:pt x="116" y="147"/>
                      <a:pt x="119" y="116"/>
                    </a:cubicBezTo>
                    <a:cubicBezTo>
                      <a:pt x="122" y="86"/>
                      <a:pt x="113" y="0"/>
                      <a:pt x="113" y="0"/>
                    </a:cubicBezTo>
                    <a:lnTo>
                      <a:pt x="35" y="10"/>
                    </a:lnTo>
                    <a:close/>
                  </a:path>
                </a:pathLst>
              </a:custGeom>
              <a:solidFill>
                <a:srgbClr val="3462E1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9" name="AutoShape 9"/>
              <p:cNvSpPr/>
              <p:nvPr/>
            </p:nvSpPr>
            <p:spPr>
              <a:xfrm flipH="1">
                <a:off x="2723909" y="6246779"/>
                <a:ext cx="462025" cy="240638"/>
              </a:xfrm>
              <a:custGeom>
                <a:avLst/>
                <a:gdLst/>
                <a:ahLst/>
                <a:cxnLst/>
                <a:rect l="l" t="t" r="r" b="b"/>
                <a:pathLst>
                  <a:path w="384" h="200">
                    <a:moveTo>
                      <a:pt x="349" y="11"/>
                    </a:moveTo>
                    <a:cubicBezTo>
                      <a:pt x="349" y="11"/>
                      <a:pt x="362" y="62"/>
                      <a:pt x="373" y="84"/>
                    </a:cubicBezTo>
                    <a:cubicBezTo>
                      <a:pt x="384" y="106"/>
                      <a:pt x="370" y="173"/>
                      <a:pt x="359" y="181"/>
                    </a:cubicBezTo>
                    <a:cubicBezTo>
                      <a:pt x="348" y="189"/>
                      <a:pt x="313" y="181"/>
                      <a:pt x="313" y="181"/>
                    </a:cubicBezTo>
                    <a:cubicBezTo>
                      <a:pt x="313" y="181"/>
                      <a:pt x="311" y="128"/>
                      <a:pt x="276" y="147"/>
                    </a:cubicBezTo>
                    <a:cubicBezTo>
                      <a:pt x="241" y="167"/>
                      <a:pt x="167" y="200"/>
                      <a:pt x="97" y="197"/>
                    </a:cubicBezTo>
                    <a:cubicBezTo>
                      <a:pt x="27" y="194"/>
                      <a:pt x="0" y="181"/>
                      <a:pt x="25" y="155"/>
                    </a:cubicBezTo>
                    <a:cubicBezTo>
                      <a:pt x="25" y="155"/>
                      <a:pt x="132" y="141"/>
                      <a:pt x="176" y="98"/>
                    </a:cubicBezTo>
                    <a:cubicBezTo>
                      <a:pt x="221" y="55"/>
                      <a:pt x="245" y="31"/>
                      <a:pt x="245" y="31"/>
                    </a:cubicBezTo>
                    <a:cubicBezTo>
                      <a:pt x="251" y="0"/>
                      <a:pt x="251" y="0"/>
                      <a:pt x="251" y="0"/>
                    </a:cubicBezTo>
                    <a:lnTo>
                      <a:pt x="349" y="11"/>
                    </a:lnTo>
                    <a:close/>
                  </a:path>
                </a:pathLst>
              </a:custGeom>
              <a:solidFill>
                <a:srgbClr val="3462E1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10" name="AutoShape 10"/>
              <p:cNvSpPr/>
              <p:nvPr/>
            </p:nvSpPr>
            <p:spPr>
              <a:xfrm flipH="1">
                <a:off x="2158409" y="4387848"/>
                <a:ext cx="758010" cy="1998501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661">
                    <a:moveTo>
                      <a:pt x="165" y="0"/>
                    </a:moveTo>
                    <a:lnTo>
                      <a:pt x="14" y="915"/>
                    </a:lnTo>
                    <a:lnTo>
                      <a:pt x="36" y="1517"/>
                    </a:lnTo>
                    <a:lnTo>
                      <a:pt x="0" y="1519"/>
                    </a:lnTo>
                    <a:lnTo>
                      <a:pt x="21" y="1576"/>
                    </a:lnTo>
                    <a:lnTo>
                      <a:pt x="138" y="1574"/>
                    </a:lnTo>
                    <a:lnTo>
                      <a:pt x="155" y="1520"/>
                    </a:lnTo>
                    <a:lnTo>
                      <a:pt x="121" y="1521"/>
                    </a:lnTo>
                    <a:lnTo>
                      <a:pt x="207" y="1028"/>
                    </a:lnTo>
                    <a:lnTo>
                      <a:pt x="315" y="444"/>
                    </a:lnTo>
                    <a:lnTo>
                      <a:pt x="394" y="1045"/>
                    </a:lnTo>
                    <a:lnTo>
                      <a:pt x="516" y="1611"/>
                    </a:lnTo>
                    <a:lnTo>
                      <a:pt x="489" y="1609"/>
                    </a:lnTo>
                    <a:lnTo>
                      <a:pt x="502" y="1657"/>
                    </a:lnTo>
                    <a:lnTo>
                      <a:pt x="611" y="1661"/>
                    </a:lnTo>
                    <a:lnTo>
                      <a:pt x="630" y="1607"/>
                    </a:lnTo>
                    <a:lnTo>
                      <a:pt x="587" y="1607"/>
                    </a:lnTo>
                    <a:lnTo>
                      <a:pt x="576" y="977"/>
                    </a:lnTo>
                    <a:lnTo>
                      <a:pt x="553" y="291"/>
                    </a:lnTo>
                    <a:lnTo>
                      <a:pt x="547" y="24"/>
                    </a:lnTo>
                    <a:lnTo>
                      <a:pt x="165" y="0"/>
                    </a:lnTo>
                    <a:close/>
                  </a:path>
                </a:pathLst>
              </a:custGeom>
              <a:solidFill>
                <a:srgbClr val="1E1A1B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11" name="AutoShape 11"/>
              <p:cNvSpPr/>
              <p:nvPr/>
            </p:nvSpPr>
            <p:spPr>
              <a:xfrm flipH="1">
                <a:off x="2021245" y="3184657"/>
                <a:ext cx="897581" cy="1324714"/>
              </a:xfrm>
              <a:custGeom>
                <a:avLst/>
                <a:gdLst/>
                <a:ahLst/>
                <a:cxnLst/>
                <a:rect l="l" t="t" r="r" b="b"/>
                <a:pathLst>
                  <a:path w="746" h="1101">
                    <a:moveTo>
                      <a:pt x="153" y="0"/>
                    </a:moveTo>
                    <a:cubicBezTo>
                      <a:pt x="79" y="79"/>
                      <a:pt x="79" y="79"/>
                      <a:pt x="79" y="79"/>
                    </a:cubicBezTo>
                    <a:cubicBezTo>
                      <a:pt x="226" y="381"/>
                      <a:pt x="226" y="381"/>
                      <a:pt x="226" y="381"/>
                    </a:cubicBezTo>
                    <a:cubicBezTo>
                      <a:pt x="0" y="923"/>
                      <a:pt x="0" y="923"/>
                      <a:pt x="0" y="923"/>
                    </a:cubicBezTo>
                    <a:cubicBezTo>
                      <a:pt x="99" y="1019"/>
                      <a:pt x="99" y="1019"/>
                      <a:pt x="99" y="1019"/>
                    </a:cubicBezTo>
                    <a:cubicBezTo>
                      <a:pt x="333" y="678"/>
                      <a:pt x="333" y="678"/>
                      <a:pt x="333" y="678"/>
                    </a:cubicBezTo>
                    <a:cubicBezTo>
                      <a:pt x="342" y="1014"/>
                      <a:pt x="342" y="1014"/>
                      <a:pt x="342" y="1014"/>
                    </a:cubicBezTo>
                    <a:cubicBezTo>
                      <a:pt x="410" y="1008"/>
                      <a:pt x="410" y="1008"/>
                      <a:pt x="410" y="1008"/>
                    </a:cubicBezTo>
                    <a:cubicBezTo>
                      <a:pt x="424" y="1101"/>
                      <a:pt x="424" y="1101"/>
                      <a:pt x="424" y="1101"/>
                    </a:cubicBezTo>
                    <a:cubicBezTo>
                      <a:pt x="542" y="1101"/>
                      <a:pt x="542" y="1101"/>
                      <a:pt x="542" y="1101"/>
                    </a:cubicBezTo>
                    <a:cubicBezTo>
                      <a:pt x="542" y="1101"/>
                      <a:pt x="644" y="867"/>
                      <a:pt x="667" y="726"/>
                    </a:cubicBezTo>
                    <a:cubicBezTo>
                      <a:pt x="689" y="585"/>
                      <a:pt x="746" y="421"/>
                      <a:pt x="746" y="421"/>
                    </a:cubicBezTo>
                    <a:cubicBezTo>
                      <a:pt x="596" y="291"/>
                      <a:pt x="596" y="291"/>
                      <a:pt x="596" y="291"/>
                    </a:cubicBezTo>
                    <a:cubicBezTo>
                      <a:pt x="453" y="252"/>
                      <a:pt x="453" y="252"/>
                      <a:pt x="453" y="252"/>
                    </a:cubicBezTo>
                    <a:cubicBezTo>
                      <a:pt x="348" y="254"/>
                      <a:pt x="348" y="254"/>
                      <a:pt x="348" y="254"/>
                    </a:cubicBezTo>
                    <a:lnTo>
                      <a:pt x="153" y="0"/>
                    </a:lnTo>
                    <a:close/>
                  </a:path>
                </a:pathLst>
              </a:custGeom>
              <a:solidFill>
                <a:srgbClr val="3462E1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12" name="AutoShape 12"/>
              <p:cNvSpPr/>
              <p:nvPr/>
            </p:nvSpPr>
            <p:spPr>
              <a:xfrm flipH="1">
                <a:off x="2336480" y="3487861"/>
                <a:ext cx="128742" cy="114304"/>
              </a:xfrm>
              <a:custGeom>
                <a:avLst/>
                <a:gdLst/>
                <a:ahLst/>
                <a:cxnLst/>
                <a:rect l="l" t="t" r="r" b="b"/>
                <a:pathLst>
                  <a:path w="107" h="95">
                    <a:moveTo>
                      <a:pt x="76" y="0"/>
                    </a:moveTo>
                    <a:lnTo>
                      <a:pt x="0" y="95"/>
                    </a:lnTo>
                    <a:lnTo>
                      <a:pt x="107" y="68"/>
                    </a:lnTo>
                    <a:lnTo>
                      <a:pt x="76" y="0"/>
                    </a:lnTo>
                    <a:close/>
                  </a:path>
                </a:pathLst>
              </a:custGeom>
              <a:solidFill>
                <a:srgbClr val="618CFF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13" name="AutoShape 13"/>
              <p:cNvSpPr/>
              <p:nvPr/>
            </p:nvSpPr>
            <p:spPr>
              <a:xfrm flipH="1">
                <a:off x="2231803" y="3537193"/>
                <a:ext cx="104678" cy="164838"/>
              </a:xfrm>
              <a:custGeom>
                <a:avLst/>
                <a:gdLst/>
                <a:ahLst/>
                <a:cxnLst/>
                <a:rect l="l" t="t" r="r" b="b"/>
                <a:pathLst>
                  <a:path w="87" h="137">
                    <a:moveTo>
                      <a:pt x="13" y="137"/>
                    </a:moveTo>
                    <a:lnTo>
                      <a:pt x="0" y="27"/>
                    </a:lnTo>
                    <a:lnTo>
                      <a:pt x="87" y="0"/>
                    </a:lnTo>
                    <a:lnTo>
                      <a:pt x="13" y="137"/>
                    </a:lnTo>
                    <a:close/>
                  </a:path>
                </a:pathLst>
              </a:custGeom>
              <a:solidFill>
                <a:srgbClr val="618CFF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14" name="AutoShape 14"/>
              <p:cNvSpPr/>
              <p:nvPr/>
            </p:nvSpPr>
            <p:spPr>
              <a:xfrm flipH="1">
                <a:off x="1843173" y="3454172"/>
                <a:ext cx="141977" cy="214168"/>
              </a:xfrm>
              <a:custGeom>
                <a:avLst/>
                <a:gdLst/>
                <a:ahLst/>
                <a:cxnLst/>
                <a:rect l="l" t="t" r="r" b="b"/>
                <a:pathLst>
                  <a:path w="118" h="178">
                    <a:moveTo>
                      <a:pt x="20" y="23"/>
                    </a:moveTo>
                    <a:cubicBezTo>
                      <a:pt x="20" y="23"/>
                      <a:pt x="19" y="158"/>
                      <a:pt x="0" y="178"/>
                    </a:cubicBezTo>
                    <a:cubicBezTo>
                      <a:pt x="0" y="178"/>
                      <a:pt x="93" y="118"/>
                      <a:pt x="110" y="127"/>
                    </a:cubicBezTo>
                    <a:cubicBezTo>
                      <a:pt x="110" y="127"/>
                      <a:pt x="118" y="79"/>
                      <a:pt x="110" y="40"/>
                    </a:cubicBezTo>
                    <a:cubicBezTo>
                      <a:pt x="103" y="0"/>
                      <a:pt x="20" y="23"/>
                      <a:pt x="20" y="23"/>
                    </a:cubicBezTo>
                    <a:close/>
                  </a:path>
                </a:pathLst>
              </a:custGeom>
              <a:solidFill>
                <a:srgbClr val="EC9387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15" name="AutoShape 15"/>
              <p:cNvSpPr/>
              <p:nvPr/>
            </p:nvSpPr>
            <p:spPr>
              <a:xfrm flipH="1">
                <a:off x="1975523" y="3526364"/>
                <a:ext cx="407882" cy="389834"/>
              </a:xfrm>
              <a:custGeom>
                <a:avLst/>
                <a:gdLst/>
                <a:ahLst/>
                <a:cxnLst/>
                <a:rect l="l" t="t" r="r" b="b"/>
                <a:pathLst>
                  <a:path w="339" h="324">
                    <a:moveTo>
                      <a:pt x="69" y="304"/>
                    </a:moveTo>
                    <a:cubicBezTo>
                      <a:pt x="69" y="304"/>
                      <a:pt x="0" y="324"/>
                      <a:pt x="0" y="270"/>
                    </a:cubicBezTo>
                    <a:cubicBezTo>
                      <a:pt x="0" y="215"/>
                      <a:pt x="119" y="101"/>
                      <a:pt x="149" y="79"/>
                    </a:cubicBezTo>
                    <a:cubicBezTo>
                      <a:pt x="178" y="57"/>
                      <a:pt x="231" y="0"/>
                      <a:pt x="280" y="7"/>
                    </a:cubicBezTo>
                    <a:cubicBezTo>
                      <a:pt x="330" y="14"/>
                      <a:pt x="339" y="85"/>
                      <a:pt x="331" y="118"/>
                    </a:cubicBezTo>
                    <a:cubicBezTo>
                      <a:pt x="331" y="118"/>
                      <a:pt x="273" y="59"/>
                      <a:pt x="245" y="79"/>
                    </a:cubicBezTo>
                    <a:cubicBezTo>
                      <a:pt x="218" y="99"/>
                      <a:pt x="178" y="190"/>
                      <a:pt x="178" y="190"/>
                    </a:cubicBezTo>
                    <a:cubicBezTo>
                      <a:pt x="213" y="213"/>
                      <a:pt x="213" y="213"/>
                      <a:pt x="213" y="213"/>
                    </a:cubicBezTo>
                    <a:lnTo>
                      <a:pt x="69" y="304"/>
                    </a:lnTo>
                    <a:close/>
                  </a:path>
                </a:pathLst>
              </a:custGeom>
              <a:solidFill>
                <a:srgbClr val="F9B5AA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16" name="AutoShape 16"/>
              <p:cNvSpPr/>
              <p:nvPr/>
            </p:nvSpPr>
            <p:spPr>
              <a:xfrm flipH="1">
                <a:off x="1366709" y="4398677"/>
                <a:ext cx="743572" cy="1896229"/>
              </a:xfrm>
              <a:custGeom>
                <a:avLst/>
                <a:gdLst/>
                <a:ahLst/>
                <a:cxnLst/>
                <a:rect l="l" t="t" r="r" b="b"/>
                <a:pathLst>
                  <a:path w="619" h="1576">
                    <a:moveTo>
                      <a:pt x="0" y="87"/>
                    </a:moveTo>
                    <a:cubicBezTo>
                      <a:pt x="39" y="606"/>
                      <a:pt x="39" y="606"/>
                      <a:pt x="39" y="606"/>
                    </a:cubicBezTo>
                    <a:cubicBezTo>
                      <a:pt x="33" y="1016"/>
                      <a:pt x="33" y="1016"/>
                      <a:pt x="33" y="1016"/>
                    </a:cubicBezTo>
                    <a:cubicBezTo>
                      <a:pt x="33" y="1016"/>
                      <a:pt x="52" y="1080"/>
                      <a:pt x="107" y="1073"/>
                    </a:cubicBezTo>
                    <a:cubicBezTo>
                      <a:pt x="161" y="1067"/>
                      <a:pt x="135" y="1064"/>
                      <a:pt x="135" y="1064"/>
                    </a:cubicBezTo>
                    <a:cubicBezTo>
                      <a:pt x="251" y="1576"/>
                      <a:pt x="251" y="1576"/>
                      <a:pt x="251" y="1576"/>
                    </a:cubicBezTo>
                    <a:cubicBezTo>
                      <a:pt x="327" y="1550"/>
                      <a:pt x="327" y="1550"/>
                      <a:pt x="327" y="1550"/>
                    </a:cubicBezTo>
                    <a:cubicBezTo>
                      <a:pt x="251" y="1041"/>
                      <a:pt x="251" y="1041"/>
                      <a:pt x="251" y="1041"/>
                    </a:cubicBezTo>
                    <a:cubicBezTo>
                      <a:pt x="619" y="948"/>
                      <a:pt x="619" y="948"/>
                      <a:pt x="619" y="948"/>
                    </a:cubicBezTo>
                    <a:cubicBezTo>
                      <a:pt x="616" y="862"/>
                      <a:pt x="616" y="862"/>
                      <a:pt x="616" y="862"/>
                    </a:cubicBezTo>
                    <a:cubicBezTo>
                      <a:pt x="360" y="839"/>
                      <a:pt x="360" y="839"/>
                      <a:pt x="360" y="839"/>
                    </a:cubicBezTo>
                    <a:cubicBezTo>
                      <a:pt x="360" y="839"/>
                      <a:pt x="254" y="833"/>
                      <a:pt x="222" y="881"/>
                    </a:cubicBezTo>
                    <a:cubicBezTo>
                      <a:pt x="222" y="881"/>
                      <a:pt x="193" y="724"/>
                      <a:pt x="228" y="615"/>
                    </a:cubicBezTo>
                    <a:cubicBezTo>
                      <a:pt x="263" y="506"/>
                      <a:pt x="321" y="260"/>
                      <a:pt x="324" y="183"/>
                    </a:cubicBezTo>
                    <a:cubicBezTo>
                      <a:pt x="327" y="106"/>
                      <a:pt x="259" y="0"/>
                      <a:pt x="259" y="0"/>
                    </a:cubicBezTo>
                    <a:lnTo>
                      <a:pt x="0" y="87"/>
                    </a:lnTo>
                    <a:close/>
                  </a:path>
                </a:pathLst>
              </a:custGeom>
              <a:solidFill>
                <a:srgbClr val="3462E1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17" name="AutoShape 17"/>
              <p:cNvSpPr/>
              <p:nvPr/>
            </p:nvSpPr>
            <p:spPr>
              <a:xfrm flipH="1">
                <a:off x="1100804" y="5388903"/>
                <a:ext cx="269515" cy="436759"/>
              </a:xfrm>
              <a:custGeom>
                <a:avLst/>
                <a:gdLst/>
                <a:ahLst/>
                <a:cxnLst/>
                <a:rect l="l" t="t" r="r" b="b"/>
                <a:pathLst>
                  <a:path w="224" h="363">
                    <a:moveTo>
                      <a:pt x="184" y="340"/>
                    </a:moveTo>
                    <a:cubicBezTo>
                      <a:pt x="184" y="340"/>
                      <a:pt x="208" y="363"/>
                      <a:pt x="224" y="345"/>
                    </a:cubicBezTo>
                    <a:cubicBezTo>
                      <a:pt x="224" y="345"/>
                      <a:pt x="195" y="45"/>
                      <a:pt x="179" y="22"/>
                    </a:cubicBezTo>
                    <a:cubicBezTo>
                      <a:pt x="164" y="0"/>
                      <a:pt x="0" y="39"/>
                      <a:pt x="0" y="39"/>
                    </a:cubicBezTo>
                    <a:cubicBezTo>
                      <a:pt x="3" y="125"/>
                      <a:pt x="3" y="125"/>
                      <a:pt x="3" y="125"/>
                    </a:cubicBezTo>
                    <a:cubicBezTo>
                      <a:pt x="3" y="125"/>
                      <a:pt x="96" y="121"/>
                      <a:pt x="114" y="163"/>
                    </a:cubicBezTo>
                    <a:cubicBezTo>
                      <a:pt x="132" y="206"/>
                      <a:pt x="161" y="318"/>
                      <a:pt x="184" y="340"/>
                    </a:cubicBezTo>
                    <a:close/>
                  </a:path>
                </a:pathLst>
              </a:custGeom>
              <a:solidFill>
                <a:srgbClr val="0C0527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18" name="AutoShape 18"/>
              <p:cNvSpPr/>
              <p:nvPr/>
            </p:nvSpPr>
            <p:spPr>
              <a:xfrm flipH="1">
                <a:off x="1672320" y="6263624"/>
                <a:ext cx="387428" cy="287563"/>
              </a:xfrm>
              <a:custGeom>
                <a:avLst/>
                <a:gdLst/>
                <a:ahLst/>
                <a:cxnLst/>
                <a:rect l="l" t="t" r="r" b="b"/>
                <a:pathLst>
                  <a:path w="323" h="239">
                    <a:moveTo>
                      <a:pt x="285" y="0"/>
                    </a:moveTo>
                    <a:cubicBezTo>
                      <a:pt x="285" y="0"/>
                      <a:pt x="323" y="126"/>
                      <a:pt x="323" y="167"/>
                    </a:cubicBezTo>
                    <a:cubicBezTo>
                      <a:pt x="323" y="207"/>
                      <a:pt x="316" y="189"/>
                      <a:pt x="316" y="189"/>
                    </a:cubicBezTo>
                    <a:cubicBezTo>
                      <a:pt x="316" y="189"/>
                      <a:pt x="32" y="239"/>
                      <a:pt x="16" y="227"/>
                    </a:cubicBezTo>
                    <a:cubicBezTo>
                      <a:pt x="0" y="216"/>
                      <a:pt x="14" y="191"/>
                      <a:pt x="32" y="187"/>
                    </a:cubicBezTo>
                    <a:cubicBezTo>
                      <a:pt x="50" y="182"/>
                      <a:pt x="186" y="120"/>
                      <a:pt x="200" y="84"/>
                    </a:cubicBezTo>
                    <a:cubicBezTo>
                      <a:pt x="213" y="48"/>
                      <a:pt x="209" y="26"/>
                      <a:pt x="209" y="26"/>
                    </a:cubicBezTo>
                    <a:lnTo>
                      <a:pt x="285" y="0"/>
                    </a:lnTo>
                    <a:close/>
                  </a:path>
                </a:pathLst>
              </a:custGeom>
              <a:solidFill>
                <a:srgbClr val="0C0527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19" name="AutoShape 19"/>
              <p:cNvSpPr/>
              <p:nvPr/>
            </p:nvSpPr>
            <p:spPr>
              <a:xfrm flipH="1">
                <a:off x="2265492" y="4662176"/>
                <a:ext cx="1157470" cy="1072044"/>
              </a:xfrm>
              <a:custGeom>
                <a:avLst/>
                <a:gdLst/>
                <a:ahLst/>
                <a:cxnLst/>
                <a:rect l="l" t="t" r="r" b="b"/>
                <a:pathLst>
                  <a:path w="962" h="891">
                    <a:moveTo>
                      <a:pt x="6" y="110"/>
                    </a:moveTo>
                    <a:cubicBezTo>
                      <a:pt x="0" y="127"/>
                      <a:pt x="11" y="891"/>
                      <a:pt x="11" y="891"/>
                    </a:cubicBezTo>
                    <a:cubicBezTo>
                      <a:pt x="962" y="858"/>
                      <a:pt x="962" y="858"/>
                      <a:pt x="962" y="858"/>
                    </a:cubicBezTo>
                    <a:cubicBezTo>
                      <a:pt x="924" y="0"/>
                      <a:pt x="924" y="0"/>
                      <a:pt x="924" y="0"/>
                    </a:cubicBezTo>
                    <a:cubicBezTo>
                      <a:pt x="924" y="0"/>
                      <a:pt x="110" y="66"/>
                      <a:pt x="61" y="61"/>
                    </a:cubicBezTo>
                    <a:cubicBezTo>
                      <a:pt x="11" y="55"/>
                      <a:pt x="6" y="110"/>
                      <a:pt x="6" y="110"/>
                    </a:cubicBezTo>
                    <a:close/>
                  </a:path>
                </a:pathLst>
              </a:custGeom>
              <a:solidFill>
                <a:srgbClr val="7EACF8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0" name="AutoShape 20"/>
              <p:cNvSpPr/>
              <p:nvPr/>
            </p:nvSpPr>
            <p:spPr>
              <a:xfrm flipH="1">
                <a:off x="2116196" y="4662176"/>
                <a:ext cx="204542" cy="1032338"/>
              </a:xfrm>
              <a:custGeom>
                <a:avLst/>
                <a:gdLst/>
                <a:ahLst/>
                <a:cxnLst/>
                <a:rect l="l" t="t" r="r" b="b"/>
                <a:pathLst>
                  <a:path w="170" h="858">
                    <a:moveTo>
                      <a:pt x="170" y="820"/>
                    </a:moveTo>
                    <a:lnTo>
                      <a:pt x="38" y="858"/>
                    </a:lnTo>
                    <a:lnTo>
                      <a:pt x="0" y="0"/>
                    </a:lnTo>
                    <a:lnTo>
                      <a:pt x="126" y="28"/>
                    </a:lnTo>
                    <a:lnTo>
                      <a:pt x="170" y="820"/>
                    </a:lnTo>
                    <a:close/>
                  </a:path>
                </a:pathLst>
              </a:custGeom>
              <a:solidFill>
                <a:srgbClr val="7EACF8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1" name="AutoShape 21"/>
              <p:cNvSpPr/>
              <p:nvPr/>
            </p:nvSpPr>
            <p:spPr>
              <a:xfrm flipH="1">
                <a:off x="2597573" y="4571937"/>
                <a:ext cx="311627" cy="163634"/>
              </a:xfrm>
              <a:custGeom>
                <a:avLst/>
                <a:gdLst/>
                <a:ahLst/>
                <a:cxnLst/>
                <a:rect l="l" t="t" r="r" b="b"/>
                <a:pathLst>
                  <a:path w="259" h="136">
                    <a:moveTo>
                      <a:pt x="1" y="130"/>
                    </a:moveTo>
                    <a:cubicBezTo>
                      <a:pt x="1" y="130"/>
                      <a:pt x="0" y="77"/>
                      <a:pt x="16" y="57"/>
                    </a:cubicBezTo>
                    <a:cubicBezTo>
                      <a:pt x="33" y="38"/>
                      <a:pt x="101" y="0"/>
                      <a:pt x="168" y="19"/>
                    </a:cubicBezTo>
                    <a:cubicBezTo>
                      <a:pt x="235" y="39"/>
                      <a:pt x="259" y="68"/>
                      <a:pt x="255" y="110"/>
                    </a:cubicBezTo>
                    <a:cubicBezTo>
                      <a:pt x="226" y="114"/>
                      <a:pt x="226" y="114"/>
                      <a:pt x="226" y="114"/>
                    </a:cubicBezTo>
                    <a:cubicBezTo>
                      <a:pt x="226" y="114"/>
                      <a:pt x="147" y="40"/>
                      <a:pt x="95" y="63"/>
                    </a:cubicBezTo>
                    <a:cubicBezTo>
                      <a:pt x="43" y="87"/>
                      <a:pt x="40" y="124"/>
                      <a:pt x="45" y="130"/>
                    </a:cubicBezTo>
                    <a:cubicBezTo>
                      <a:pt x="49" y="136"/>
                      <a:pt x="1" y="130"/>
                      <a:pt x="1" y="130"/>
                    </a:cubicBezTo>
                    <a:close/>
                  </a:path>
                </a:pathLst>
              </a:custGeom>
              <a:solidFill>
                <a:srgbClr val="7EACF8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2" name="AutoShape 22"/>
              <p:cNvSpPr/>
              <p:nvPr/>
            </p:nvSpPr>
            <p:spPr>
              <a:xfrm flipH="1">
                <a:off x="2299182" y="4196541"/>
                <a:ext cx="533014" cy="493308"/>
              </a:xfrm>
              <a:custGeom>
                <a:avLst/>
                <a:gdLst/>
                <a:ahLst/>
                <a:cxnLst/>
                <a:rect l="l" t="t" r="r" b="b"/>
                <a:pathLst>
                  <a:path w="442" h="410">
                    <a:moveTo>
                      <a:pt x="363" y="0"/>
                    </a:moveTo>
                    <a:cubicBezTo>
                      <a:pt x="115" y="271"/>
                      <a:pt x="115" y="271"/>
                      <a:pt x="115" y="271"/>
                    </a:cubicBezTo>
                    <a:cubicBezTo>
                      <a:pt x="115" y="271"/>
                      <a:pt x="25" y="276"/>
                      <a:pt x="13" y="320"/>
                    </a:cubicBezTo>
                    <a:cubicBezTo>
                      <a:pt x="0" y="365"/>
                      <a:pt x="3" y="410"/>
                      <a:pt x="43" y="410"/>
                    </a:cubicBezTo>
                    <a:cubicBezTo>
                      <a:pt x="82" y="410"/>
                      <a:pt x="95" y="367"/>
                      <a:pt x="115" y="357"/>
                    </a:cubicBezTo>
                    <a:cubicBezTo>
                      <a:pt x="135" y="348"/>
                      <a:pt x="147" y="353"/>
                      <a:pt x="199" y="310"/>
                    </a:cubicBezTo>
                    <a:cubicBezTo>
                      <a:pt x="251" y="268"/>
                      <a:pt x="443" y="59"/>
                      <a:pt x="443" y="59"/>
                    </a:cubicBezTo>
                    <a:lnTo>
                      <a:pt x="363" y="0"/>
                    </a:lnTo>
                    <a:close/>
                  </a:path>
                </a:pathLst>
              </a:custGeom>
              <a:solidFill>
                <a:srgbClr val="F9B5AA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3" name="AutoShape 23"/>
              <p:cNvSpPr/>
              <p:nvPr/>
            </p:nvSpPr>
            <p:spPr>
              <a:xfrm flipH="1">
                <a:off x="1597722" y="3558850"/>
                <a:ext cx="702664" cy="954131"/>
              </a:xfrm>
              <a:custGeom>
                <a:avLst/>
                <a:gdLst/>
                <a:ahLst/>
                <a:cxnLst/>
                <a:rect l="l" t="t" r="r" b="b"/>
                <a:pathLst>
                  <a:path w="585" h="793">
                    <a:moveTo>
                      <a:pt x="262" y="91"/>
                    </a:moveTo>
                    <a:cubicBezTo>
                      <a:pt x="236" y="146"/>
                      <a:pt x="236" y="146"/>
                      <a:pt x="236" y="146"/>
                    </a:cubicBezTo>
                    <a:cubicBezTo>
                      <a:pt x="109" y="163"/>
                      <a:pt x="109" y="163"/>
                      <a:pt x="109" y="163"/>
                    </a:cubicBezTo>
                    <a:cubicBezTo>
                      <a:pt x="0" y="277"/>
                      <a:pt x="0" y="277"/>
                      <a:pt x="0" y="277"/>
                    </a:cubicBezTo>
                    <a:cubicBezTo>
                      <a:pt x="199" y="277"/>
                      <a:pt x="199" y="277"/>
                      <a:pt x="199" y="277"/>
                    </a:cubicBezTo>
                    <a:cubicBezTo>
                      <a:pt x="199" y="277"/>
                      <a:pt x="147" y="448"/>
                      <a:pt x="139" y="483"/>
                    </a:cubicBezTo>
                    <a:cubicBezTo>
                      <a:pt x="132" y="518"/>
                      <a:pt x="134" y="793"/>
                      <a:pt x="134" y="793"/>
                    </a:cubicBezTo>
                    <a:cubicBezTo>
                      <a:pt x="417" y="698"/>
                      <a:pt x="417" y="698"/>
                      <a:pt x="417" y="698"/>
                    </a:cubicBezTo>
                    <a:cubicBezTo>
                      <a:pt x="585" y="347"/>
                      <a:pt x="585" y="347"/>
                      <a:pt x="585" y="347"/>
                    </a:cubicBezTo>
                    <a:cubicBezTo>
                      <a:pt x="503" y="171"/>
                      <a:pt x="503" y="171"/>
                      <a:pt x="503" y="171"/>
                    </a:cubicBezTo>
                    <a:cubicBezTo>
                      <a:pt x="437" y="0"/>
                      <a:pt x="437" y="0"/>
                      <a:pt x="437" y="0"/>
                    </a:cubicBezTo>
                    <a:cubicBezTo>
                      <a:pt x="288" y="49"/>
                      <a:pt x="288" y="49"/>
                      <a:pt x="288" y="49"/>
                    </a:cubicBezTo>
                    <a:lnTo>
                      <a:pt x="262" y="91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4" name="AutoShape 24"/>
              <p:cNvSpPr/>
              <p:nvPr/>
            </p:nvSpPr>
            <p:spPr>
              <a:xfrm flipH="1">
                <a:off x="1790232" y="3892134"/>
                <a:ext cx="217778" cy="480074"/>
              </a:xfrm>
              <a:custGeom>
                <a:avLst/>
                <a:gdLst/>
                <a:ahLst/>
                <a:cxnLst/>
                <a:rect l="l" t="t" r="r" b="b"/>
                <a:pathLst>
                  <a:path w="181" h="399">
                    <a:moveTo>
                      <a:pt x="0" y="0"/>
                    </a:moveTo>
                    <a:lnTo>
                      <a:pt x="176" y="399"/>
                    </a:lnTo>
                    <a:lnTo>
                      <a:pt x="181" y="295"/>
                    </a:lnTo>
                    <a:lnTo>
                      <a:pt x="5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EACF8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5" name="AutoShape 25"/>
              <p:cNvSpPr/>
              <p:nvPr/>
            </p:nvSpPr>
            <p:spPr>
              <a:xfrm flipH="1">
                <a:off x="1428071" y="3851225"/>
                <a:ext cx="406679" cy="643708"/>
              </a:xfrm>
              <a:custGeom>
                <a:avLst/>
                <a:gdLst/>
                <a:ahLst/>
                <a:cxnLst/>
                <a:rect l="l" t="t" r="r" b="b"/>
                <a:pathLst>
                  <a:path w="339" h="535">
                    <a:moveTo>
                      <a:pt x="84" y="19"/>
                    </a:moveTo>
                    <a:cubicBezTo>
                      <a:pt x="84" y="19"/>
                      <a:pt x="144" y="0"/>
                      <a:pt x="203" y="34"/>
                    </a:cubicBezTo>
                    <a:cubicBezTo>
                      <a:pt x="263" y="69"/>
                      <a:pt x="300" y="101"/>
                      <a:pt x="320" y="143"/>
                    </a:cubicBezTo>
                    <a:cubicBezTo>
                      <a:pt x="339" y="185"/>
                      <a:pt x="334" y="302"/>
                      <a:pt x="292" y="364"/>
                    </a:cubicBezTo>
                    <a:cubicBezTo>
                      <a:pt x="250" y="426"/>
                      <a:pt x="151" y="535"/>
                      <a:pt x="119" y="532"/>
                    </a:cubicBezTo>
                    <a:cubicBezTo>
                      <a:pt x="87" y="530"/>
                      <a:pt x="5" y="455"/>
                      <a:pt x="2" y="436"/>
                    </a:cubicBezTo>
                    <a:cubicBezTo>
                      <a:pt x="0" y="416"/>
                      <a:pt x="84" y="19"/>
                      <a:pt x="84" y="19"/>
                    </a:cubicBezTo>
                    <a:close/>
                  </a:path>
                </a:pathLst>
              </a:custGeom>
              <a:solidFill>
                <a:srgbClr val="7EACF8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6" name="AutoShape 26"/>
              <p:cNvSpPr/>
              <p:nvPr/>
            </p:nvSpPr>
            <p:spPr>
              <a:xfrm flipH="1">
                <a:off x="1484621" y="3876493"/>
                <a:ext cx="220184" cy="513763"/>
              </a:xfrm>
              <a:custGeom>
                <a:avLst/>
                <a:gdLst/>
                <a:ahLst/>
                <a:cxnLst/>
                <a:rect l="l" t="t" r="r" b="b"/>
                <a:pathLst>
                  <a:path w="183" h="427">
                    <a:moveTo>
                      <a:pt x="183" y="276"/>
                    </a:moveTo>
                    <a:cubicBezTo>
                      <a:pt x="183" y="259"/>
                      <a:pt x="141" y="268"/>
                      <a:pt x="141" y="268"/>
                    </a:cubicBezTo>
                    <a:cubicBezTo>
                      <a:pt x="141" y="268"/>
                      <a:pt x="143" y="101"/>
                      <a:pt x="132" y="37"/>
                    </a:cubicBezTo>
                    <a:cubicBezTo>
                      <a:pt x="121" y="29"/>
                      <a:pt x="108" y="21"/>
                      <a:pt x="94" y="13"/>
                    </a:cubicBezTo>
                    <a:cubicBezTo>
                      <a:pt x="84" y="8"/>
                      <a:pt x="75" y="3"/>
                      <a:pt x="65" y="0"/>
                    </a:cubicBezTo>
                    <a:cubicBezTo>
                      <a:pt x="65" y="1"/>
                      <a:pt x="64" y="1"/>
                      <a:pt x="64" y="1"/>
                    </a:cubicBezTo>
                    <a:cubicBezTo>
                      <a:pt x="64" y="1"/>
                      <a:pt x="109" y="209"/>
                      <a:pt x="87" y="256"/>
                    </a:cubicBezTo>
                    <a:cubicBezTo>
                      <a:pt x="45" y="256"/>
                      <a:pt x="45" y="256"/>
                      <a:pt x="45" y="256"/>
                    </a:cubicBezTo>
                    <a:cubicBezTo>
                      <a:pt x="45" y="256"/>
                      <a:pt x="30" y="355"/>
                      <a:pt x="0" y="373"/>
                    </a:cubicBezTo>
                    <a:cubicBezTo>
                      <a:pt x="0" y="373"/>
                      <a:pt x="64" y="425"/>
                      <a:pt x="104" y="427"/>
                    </a:cubicBezTo>
                    <a:cubicBezTo>
                      <a:pt x="111" y="427"/>
                      <a:pt x="118" y="423"/>
                      <a:pt x="125" y="416"/>
                    </a:cubicBezTo>
                    <a:cubicBezTo>
                      <a:pt x="127" y="414"/>
                      <a:pt x="129" y="412"/>
                      <a:pt x="131" y="410"/>
                    </a:cubicBezTo>
                    <a:cubicBezTo>
                      <a:pt x="160" y="373"/>
                      <a:pt x="183" y="289"/>
                      <a:pt x="183" y="276"/>
                    </a:cubicBezTo>
                    <a:close/>
                  </a:path>
                </a:pathLst>
              </a:custGeom>
              <a:solidFill>
                <a:srgbClr val="7EACF8">
                  <a:alpha val="100000"/>
                  <a:lumMod val="60000"/>
                  <a:lumOff val="4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7" name="AutoShape 27"/>
              <p:cNvSpPr/>
              <p:nvPr/>
            </p:nvSpPr>
            <p:spPr>
              <a:xfrm flipH="1">
                <a:off x="1560422" y="4265123"/>
                <a:ext cx="271921" cy="226200"/>
              </a:xfrm>
              <a:custGeom>
                <a:avLst/>
                <a:gdLst/>
                <a:ahLst/>
                <a:cxnLst/>
                <a:rect l="l" t="t" r="r" b="b"/>
                <a:pathLst>
                  <a:path w="226" h="188">
                    <a:moveTo>
                      <a:pt x="227" y="100"/>
                    </a:moveTo>
                    <a:cubicBezTo>
                      <a:pt x="161" y="82"/>
                      <a:pt x="42" y="15"/>
                      <a:pt x="16" y="0"/>
                    </a:cubicBezTo>
                    <a:cubicBezTo>
                      <a:pt x="6" y="50"/>
                      <a:pt x="0" y="86"/>
                      <a:pt x="0" y="92"/>
                    </a:cubicBezTo>
                    <a:cubicBezTo>
                      <a:pt x="3" y="110"/>
                      <a:pt x="72" y="174"/>
                      <a:pt x="108" y="186"/>
                    </a:cubicBezTo>
                    <a:cubicBezTo>
                      <a:pt x="117" y="188"/>
                      <a:pt x="117" y="188"/>
                      <a:pt x="117" y="188"/>
                    </a:cubicBezTo>
                    <a:cubicBezTo>
                      <a:pt x="128" y="186"/>
                      <a:pt x="128" y="186"/>
                      <a:pt x="128" y="186"/>
                    </a:cubicBezTo>
                    <a:cubicBezTo>
                      <a:pt x="151" y="177"/>
                      <a:pt x="190" y="140"/>
                      <a:pt x="227" y="100"/>
                    </a:cubicBezTo>
                    <a:close/>
                  </a:path>
                </a:pathLst>
              </a:custGeom>
              <a:solidFill>
                <a:srgbClr val="5F96FF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8" name="AutoShape 28"/>
              <p:cNvSpPr/>
              <p:nvPr/>
            </p:nvSpPr>
            <p:spPr>
              <a:xfrm flipH="1">
                <a:off x="1780606" y="3189470"/>
                <a:ext cx="246655" cy="322455"/>
              </a:xfrm>
              <a:custGeom>
                <a:avLst/>
                <a:gdLst/>
                <a:ahLst/>
                <a:cxnLst/>
                <a:rect l="l" t="t" r="r" b="b"/>
                <a:pathLst>
                  <a:path w="205" h="268">
                    <a:moveTo>
                      <a:pt x="97" y="13"/>
                    </a:moveTo>
                    <a:cubicBezTo>
                      <a:pt x="97" y="13"/>
                      <a:pt x="36" y="71"/>
                      <a:pt x="19" y="121"/>
                    </a:cubicBezTo>
                    <a:cubicBezTo>
                      <a:pt x="1" y="171"/>
                      <a:pt x="0" y="248"/>
                      <a:pt x="14" y="258"/>
                    </a:cubicBezTo>
                    <a:cubicBezTo>
                      <a:pt x="29" y="268"/>
                      <a:pt x="125" y="268"/>
                      <a:pt x="145" y="260"/>
                    </a:cubicBezTo>
                    <a:cubicBezTo>
                      <a:pt x="145" y="260"/>
                      <a:pt x="159" y="163"/>
                      <a:pt x="182" y="152"/>
                    </a:cubicBezTo>
                    <a:cubicBezTo>
                      <a:pt x="205" y="140"/>
                      <a:pt x="205" y="66"/>
                      <a:pt x="183" y="47"/>
                    </a:cubicBezTo>
                    <a:cubicBezTo>
                      <a:pt x="161" y="28"/>
                      <a:pt x="126" y="0"/>
                      <a:pt x="97" y="13"/>
                    </a:cubicBezTo>
                    <a:close/>
                  </a:path>
                </a:pathLst>
              </a:custGeom>
              <a:solidFill>
                <a:srgbClr val="F9B5AA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9" name="AutoShape 29"/>
              <p:cNvSpPr/>
              <p:nvPr/>
            </p:nvSpPr>
            <p:spPr>
              <a:xfrm flipH="1">
                <a:off x="2089827" y="3229176"/>
                <a:ext cx="283953" cy="340503"/>
              </a:xfrm>
              <a:custGeom>
                <a:avLst/>
                <a:gdLst/>
                <a:ahLst/>
                <a:cxnLst/>
                <a:rect l="l" t="t" r="r" b="b"/>
                <a:pathLst>
                  <a:path w="236" h="283">
                    <a:moveTo>
                      <a:pt x="47" y="97"/>
                    </a:moveTo>
                    <a:cubicBezTo>
                      <a:pt x="47" y="97"/>
                      <a:pt x="59" y="147"/>
                      <a:pt x="38" y="172"/>
                    </a:cubicBezTo>
                    <a:cubicBezTo>
                      <a:pt x="18" y="197"/>
                      <a:pt x="0" y="215"/>
                      <a:pt x="0" y="215"/>
                    </a:cubicBezTo>
                    <a:cubicBezTo>
                      <a:pt x="31" y="283"/>
                      <a:pt x="31" y="283"/>
                      <a:pt x="31" y="283"/>
                    </a:cubicBezTo>
                    <a:cubicBezTo>
                      <a:pt x="118" y="256"/>
                      <a:pt x="118" y="256"/>
                      <a:pt x="118" y="256"/>
                    </a:cubicBezTo>
                    <a:cubicBezTo>
                      <a:pt x="118" y="256"/>
                      <a:pt x="190" y="104"/>
                      <a:pt x="213" y="52"/>
                    </a:cubicBezTo>
                    <a:cubicBezTo>
                      <a:pt x="236" y="0"/>
                      <a:pt x="47" y="97"/>
                      <a:pt x="47" y="97"/>
                    </a:cubicBezTo>
                    <a:close/>
                  </a:path>
                </a:pathLst>
              </a:custGeom>
              <a:solidFill>
                <a:srgbClr val="EC9387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30" name="AutoShape 30"/>
              <p:cNvSpPr/>
              <p:nvPr/>
            </p:nvSpPr>
            <p:spPr>
              <a:xfrm flipH="1">
                <a:off x="1988759" y="2904314"/>
                <a:ext cx="339300" cy="385021"/>
              </a:xfrm>
              <a:custGeom>
                <a:avLst/>
                <a:gdLst/>
                <a:ahLst/>
                <a:cxnLst/>
                <a:rect l="l" t="t" r="r" b="b"/>
                <a:pathLst>
                  <a:path w="282" h="320">
                    <a:moveTo>
                      <a:pt x="59" y="0"/>
                    </a:moveTo>
                    <a:cubicBezTo>
                      <a:pt x="59" y="0"/>
                      <a:pt x="0" y="18"/>
                      <a:pt x="0" y="68"/>
                    </a:cubicBezTo>
                    <a:cubicBezTo>
                      <a:pt x="0" y="118"/>
                      <a:pt x="52" y="138"/>
                      <a:pt x="80" y="143"/>
                    </a:cubicBezTo>
                    <a:cubicBezTo>
                      <a:pt x="107" y="147"/>
                      <a:pt x="180" y="152"/>
                      <a:pt x="180" y="179"/>
                    </a:cubicBezTo>
                    <a:cubicBezTo>
                      <a:pt x="180" y="206"/>
                      <a:pt x="175" y="231"/>
                      <a:pt x="168" y="233"/>
                    </a:cubicBezTo>
                    <a:cubicBezTo>
                      <a:pt x="161" y="236"/>
                      <a:pt x="184" y="281"/>
                      <a:pt x="168" y="297"/>
                    </a:cubicBezTo>
                    <a:cubicBezTo>
                      <a:pt x="168" y="297"/>
                      <a:pt x="214" y="302"/>
                      <a:pt x="209" y="317"/>
                    </a:cubicBezTo>
                    <a:cubicBezTo>
                      <a:pt x="209" y="317"/>
                      <a:pt x="254" y="320"/>
                      <a:pt x="268" y="243"/>
                    </a:cubicBezTo>
                    <a:cubicBezTo>
                      <a:pt x="282" y="165"/>
                      <a:pt x="275" y="106"/>
                      <a:pt x="225" y="97"/>
                    </a:cubicBezTo>
                    <a:cubicBezTo>
                      <a:pt x="175" y="88"/>
                      <a:pt x="64" y="61"/>
                      <a:pt x="59" y="0"/>
                    </a:cubicBezTo>
                    <a:close/>
                  </a:path>
                </a:pathLst>
              </a:custGeom>
              <a:solidFill>
                <a:srgbClr val="251E25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31" name="AutoShape 31"/>
              <p:cNvSpPr/>
              <p:nvPr/>
            </p:nvSpPr>
            <p:spPr>
              <a:xfrm flipH="1">
                <a:off x="2076592" y="3035462"/>
                <a:ext cx="327268" cy="365770"/>
              </a:xfrm>
              <a:custGeom>
                <a:avLst/>
                <a:gdLst/>
                <a:ahLst/>
                <a:cxnLst/>
                <a:rect l="l" t="t" r="r" b="b"/>
                <a:pathLst>
                  <a:path w="272" h="304">
                    <a:moveTo>
                      <a:pt x="118" y="0"/>
                    </a:moveTo>
                    <a:cubicBezTo>
                      <a:pt x="118" y="0"/>
                      <a:pt x="54" y="63"/>
                      <a:pt x="36" y="138"/>
                    </a:cubicBezTo>
                    <a:cubicBezTo>
                      <a:pt x="18" y="213"/>
                      <a:pt x="0" y="272"/>
                      <a:pt x="38" y="288"/>
                    </a:cubicBezTo>
                    <a:cubicBezTo>
                      <a:pt x="77" y="304"/>
                      <a:pt x="172" y="263"/>
                      <a:pt x="197" y="254"/>
                    </a:cubicBezTo>
                    <a:cubicBezTo>
                      <a:pt x="222" y="245"/>
                      <a:pt x="272" y="208"/>
                      <a:pt x="272" y="208"/>
                    </a:cubicBezTo>
                    <a:cubicBezTo>
                      <a:pt x="256" y="27"/>
                      <a:pt x="256" y="27"/>
                      <a:pt x="256" y="27"/>
                    </a:cubicBezTo>
                    <a:lnTo>
                      <a:pt x="118" y="0"/>
                    </a:lnTo>
                    <a:close/>
                  </a:path>
                </a:pathLst>
              </a:custGeom>
              <a:solidFill>
                <a:srgbClr val="F9B5AA">
                  <a:alpha val="100000"/>
                </a:srgbClr>
              </a:solidFill>
              <a:ln>
                <a:headEnd type="none"/>
                <a:tailEnd type="none"/>
              </a:ln>
            </p:spPr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Agenda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 flipH="1">
            <a:off x="3621019" y="1500188"/>
            <a:ext cx="0" cy="4633913"/>
          </a:xfrm>
          <a:prstGeom prst="line">
            <a:avLst/>
          </a:prstGeom>
          <a:ln w="3175">
            <a:solidFill>
              <a:srgbClr val="FFFFFF">
                <a:alpha val="100000"/>
                <a:lumMod val="75000"/>
              </a:srgbClr>
            </a:solidFill>
            <a:prstDash val="solid"/>
            <a:headEnd type="none"/>
            <a:tailEnd type="none"/>
          </a:ln>
        </p:spPr>
      </p:cxnSp>
      <p:sp>
        <p:nvSpPr>
          <p:cNvPr id="3" name="AutoShape 3"/>
          <p:cNvSpPr/>
          <p:nvPr/>
        </p:nvSpPr>
        <p:spPr>
          <a:xfrm>
            <a:off x="2626456" y="5219207"/>
            <a:ext cx="870506" cy="915667"/>
          </a:xfrm>
          <a:custGeom>
            <a:avLst/>
            <a:gdLst/>
            <a:ahLst/>
            <a:cxnLst/>
            <a:rect l="l" t="t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rgbClr val="768394">
              <a:alpha val="100000"/>
            </a:srgbClr>
          </a:solidFill>
          <a:ln>
            <a:headEnd type="none"/>
            <a:tailEnd type="none"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losing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flipH="1">
            <a:off x="697706" y="887413"/>
            <a:ext cx="5370512" cy="5334000"/>
            <a:chOff x="6099176" y="887413"/>
            <a:chExt cx="5370512" cy="5334000"/>
          </a:xfrm>
        </p:grpSpPr>
        <p:sp>
          <p:nvSpPr>
            <p:cNvPr id="3" name="AutoShape 3"/>
            <p:cNvSpPr/>
            <p:nvPr/>
          </p:nvSpPr>
          <p:spPr>
            <a:xfrm>
              <a:off x="7759701" y="887413"/>
              <a:ext cx="454025" cy="630238"/>
            </a:xfrm>
            <a:custGeom>
              <a:avLst/>
              <a:gdLst/>
              <a:ahLst/>
              <a:cxnLst/>
              <a:rect l="l" t="t" r="r" b="b"/>
              <a:pathLst>
                <a:path w="286" h="397">
                  <a:moveTo>
                    <a:pt x="286" y="319"/>
                  </a:moveTo>
                  <a:cubicBezTo>
                    <a:pt x="286" y="319"/>
                    <a:pt x="197" y="186"/>
                    <a:pt x="157" y="150"/>
                  </a:cubicBezTo>
                  <a:cubicBezTo>
                    <a:pt x="157" y="150"/>
                    <a:pt x="87" y="5"/>
                    <a:pt x="53" y="3"/>
                  </a:cubicBezTo>
                  <a:cubicBezTo>
                    <a:pt x="20" y="0"/>
                    <a:pt x="68" y="77"/>
                    <a:pt x="72" y="88"/>
                  </a:cubicBezTo>
                  <a:cubicBezTo>
                    <a:pt x="72" y="88"/>
                    <a:pt x="11" y="111"/>
                    <a:pt x="5" y="146"/>
                  </a:cubicBezTo>
                  <a:cubicBezTo>
                    <a:pt x="0" y="182"/>
                    <a:pt x="5" y="188"/>
                    <a:pt x="28" y="190"/>
                  </a:cubicBezTo>
                  <a:cubicBezTo>
                    <a:pt x="51" y="193"/>
                    <a:pt x="117" y="208"/>
                    <a:pt x="130" y="242"/>
                  </a:cubicBezTo>
                  <a:cubicBezTo>
                    <a:pt x="144" y="277"/>
                    <a:pt x="230" y="397"/>
                    <a:pt x="230" y="397"/>
                  </a:cubicBezTo>
                  <a:lnTo>
                    <a:pt x="286" y="319"/>
                  </a:lnTo>
                  <a:close/>
                </a:path>
              </a:pathLst>
            </a:custGeom>
            <a:solidFill>
              <a:srgbClr val="F9B5AA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>
              <a:off x="9151938" y="1295400"/>
              <a:ext cx="485775" cy="531813"/>
            </a:xfrm>
            <a:custGeom>
              <a:avLst/>
              <a:gdLst/>
              <a:ahLst/>
              <a:cxnLst/>
              <a:rect l="l" t="t" r="r" b="b"/>
              <a:pathLst>
                <a:path w="307" h="335">
                  <a:moveTo>
                    <a:pt x="46" y="166"/>
                  </a:moveTo>
                  <a:cubicBezTo>
                    <a:pt x="46" y="166"/>
                    <a:pt x="0" y="96"/>
                    <a:pt x="10" y="57"/>
                  </a:cubicBezTo>
                  <a:cubicBezTo>
                    <a:pt x="20" y="17"/>
                    <a:pt x="24" y="0"/>
                    <a:pt x="77" y="2"/>
                  </a:cubicBezTo>
                  <a:cubicBezTo>
                    <a:pt x="134" y="5"/>
                    <a:pt x="195" y="25"/>
                    <a:pt x="238" y="65"/>
                  </a:cubicBezTo>
                  <a:cubicBezTo>
                    <a:pt x="282" y="106"/>
                    <a:pt x="281" y="147"/>
                    <a:pt x="294" y="178"/>
                  </a:cubicBezTo>
                  <a:cubicBezTo>
                    <a:pt x="307" y="210"/>
                    <a:pt x="307" y="270"/>
                    <a:pt x="295" y="294"/>
                  </a:cubicBezTo>
                  <a:cubicBezTo>
                    <a:pt x="283" y="317"/>
                    <a:pt x="259" y="335"/>
                    <a:pt x="223" y="316"/>
                  </a:cubicBezTo>
                  <a:cubicBezTo>
                    <a:pt x="188" y="297"/>
                    <a:pt x="46" y="166"/>
                    <a:pt x="46" y="166"/>
                  </a:cubicBezTo>
                  <a:close/>
                </a:path>
              </a:pathLst>
            </a:custGeom>
            <a:solidFill>
              <a:srgbClr val="3462E1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9278938" y="1382713"/>
              <a:ext cx="434975" cy="917575"/>
            </a:xfrm>
            <a:custGeom>
              <a:avLst/>
              <a:gdLst/>
              <a:ahLst/>
              <a:cxnLst/>
              <a:rect l="l" t="t" r="r" b="b"/>
              <a:pathLst>
                <a:path w="275" h="578">
                  <a:moveTo>
                    <a:pt x="37" y="6"/>
                  </a:moveTo>
                  <a:cubicBezTo>
                    <a:pt x="37" y="6"/>
                    <a:pt x="89" y="0"/>
                    <a:pt x="111" y="28"/>
                  </a:cubicBezTo>
                  <a:cubicBezTo>
                    <a:pt x="133" y="56"/>
                    <a:pt x="164" y="85"/>
                    <a:pt x="168" y="132"/>
                  </a:cubicBezTo>
                  <a:cubicBezTo>
                    <a:pt x="173" y="179"/>
                    <a:pt x="170" y="250"/>
                    <a:pt x="177" y="291"/>
                  </a:cubicBezTo>
                  <a:cubicBezTo>
                    <a:pt x="184" y="332"/>
                    <a:pt x="239" y="438"/>
                    <a:pt x="249" y="458"/>
                  </a:cubicBezTo>
                  <a:cubicBezTo>
                    <a:pt x="259" y="479"/>
                    <a:pt x="275" y="517"/>
                    <a:pt x="266" y="546"/>
                  </a:cubicBezTo>
                  <a:cubicBezTo>
                    <a:pt x="258" y="575"/>
                    <a:pt x="262" y="578"/>
                    <a:pt x="234" y="568"/>
                  </a:cubicBezTo>
                  <a:cubicBezTo>
                    <a:pt x="206" y="558"/>
                    <a:pt x="162" y="569"/>
                    <a:pt x="158" y="560"/>
                  </a:cubicBezTo>
                  <a:cubicBezTo>
                    <a:pt x="154" y="552"/>
                    <a:pt x="155" y="481"/>
                    <a:pt x="139" y="479"/>
                  </a:cubicBezTo>
                  <a:cubicBezTo>
                    <a:pt x="123" y="476"/>
                    <a:pt x="81" y="399"/>
                    <a:pt x="70" y="346"/>
                  </a:cubicBezTo>
                  <a:cubicBezTo>
                    <a:pt x="60" y="293"/>
                    <a:pt x="0" y="167"/>
                    <a:pt x="9" y="154"/>
                  </a:cubicBezTo>
                  <a:cubicBezTo>
                    <a:pt x="18" y="141"/>
                    <a:pt x="37" y="6"/>
                    <a:pt x="37" y="6"/>
                  </a:cubicBezTo>
                  <a:close/>
                </a:path>
              </a:pathLst>
            </a:custGeom>
            <a:solidFill>
              <a:srgbClr val="1F1B1C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>
              <a:off x="7107238" y="5095875"/>
              <a:ext cx="3960813" cy="1125538"/>
            </a:xfrm>
            <a:custGeom>
              <a:avLst/>
              <a:gdLst/>
              <a:ahLst/>
              <a:cxnLst/>
              <a:rect l="l" t="t" r="r" b="b"/>
              <a:pathLst>
                <a:path w="2496" h="709">
                  <a:moveTo>
                    <a:pt x="378" y="67"/>
                  </a:moveTo>
                  <a:cubicBezTo>
                    <a:pt x="378" y="67"/>
                    <a:pt x="154" y="104"/>
                    <a:pt x="101" y="228"/>
                  </a:cubicBezTo>
                  <a:cubicBezTo>
                    <a:pt x="49" y="351"/>
                    <a:pt x="0" y="467"/>
                    <a:pt x="131" y="546"/>
                  </a:cubicBezTo>
                  <a:cubicBezTo>
                    <a:pt x="262" y="625"/>
                    <a:pt x="924" y="682"/>
                    <a:pt x="1055" y="688"/>
                  </a:cubicBezTo>
                  <a:cubicBezTo>
                    <a:pt x="1508" y="709"/>
                    <a:pt x="2240" y="593"/>
                    <a:pt x="2294" y="583"/>
                  </a:cubicBezTo>
                  <a:cubicBezTo>
                    <a:pt x="2373" y="569"/>
                    <a:pt x="2496" y="434"/>
                    <a:pt x="2302" y="355"/>
                  </a:cubicBezTo>
                  <a:cubicBezTo>
                    <a:pt x="2107" y="277"/>
                    <a:pt x="1235" y="206"/>
                    <a:pt x="1142" y="183"/>
                  </a:cubicBezTo>
                  <a:cubicBezTo>
                    <a:pt x="1048" y="161"/>
                    <a:pt x="591" y="0"/>
                    <a:pt x="378" y="67"/>
                  </a:cubicBezTo>
                  <a:close/>
                </a:path>
              </a:pathLst>
            </a:custGeom>
            <a:solidFill>
              <a:srgbClr val="7EACF8">
                <a:alpha val="100000"/>
                <a:lumMod val="20000"/>
                <a:lumOff val="80000"/>
              </a:srgbClr>
            </a:solidFill>
            <a:ln>
              <a:headEnd type="none"/>
              <a:tailEnd type="none"/>
            </a:ln>
          </p:spPr>
        </p:sp>
        <p:sp>
          <p:nvSpPr>
            <p:cNvPr id="7" name="AutoShape 7"/>
            <p:cNvSpPr/>
            <p:nvPr/>
          </p:nvSpPr>
          <p:spPr>
            <a:xfrm>
              <a:off x="8753476" y="5549900"/>
              <a:ext cx="193675" cy="349250"/>
            </a:xfrm>
            <a:custGeom>
              <a:avLst/>
              <a:gdLst/>
              <a:ahLst/>
              <a:cxnLst/>
              <a:rect l="l" t="t" r="r" b="b"/>
              <a:pathLst>
                <a:path w="122" h="220">
                  <a:moveTo>
                    <a:pt x="35" y="10"/>
                  </a:moveTo>
                  <a:cubicBezTo>
                    <a:pt x="35" y="10"/>
                    <a:pt x="41" y="64"/>
                    <a:pt x="30" y="93"/>
                  </a:cubicBezTo>
                  <a:cubicBezTo>
                    <a:pt x="19" y="121"/>
                    <a:pt x="0" y="147"/>
                    <a:pt x="6" y="171"/>
                  </a:cubicBezTo>
                  <a:cubicBezTo>
                    <a:pt x="13" y="194"/>
                    <a:pt x="33" y="220"/>
                    <a:pt x="62" y="207"/>
                  </a:cubicBezTo>
                  <a:cubicBezTo>
                    <a:pt x="91" y="194"/>
                    <a:pt x="116" y="147"/>
                    <a:pt x="119" y="116"/>
                  </a:cubicBezTo>
                  <a:cubicBezTo>
                    <a:pt x="122" y="86"/>
                    <a:pt x="113" y="0"/>
                    <a:pt x="113" y="0"/>
                  </a:cubicBezTo>
                  <a:lnTo>
                    <a:pt x="35" y="10"/>
                  </a:lnTo>
                  <a:close/>
                </a:path>
              </a:pathLst>
            </a:custGeom>
            <a:solidFill>
              <a:srgbClr val="3462E1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8" name="AutoShape 8"/>
            <p:cNvSpPr/>
            <p:nvPr/>
          </p:nvSpPr>
          <p:spPr>
            <a:xfrm>
              <a:off x="7631113" y="5414963"/>
              <a:ext cx="609600" cy="317500"/>
            </a:xfrm>
            <a:custGeom>
              <a:avLst/>
              <a:gdLst/>
              <a:ahLst/>
              <a:cxnLst/>
              <a:rect l="l" t="t" r="r" b="b"/>
              <a:pathLst>
                <a:path w="384" h="200">
                  <a:moveTo>
                    <a:pt x="349" y="11"/>
                  </a:moveTo>
                  <a:cubicBezTo>
                    <a:pt x="349" y="11"/>
                    <a:pt x="362" y="62"/>
                    <a:pt x="373" y="84"/>
                  </a:cubicBezTo>
                  <a:cubicBezTo>
                    <a:pt x="384" y="106"/>
                    <a:pt x="370" y="173"/>
                    <a:pt x="359" y="181"/>
                  </a:cubicBezTo>
                  <a:cubicBezTo>
                    <a:pt x="348" y="189"/>
                    <a:pt x="313" y="181"/>
                    <a:pt x="313" y="181"/>
                  </a:cubicBezTo>
                  <a:cubicBezTo>
                    <a:pt x="313" y="181"/>
                    <a:pt x="311" y="128"/>
                    <a:pt x="276" y="147"/>
                  </a:cubicBezTo>
                  <a:cubicBezTo>
                    <a:pt x="241" y="167"/>
                    <a:pt x="167" y="200"/>
                    <a:pt x="97" y="197"/>
                  </a:cubicBezTo>
                  <a:cubicBezTo>
                    <a:pt x="27" y="194"/>
                    <a:pt x="0" y="181"/>
                    <a:pt x="25" y="155"/>
                  </a:cubicBezTo>
                  <a:cubicBezTo>
                    <a:pt x="25" y="155"/>
                    <a:pt x="132" y="141"/>
                    <a:pt x="176" y="98"/>
                  </a:cubicBezTo>
                  <a:cubicBezTo>
                    <a:pt x="221" y="55"/>
                    <a:pt x="245" y="31"/>
                    <a:pt x="245" y="31"/>
                  </a:cubicBezTo>
                  <a:cubicBezTo>
                    <a:pt x="251" y="0"/>
                    <a:pt x="251" y="0"/>
                    <a:pt x="251" y="0"/>
                  </a:cubicBezTo>
                  <a:lnTo>
                    <a:pt x="349" y="11"/>
                  </a:lnTo>
                  <a:close/>
                </a:path>
              </a:pathLst>
            </a:custGeom>
            <a:solidFill>
              <a:srgbClr val="3462E1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9" name="AutoShape 9"/>
            <p:cNvSpPr/>
            <p:nvPr/>
          </p:nvSpPr>
          <p:spPr>
            <a:xfrm>
              <a:off x="7986713" y="2962275"/>
              <a:ext cx="1000125" cy="2636838"/>
            </a:xfrm>
            <a:custGeom>
              <a:avLst/>
              <a:gdLst/>
              <a:ahLst/>
              <a:cxnLst/>
              <a:rect l="l" t="t" r="r" b="b"/>
              <a:pathLst>
                <a:path w="630" h="1661">
                  <a:moveTo>
                    <a:pt x="165" y="0"/>
                  </a:moveTo>
                  <a:lnTo>
                    <a:pt x="14" y="915"/>
                  </a:lnTo>
                  <a:lnTo>
                    <a:pt x="36" y="1517"/>
                  </a:lnTo>
                  <a:lnTo>
                    <a:pt x="0" y="1519"/>
                  </a:lnTo>
                  <a:lnTo>
                    <a:pt x="21" y="1576"/>
                  </a:lnTo>
                  <a:lnTo>
                    <a:pt x="138" y="1574"/>
                  </a:lnTo>
                  <a:lnTo>
                    <a:pt x="155" y="1520"/>
                  </a:lnTo>
                  <a:lnTo>
                    <a:pt x="121" y="1521"/>
                  </a:lnTo>
                  <a:lnTo>
                    <a:pt x="207" y="1028"/>
                  </a:lnTo>
                  <a:lnTo>
                    <a:pt x="315" y="444"/>
                  </a:lnTo>
                  <a:lnTo>
                    <a:pt x="394" y="1045"/>
                  </a:lnTo>
                  <a:lnTo>
                    <a:pt x="516" y="1611"/>
                  </a:lnTo>
                  <a:lnTo>
                    <a:pt x="489" y="1609"/>
                  </a:lnTo>
                  <a:lnTo>
                    <a:pt x="502" y="1657"/>
                  </a:lnTo>
                  <a:lnTo>
                    <a:pt x="611" y="1661"/>
                  </a:lnTo>
                  <a:lnTo>
                    <a:pt x="630" y="1607"/>
                  </a:lnTo>
                  <a:lnTo>
                    <a:pt x="587" y="1607"/>
                  </a:lnTo>
                  <a:lnTo>
                    <a:pt x="576" y="977"/>
                  </a:lnTo>
                  <a:lnTo>
                    <a:pt x="553" y="291"/>
                  </a:lnTo>
                  <a:lnTo>
                    <a:pt x="547" y="24"/>
                  </a:lnTo>
                  <a:lnTo>
                    <a:pt x="165" y="0"/>
                  </a:lnTo>
                  <a:close/>
                </a:path>
              </a:pathLst>
            </a:custGeom>
            <a:solidFill>
              <a:srgbClr val="1E1A1B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0" name="AutoShape 10"/>
            <p:cNvSpPr/>
            <p:nvPr/>
          </p:nvSpPr>
          <p:spPr>
            <a:xfrm>
              <a:off x="7983538" y="1374775"/>
              <a:ext cx="1184275" cy="1747838"/>
            </a:xfrm>
            <a:custGeom>
              <a:avLst/>
              <a:gdLst/>
              <a:ahLst/>
              <a:cxnLst/>
              <a:rect l="l" t="t" r="r" b="b"/>
              <a:pathLst>
                <a:path w="746" h="1101">
                  <a:moveTo>
                    <a:pt x="153" y="0"/>
                  </a:moveTo>
                  <a:cubicBezTo>
                    <a:pt x="79" y="79"/>
                    <a:pt x="79" y="79"/>
                    <a:pt x="79" y="79"/>
                  </a:cubicBezTo>
                  <a:cubicBezTo>
                    <a:pt x="226" y="381"/>
                    <a:pt x="226" y="381"/>
                    <a:pt x="226" y="381"/>
                  </a:cubicBezTo>
                  <a:cubicBezTo>
                    <a:pt x="0" y="923"/>
                    <a:pt x="0" y="923"/>
                    <a:pt x="0" y="923"/>
                  </a:cubicBezTo>
                  <a:cubicBezTo>
                    <a:pt x="99" y="1019"/>
                    <a:pt x="99" y="1019"/>
                    <a:pt x="99" y="1019"/>
                  </a:cubicBezTo>
                  <a:cubicBezTo>
                    <a:pt x="333" y="678"/>
                    <a:pt x="333" y="678"/>
                    <a:pt x="333" y="678"/>
                  </a:cubicBezTo>
                  <a:cubicBezTo>
                    <a:pt x="342" y="1014"/>
                    <a:pt x="342" y="1014"/>
                    <a:pt x="342" y="1014"/>
                  </a:cubicBezTo>
                  <a:cubicBezTo>
                    <a:pt x="410" y="1008"/>
                    <a:pt x="410" y="1008"/>
                    <a:pt x="410" y="1008"/>
                  </a:cubicBezTo>
                  <a:cubicBezTo>
                    <a:pt x="424" y="1101"/>
                    <a:pt x="424" y="1101"/>
                    <a:pt x="424" y="1101"/>
                  </a:cubicBezTo>
                  <a:cubicBezTo>
                    <a:pt x="542" y="1101"/>
                    <a:pt x="542" y="1101"/>
                    <a:pt x="542" y="1101"/>
                  </a:cubicBezTo>
                  <a:cubicBezTo>
                    <a:pt x="542" y="1101"/>
                    <a:pt x="644" y="867"/>
                    <a:pt x="667" y="726"/>
                  </a:cubicBezTo>
                  <a:cubicBezTo>
                    <a:pt x="689" y="585"/>
                    <a:pt x="746" y="421"/>
                    <a:pt x="746" y="421"/>
                  </a:cubicBezTo>
                  <a:cubicBezTo>
                    <a:pt x="596" y="291"/>
                    <a:pt x="596" y="291"/>
                    <a:pt x="596" y="291"/>
                  </a:cubicBezTo>
                  <a:cubicBezTo>
                    <a:pt x="453" y="252"/>
                    <a:pt x="453" y="252"/>
                    <a:pt x="453" y="252"/>
                  </a:cubicBezTo>
                  <a:cubicBezTo>
                    <a:pt x="348" y="254"/>
                    <a:pt x="348" y="254"/>
                    <a:pt x="348" y="254"/>
                  </a:cubicBezTo>
                  <a:lnTo>
                    <a:pt x="153" y="0"/>
                  </a:lnTo>
                  <a:close/>
                </a:path>
              </a:pathLst>
            </a:custGeom>
            <a:solidFill>
              <a:srgbClr val="3462E1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1" name="AutoShape 11"/>
            <p:cNvSpPr/>
            <p:nvPr/>
          </p:nvSpPr>
          <p:spPr>
            <a:xfrm>
              <a:off x="8582026" y="1774825"/>
              <a:ext cx="169863" cy="150813"/>
            </a:xfrm>
            <a:custGeom>
              <a:avLst/>
              <a:gdLst/>
              <a:ahLst/>
              <a:cxnLst/>
              <a:rect l="l" t="t" r="r" b="b"/>
              <a:pathLst>
                <a:path w="107" h="95">
                  <a:moveTo>
                    <a:pt x="76" y="0"/>
                  </a:moveTo>
                  <a:lnTo>
                    <a:pt x="0" y="95"/>
                  </a:lnTo>
                  <a:lnTo>
                    <a:pt x="107" y="68"/>
                  </a:lnTo>
                  <a:lnTo>
                    <a:pt x="76" y="0"/>
                  </a:lnTo>
                  <a:close/>
                </a:path>
              </a:pathLst>
            </a:custGeom>
            <a:solidFill>
              <a:srgbClr val="618C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2" name="AutoShape 12"/>
            <p:cNvSpPr/>
            <p:nvPr/>
          </p:nvSpPr>
          <p:spPr>
            <a:xfrm>
              <a:off x="8751888" y="1839913"/>
              <a:ext cx="138113" cy="217488"/>
            </a:xfrm>
            <a:custGeom>
              <a:avLst/>
              <a:gdLst/>
              <a:ahLst/>
              <a:cxnLst/>
              <a:rect l="l" t="t" r="r" b="b"/>
              <a:pathLst>
                <a:path w="87" h="137">
                  <a:moveTo>
                    <a:pt x="13" y="137"/>
                  </a:moveTo>
                  <a:lnTo>
                    <a:pt x="0" y="27"/>
                  </a:lnTo>
                  <a:lnTo>
                    <a:pt x="87" y="0"/>
                  </a:lnTo>
                  <a:lnTo>
                    <a:pt x="13" y="137"/>
                  </a:lnTo>
                  <a:close/>
                </a:path>
              </a:pathLst>
            </a:custGeom>
            <a:solidFill>
              <a:srgbClr val="618C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3" name="AutoShape 13"/>
            <p:cNvSpPr/>
            <p:nvPr/>
          </p:nvSpPr>
          <p:spPr>
            <a:xfrm>
              <a:off x="9215438" y="1730375"/>
              <a:ext cx="187325" cy="282575"/>
            </a:xfrm>
            <a:custGeom>
              <a:avLst/>
              <a:gdLst/>
              <a:ahLst/>
              <a:cxnLst/>
              <a:rect l="l" t="t" r="r" b="b"/>
              <a:pathLst>
                <a:path w="118" h="178">
                  <a:moveTo>
                    <a:pt x="20" y="23"/>
                  </a:moveTo>
                  <a:cubicBezTo>
                    <a:pt x="20" y="23"/>
                    <a:pt x="19" y="158"/>
                    <a:pt x="0" y="178"/>
                  </a:cubicBezTo>
                  <a:cubicBezTo>
                    <a:pt x="0" y="178"/>
                    <a:pt x="93" y="118"/>
                    <a:pt x="110" y="127"/>
                  </a:cubicBezTo>
                  <a:cubicBezTo>
                    <a:pt x="110" y="127"/>
                    <a:pt x="118" y="79"/>
                    <a:pt x="110" y="40"/>
                  </a:cubicBezTo>
                  <a:cubicBezTo>
                    <a:pt x="103" y="0"/>
                    <a:pt x="20" y="23"/>
                    <a:pt x="20" y="23"/>
                  </a:cubicBezTo>
                  <a:close/>
                </a:path>
              </a:pathLst>
            </a:custGeom>
            <a:solidFill>
              <a:srgbClr val="EC9387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4" name="AutoShape 14"/>
            <p:cNvSpPr/>
            <p:nvPr/>
          </p:nvSpPr>
          <p:spPr>
            <a:xfrm>
              <a:off x="8689976" y="1825625"/>
              <a:ext cx="538163" cy="514350"/>
            </a:xfrm>
            <a:custGeom>
              <a:avLst/>
              <a:gdLst/>
              <a:ahLst/>
              <a:cxnLst/>
              <a:rect l="l" t="t" r="r" b="b"/>
              <a:pathLst>
                <a:path w="339" h="324">
                  <a:moveTo>
                    <a:pt x="69" y="304"/>
                  </a:moveTo>
                  <a:cubicBezTo>
                    <a:pt x="69" y="304"/>
                    <a:pt x="0" y="324"/>
                    <a:pt x="0" y="270"/>
                  </a:cubicBezTo>
                  <a:cubicBezTo>
                    <a:pt x="0" y="215"/>
                    <a:pt x="119" y="101"/>
                    <a:pt x="149" y="79"/>
                  </a:cubicBezTo>
                  <a:cubicBezTo>
                    <a:pt x="178" y="57"/>
                    <a:pt x="231" y="0"/>
                    <a:pt x="280" y="7"/>
                  </a:cubicBezTo>
                  <a:cubicBezTo>
                    <a:pt x="330" y="14"/>
                    <a:pt x="339" y="85"/>
                    <a:pt x="331" y="118"/>
                  </a:cubicBezTo>
                  <a:cubicBezTo>
                    <a:pt x="331" y="118"/>
                    <a:pt x="273" y="59"/>
                    <a:pt x="245" y="79"/>
                  </a:cubicBezTo>
                  <a:cubicBezTo>
                    <a:pt x="218" y="99"/>
                    <a:pt x="178" y="190"/>
                    <a:pt x="178" y="190"/>
                  </a:cubicBezTo>
                  <a:cubicBezTo>
                    <a:pt x="213" y="213"/>
                    <a:pt x="213" y="213"/>
                    <a:pt x="213" y="213"/>
                  </a:cubicBezTo>
                  <a:lnTo>
                    <a:pt x="69" y="304"/>
                  </a:lnTo>
                  <a:close/>
                </a:path>
              </a:pathLst>
            </a:custGeom>
            <a:solidFill>
              <a:srgbClr val="F9B5AA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5" name="AutoShape 15"/>
            <p:cNvSpPr/>
            <p:nvPr/>
          </p:nvSpPr>
          <p:spPr>
            <a:xfrm>
              <a:off x="9050338" y="2976563"/>
              <a:ext cx="981075" cy="2501900"/>
            </a:xfrm>
            <a:custGeom>
              <a:avLst/>
              <a:gdLst/>
              <a:ahLst/>
              <a:cxnLst/>
              <a:rect l="l" t="t" r="r" b="b"/>
              <a:pathLst>
                <a:path w="619" h="1576">
                  <a:moveTo>
                    <a:pt x="0" y="87"/>
                  </a:moveTo>
                  <a:cubicBezTo>
                    <a:pt x="39" y="606"/>
                    <a:pt x="39" y="606"/>
                    <a:pt x="39" y="606"/>
                  </a:cubicBezTo>
                  <a:cubicBezTo>
                    <a:pt x="33" y="1016"/>
                    <a:pt x="33" y="1016"/>
                    <a:pt x="33" y="1016"/>
                  </a:cubicBezTo>
                  <a:cubicBezTo>
                    <a:pt x="33" y="1016"/>
                    <a:pt x="52" y="1080"/>
                    <a:pt x="107" y="1073"/>
                  </a:cubicBezTo>
                  <a:cubicBezTo>
                    <a:pt x="161" y="1067"/>
                    <a:pt x="135" y="1064"/>
                    <a:pt x="135" y="1064"/>
                  </a:cubicBezTo>
                  <a:cubicBezTo>
                    <a:pt x="251" y="1576"/>
                    <a:pt x="251" y="1576"/>
                    <a:pt x="251" y="1576"/>
                  </a:cubicBezTo>
                  <a:cubicBezTo>
                    <a:pt x="327" y="1550"/>
                    <a:pt x="327" y="1550"/>
                    <a:pt x="327" y="1550"/>
                  </a:cubicBezTo>
                  <a:cubicBezTo>
                    <a:pt x="251" y="1041"/>
                    <a:pt x="251" y="1041"/>
                    <a:pt x="251" y="1041"/>
                  </a:cubicBezTo>
                  <a:cubicBezTo>
                    <a:pt x="619" y="948"/>
                    <a:pt x="619" y="948"/>
                    <a:pt x="619" y="948"/>
                  </a:cubicBezTo>
                  <a:cubicBezTo>
                    <a:pt x="616" y="862"/>
                    <a:pt x="616" y="862"/>
                    <a:pt x="616" y="862"/>
                  </a:cubicBezTo>
                  <a:cubicBezTo>
                    <a:pt x="360" y="839"/>
                    <a:pt x="360" y="839"/>
                    <a:pt x="360" y="839"/>
                  </a:cubicBezTo>
                  <a:cubicBezTo>
                    <a:pt x="360" y="839"/>
                    <a:pt x="254" y="833"/>
                    <a:pt x="222" y="881"/>
                  </a:cubicBezTo>
                  <a:cubicBezTo>
                    <a:pt x="222" y="881"/>
                    <a:pt x="193" y="724"/>
                    <a:pt x="228" y="615"/>
                  </a:cubicBezTo>
                  <a:cubicBezTo>
                    <a:pt x="263" y="506"/>
                    <a:pt x="321" y="260"/>
                    <a:pt x="324" y="183"/>
                  </a:cubicBezTo>
                  <a:cubicBezTo>
                    <a:pt x="327" y="106"/>
                    <a:pt x="259" y="0"/>
                    <a:pt x="259" y="0"/>
                  </a:cubicBezTo>
                  <a:lnTo>
                    <a:pt x="0" y="87"/>
                  </a:lnTo>
                  <a:close/>
                </a:path>
              </a:pathLst>
            </a:custGeom>
            <a:solidFill>
              <a:srgbClr val="3462E1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6" name="AutoShape 16"/>
            <p:cNvSpPr/>
            <p:nvPr/>
          </p:nvSpPr>
          <p:spPr>
            <a:xfrm>
              <a:off x="10026651" y="4283075"/>
              <a:ext cx="355600" cy="576263"/>
            </a:xfrm>
            <a:custGeom>
              <a:avLst/>
              <a:gdLst/>
              <a:ahLst/>
              <a:cxnLst/>
              <a:rect l="l" t="t" r="r" b="b"/>
              <a:pathLst>
                <a:path w="224" h="363">
                  <a:moveTo>
                    <a:pt x="184" y="340"/>
                  </a:moveTo>
                  <a:cubicBezTo>
                    <a:pt x="184" y="340"/>
                    <a:pt x="208" y="363"/>
                    <a:pt x="224" y="345"/>
                  </a:cubicBezTo>
                  <a:cubicBezTo>
                    <a:pt x="224" y="345"/>
                    <a:pt x="195" y="45"/>
                    <a:pt x="179" y="22"/>
                  </a:cubicBezTo>
                  <a:cubicBezTo>
                    <a:pt x="164" y="0"/>
                    <a:pt x="0" y="39"/>
                    <a:pt x="0" y="39"/>
                  </a:cubicBezTo>
                  <a:cubicBezTo>
                    <a:pt x="3" y="125"/>
                    <a:pt x="3" y="125"/>
                    <a:pt x="3" y="125"/>
                  </a:cubicBezTo>
                  <a:cubicBezTo>
                    <a:pt x="3" y="125"/>
                    <a:pt x="96" y="121"/>
                    <a:pt x="114" y="163"/>
                  </a:cubicBezTo>
                  <a:cubicBezTo>
                    <a:pt x="132" y="206"/>
                    <a:pt x="161" y="318"/>
                    <a:pt x="184" y="340"/>
                  </a:cubicBezTo>
                  <a:close/>
                </a:path>
              </a:pathLst>
            </a:custGeom>
            <a:solidFill>
              <a:srgbClr val="0C0527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7" name="AutoShape 17"/>
            <p:cNvSpPr/>
            <p:nvPr/>
          </p:nvSpPr>
          <p:spPr>
            <a:xfrm>
              <a:off x="9117013" y="5437188"/>
              <a:ext cx="511175" cy="379413"/>
            </a:xfrm>
            <a:custGeom>
              <a:avLst/>
              <a:gdLst/>
              <a:ahLst/>
              <a:cxnLst/>
              <a:rect l="l" t="t" r="r" b="b"/>
              <a:pathLst>
                <a:path w="323" h="239">
                  <a:moveTo>
                    <a:pt x="285" y="0"/>
                  </a:moveTo>
                  <a:cubicBezTo>
                    <a:pt x="285" y="0"/>
                    <a:pt x="323" y="126"/>
                    <a:pt x="323" y="167"/>
                  </a:cubicBezTo>
                  <a:cubicBezTo>
                    <a:pt x="323" y="207"/>
                    <a:pt x="316" y="189"/>
                    <a:pt x="316" y="189"/>
                  </a:cubicBezTo>
                  <a:cubicBezTo>
                    <a:pt x="316" y="189"/>
                    <a:pt x="32" y="239"/>
                    <a:pt x="16" y="227"/>
                  </a:cubicBezTo>
                  <a:cubicBezTo>
                    <a:pt x="0" y="216"/>
                    <a:pt x="14" y="191"/>
                    <a:pt x="32" y="187"/>
                  </a:cubicBezTo>
                  <a:cubicBezTo>
                    <a:pt x="50" y="182"/>
                    <a:pt x="186" y="120"/>
                    <a:pt x="200" y="84"/>
                  </a:cubicBezTo>
                  <a:cubicBezTo>
                    <a:pt x="213" y="48"/>
                    <a:pt x="209" y="26"/>
                    <a:pt x="209" y="26"/>
                  </a:cubicBezTo>
                  <a:lnTo>
                    <a:pt x="285" y="0"/>
                  </a:lnTo>
                  <a:close/>
                </a:path>
              </a:pathLst>
            </a:custGeom>
            <a:solidFill>
              <a:srgbClr val="0C0527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8" name="AutoShape 18"/>
            <p:cNvSpPr/>
            <p:nvPr/>
          </p:nvSpPr>
          <p:spPr>
            <a:xfrm>
              <a:off x="7318376" y="3324225"/>
              <a:ext cx="1527175" cy="1414463"/>
            </a:xfrm>
            <a:custGeom>
              <a:avLst/>
              <a:gdLst/>
              <a:ahLst/>
              <a:cxnLst/>
              <a:rect l="l" t="t" r="r" b="b"/>
              <a:pathLst>
                <a:path w="962" h="891">
                  <a:moveTo>
                    <a:pt x="6" y="110"/>
                  </a:moveTo>
                  <a:cubicBezTo>
                    <a:pt x="0" y="127"/>
                    <a:pt x="11" y="891"/>
                    <a:pt x="11" y="891"/>
                  </a:cubicBezTo>
                  <a:cubicBezTo>
                    <a:pt x="962" y="858"/>
                    <a:pt x="962" y="858"/>
                    <a:pt x="962" y="858"/>
                  </a:cubicBezTo>
                  <a:cubicBezTo>
                    <a:pt x="924" y="0"/>
                    <a:pt x="924" y="0"/>
                    <a:pt x="924" y="0"/>
                  </a:cubicBezTo>
                  <a:cubicBezTo>
                    <a:pt x="924" y="0"/>
                    <a:pt x="110" y="66"/>
                    <a:pt x="61" y="61"/>
                  </a:cubicBezTo>
                  <a:cubicBezTo>
                    <a:pt x="11" y="55"/>
                    <a:pt x="6" y="110"/>
                    <a:pt x="6" y="110"/>
                  </a:cubicBezTo>
                  <a:close/>
                </a:path>
              </a:pathLst>
            </a:custGeom>
            <a:solidFill>
              <a:srgbClr val="7EACF8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9" name="AutoShape 19"/>
            <p:cNvSpPr/>
            <p:nvPr/>
          </p:nvSpPr>
          <p:spPr>
            <a:xfrm>
              <a:off x="8770938" y="3324225"/>
              <a:ext cx="269875" cy="1362075"/>
            </a:xfrm>
            <a:custGeom>
              <a:avLst/>
              <a:gdLst/>
              <a:ahLst/>
              <a:cxnLst/>
              <a:rect l="l" t="t" r="r" b="b"/>
              <a:pathLst>
                <a:path w="170" h="858">
                  <a:moveTo>
                    <a:pt x="170" y="820"/>
                  </a:moveTo>
                  <a:lnTo>
                    <a:pt x="38" y="858"/>
                  </a:lnTo>
                  <a:lnTo>
                    <a:pt x="0" y="0"/>
                  </a:lnTo>
                  <a:lnTo>
                    <a:pt x="126" y="28"/>
                  </a:lnTo>
                  <a:lnTo>
                    <a:pt x="170" y="820"/>
                  </a:lnTo>
                  <a:close/>
                </a:path>
              </a:pathLst>
            </a:custGeom>
            <a:solidFill>
              <a:srgbClr val="7EACF8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0" name="AutoShape 20"/>
            <p:cNvSpPr/>
            <p:nvPr/>
          </p:nvSpPr>
          <p:spPr>
            <a:xfrm>
              <a:off x="7996238" y="3205163"/>
              <a:ext cx="411163" cy="215900"/>
            </a:xfrm>
            <a:custGeom>
              <a:avLst/>
              <a:gdLst/>
              <a:ahLst/>
              <a:cxnLst/>
              <a:rect l="l" t="t" r="r" b="b"/>
              <a:pathLst>
                <a:path w="259" h="136">
                  <a:moveTo>
                    <a:pt x="1" y="130"/>
                  </a:moveTo>
                  <a:cubicBezTo>
                    <a:pt x="1" y="130"/>
                    <a:pt x="0" y="77"/>
                    <a:pt x="16" y="57"/>
                  </a:cubicBezTo>
                  <a:cubicBezTo>
                    <a:pt x="33" y="38"/>
                    <a:pt x="101" y="0"/>
                    <a:pt x="168" y="19"/>
                  </a:cubicBezTo>
                  <a:cubicBezTo>
                    <a:pt x="235" y="39"/>
                    <a:pt x="259" y="68"/>
                    <a:pt x="255" y="110"/>
                  </a:cubicBezTo>
                  <a:cubicBezTo>
                    <a:pt x="226" y="114"/>
                    <a:pt x="226" y="114"/>
                    <a:pt x="226" y="114"/>
                  </a:cubicBezTo>
                  <a:cubicBezTo>
                    <a:pt x="226" y="114"/>
                    <a:pt x="147" y="40"/>
                    <a:pt x="95" y="63"/>
                  </a:cubicBezTo>
                  <a:cubicBezTo>
                    <a:pt x="43" y="87"/>
                    <a:pt x="40" y="124"/>
                    <a:pt x="45" y="130"/>
                  </a:cubicBezTo>
                  <a:cubicBezTo>
                    <a:pt x="49" y="136"/>
                    <a:pt x="1" y="130"/>
                    <a:pt x="1" y="130"/>
                  </a:cubicBezTo>
                  <a:close/>
                </a:path>
              </a:pathLst>
            </a:custGeom>
            <a:solidFill>
              <a:srgbClr val="7EACF8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1" name="AutoShape 21"/>
            <p:cNvSpPr/>
            <p:nvPr/>
          </p:nvSpPr>
          <p:spPr>
            <a:xfrm>
              <a:off x="8097838" y="2709863"/>
              <a:ext cx="703263" cy="650875"/>
            </a:xfrm>
            <a:custGeom>
              <a:avLst/>
              <a:gdLst/>
              <a:ahLst/>
              <a:cxnLst/>
              <a:rect l="l" t="t" r="r" b="b"/>
              <a:pathLst>
                <a:path w="442" h="410">
                  <a:moveTo>
                    <a:pt x="363" y="0"/>
                  </a:moveTo>
                  <a:cubicBezTo>
                    <a:pt x="115" y="271"/>
                    <a:pt x="115" y="271"/>
                    <a:pt x="115" y="271"/>
                  </a:cubicBezTo>
                  <a:cubicBezTo>
                    <a:pt x="115" y="271"/>
                    <a:pt x="25" y="276"/>
                    <a:pt x="13" y="320"/>
                  </a:cubicBezTo>
                  <a:cubicBezTo>
                    <a:pt x="0" y="365"/>
                    <a:pt x="3" y="410"/>
                    <a:pt x="43" y="410"/>
                  </a:cubicBezTo>
                  <a:cubicBezTo>
                    <a:pt x="82" y="410"/>
                    <a:pt x="95" y="367"/>
                    <a:pt x="115" y="357"/>
                  </a:cubicBezTo>
                  <a:cubicBezTo>
                    <a:pt x="135" y="348"/>
                    <a:pt x="147" y="353"/>
                    <a:pt x="199" y="310"/>
                  </a:cubicBezTo>
                  <a:cubicBezTo>
                    <a:pt x="251" y="268"/>
                    <a:pt x="443" y="59"/>
                    <a:pt x="443" y="59"/>
                  </a:cubicBezTo>
                  <a:lnTo>
                    <a:pt x="363" y="0"/>
                  </a:lnTo>
                  <a:close/>
                </a:path>
              </a:pathLst>
            </a:custGeom>
            <a:solidFill>
              <a:srgbClr val="F9B5AA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2" name="AutoShape 22"/>
            <p:cNvSpPr/>
            <p:nvPr/>
          </p:nvSpPr>
          <p:spPr>
            <a:xfrm>
              <a:off x="8799513" y="1868488"/>
              <a:ext cx="927100" cy="1258888"/>
            </a:xfrm>
            <a:custGeom>
              <a:avLst/>
              <a:gdLst/>
              <a:ahLst/>
              <a:cxnLst/>
              <a:rect l="l" t="t" r="r" b="b"/>
              <a:pathLst>
                <a:path w="585" h="793">
                  <a:moveTo>
                    <a:pt x="262" y="91"/>
                  </a:moveTo>
                  <a:cubicBezTo>
                    <a:pt x="236" y="146"/>
                    <a:pt x="236" y="146"/>
                    <a:pt x="236" y="146"/>
                  </a:cubicBezTo>
                  <a:cubicBezTo>
                    <a:pt x="109" y="163"/>
                    <a:pt x="109" y="163"/>
                    <a:pt x="109" y="163"/>
                  </a:cubicBezTo>
                  <a:cubicBezTo>
                    <a:pt x="0" y="277"/>
                    <a:pt x="0" y="277"/>
                    <a:pt x="0" y="277"/>
                  </a:cubicBezTo>
                  <a:cubicBezTo>
                    <a:pt x="199" y="277"/>
                    <a:pt x="199" y="277"/>
                    <a:pt x="199" y="277"/>
                  </a:cubicBezTo>
                  <a:cubicBezTo>
                    <a:pt x="199" y="277"/>
                    <a:pt x="147" y="448"/>
                    <a:pt x="139" y="483"/>
                  </a:cubicBezTo>
                  <a:cubicBezTo>
                    <a:pt x="132" y="518"/>
                    <a:pt x="134" y="793"/>
                    <a:pt x="134" y="793"/>
                  </a:cubicBezTo>
                  <a:cubicBezTo>
                    <a:pt x="417" y="698"/>
                    <a:pt x="417" y="698"/>
                    <a:pt x="417" y="698"/>
                  </a:cubicBezTo>
                  <a:cubicBezTo>
                    <a:pt x="585" y="347"/>
                    <a:pt x="585" y="347"/>
                    <a:pt x="585" y="347"/>
                  </a:cubicBezTo>
                  <a:cubicBezTo>
                    <a:pt x="503" y="171"/>
                    <a:pt x="503" y="171"/>
                    <a:pt x="503" y="171"/>
                  </a:cubicBezTo>
                  <a:cubicBezTo>
                    <a:pt x="437" y="0"/>
                    <a:pt x="437" y="0"/>
                    <a:pt x="437" y="0"/>
                  </a:cubicBezTo>
                  <a:cubicBezTo>
                    <a:pt x="288" y="49"/>
                    <a:pt x="288" y="49"/>
                    <a:pt x="288" y="49"/>
                  </a:cubicBezTo>
                  <a:lnTo>
                    <a:pt x="262" y="9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3" name="AutoShape 23"/>
            <p:cNvSpPr/>
            <p:nvPr/>
          </p:nvSpPr>
          <p:spPr>
            <a:xfrm>
              <a:off x="9185276" y="2308225"/>
              <a:ext cx="287338" cy="633413"/>
            </a:xfrm>
            <a:custGeom>
              <a:avLst/>
              <a:gdLst/>
              <a:ahLst/>
              <a:cxnLst/>
              <a:rect l="l" t="t" r="r" b="b"/>
              <a:pathLst>
                <a:path w="181" h="399">
                  <a:moveTo>
                    <a:pt x="0" y="0"/>
                  </a:moveTo>
                  <a:lnTo>
                    <a:pt x="176" y="399"/>
                  </a:lnTo>
                  <a:lnTo>
                    <a:pt x="181" y="295"/>
                  </a:lnTo>
                  <a:lnTo>
                    <a:pt x="5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EACF8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4" name="AutoShape 24"/>
            <p:cNvSpPr/>
            <p:nvPr/>
          </p:nvSpPr>
          <p:spPr>
            <a:xfrm>
              <a:off x="9413876" y="2254250"/>
              <a:ext cx="536575" cy="849313"/>
            </a:xfrm>
            <a:custGeom>
              <a:avLst/>
              <a:gdLst/>
              <a:ahLst/>
              <a:cxnLst/>
              <a:rect l="l" t="t" r="r" b="b"/>
              <a:pathLst>
                <a:path w="339" h="535">
                  <a:moveTo>
                    <a:pt x="84" y="19"/>
                  </a:moveTo>
                  <a:cubicBezTo>
                    <a:pt x="84" y="19"/>
                    <a:pt x="144" y="0"/>
                    <a:pt x="203" y="34"/>
                  </a:cubicBezTo>
                  <a:cubicBezTo>
                    <a:pt x="263" y="69"/>
                    <a:pt x="300" y="101"/>
                    <a:pt x="320" y="143"/>
                  </a:cubicBezTo>
                  <a:cubicBezTo>
                    <a:pt x="339" y="185"/>
                    <a:pt x="334" y="302"/>
                    <a:pt x="292" y="364"/>
                  </a:cubicBezTo>
                  <a:cubicBezTo>
                    <a:pt x="250" y="426"/>
                    <a:pt x="151" y="535"/>
                    <a:pt x="119" y="532"/>
                  </a:cubicBezTo>
                  <a:cubicBezTo>
                    <a:pt x="87" y="530"/>
                    <a:pt x="5" y="455"/>
                    <a:pt x="2" y="436"/>
                  </a:cubicBezTo>
                  <a:cubicBezTo>
                    <a:pt x="0" y="416"/>
                    <a:pt x="84" y="19"/>
                    <a:pt x="84" y="19"/>
                  </a:cubicBezTo>
                  <a:close/>
                </a:path>
              </a:pathLst>
            </a:custGeom>
            <a:solidFill>
              <a:srgbClr val="7EACF8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5" name="AutoShape 25"/>
            <p:cNvSpPr/>
            <p:nvPr/>
          </p:nvSpPr>
          <p:spPr>
            <a:xfrm>
              <a:off x="9585326" y="2287588"/>
              <a:ext cx="290513" cy="677863"/>
            </a:xfrm>
            <a:custGeom>
              <a:avLst/>
              <a:gdLst/>
              <a:ahLst/>
              <a:cxnLst/>
              <a:rect l="l" t="t" r="r" b="b"/>
              <a:pathLst>
                <a:path w="183" h="427">
                  <a:moveTo>
                    <a:pt x="183" y="276"/>
                  </a:moveTo>
                  <a:cubicBezTo>
                    <a:pt x="183" y="259"/>
                    <a:pt x="141" y="268"/>
                    <a:pt x="141" y="268"/>
                  </a:cubicBezTo>
                  <a:cubicBezTo>
                    <a:pt x="141" y="268"/>
                    <a:pt x="143" y="101"/>
                    <a:pt x="132" y="37"/>
                  </a:cubicBezTo>
                  <a:cubicBezTo>
                    <a:pt x="121" y="29"/>
                    <a:pt x="108" y="21"/>
                    <a:pt x="94" y="13"/>
                  </a:cubicBezTo>
                  <a:cubicBezTo>
                    <a:pt x="84" y="8"/>
                    <a:pt x="75" y="3"/>
                    <a:pt x="65" y="0"/>
                  </a:cubicBezTo>
                  <a:cubicBezTo>
                    <a:pt x="65" y="1"/>
                    <a:pt x="64" y="1"/>
                    <a:pt x="64" y="1"/>
                  </a:cubicBezTo>
                  <a:cubicBezTo>
                    <a:pt x="64" y="1"/>
                    <a:pt x="109" y="209"/>
                    <a:pt x="87" y="256"/>
                  </a:cubicBezTo>
                  <a:cubicBezTo>
                    <a:pt x="45" y="256"/>
                    <a:pt x="45" y="256"/>
                    <a:pt x="45" y="256"/>
                  </a:cubicBezTo>
                  <a:cubicBezTo>
                    <a:pt x="45" y="256"/>
                    <a:pt x="30" y="355"/>
                    <a:pt x="0" y="373"/>
                  </a:cubicBezTo>
                  <a:cubicBezTo>
                    <a:pt x="0" y="373"/>
                    <a:pt x="64" y="425"/>
                    <a:pt x="104" y="427"/>
                  </a:cubicBezTo>
                  <a:cubicBezTo>
                    <a:pt x="111" y="427"/>
                    <a:pt x="118" y="423"/>
                    <a:pt x="125" y="416"/>
                  </a:cubicBezTo>
                  <a:cubicBezTo>
                    <a:pt x="127" y="414"/>
                    <a:pt x="129" y="412"/>
                    <a:pt x="131" y="410"/>
                  </a:cubicBezTo>
                  <a:cubicBezTo>
                    <a:pt x="160" y="373"/>
                    <a:pt x="183" y="289"/>
                    <a:pt x="183" y="276"/>
                  </a:cubicBezTo>
                  <a:close/>
                </a:path>
              </a:pathLst>
            </a:custGeom>
            <a:solidFill>
              <a:srgbClr val="7EACF8">
                <a:alpha val="100000"/>
                <a:lumMod val="60000"/>
                <a:lumOff val="40000"/>
              </a:srgbClr>
            </a:solidFill>
            <a:ln>
              <a:headEnd type="none"/>
              <a:tailEnd type="none"/>
            </a:ln>
          </p:spPr>
        </p:sp>
        <p:sp>
          <p:nvSpPr>
            <p:cNvPr id="26" name="AutoShape 26"/>
            <p:cNvSpPr/>
            <p:nvPr/>
          </p:nvSpPr>
          <p:spPr>
            <a:xfrm>
              <a:off x="9417051" y="2800350"/>
              <a:ext cx="358775" cy="298450"/>
            </a:xfrm>
            <a:custGeom>
              <a:avLst/>
              <a:gdLst/>
              <a:ahLst/>
              <a:cxnLst/>
              <a:rect l="l" t="t" r="r" b="b"/>
              <a:pathLst>
                <a:path w="226" h="188">
                  <a:moveTo>
                    <a:pt x="227" y="100"/>
                  </a:moveTo>
                  <a:cubicBezTo>
                    <a:pt x="161" y="82"/>
                    <a:pt x="42" y="15"/>
                    <a:pt x="16" y="0"/>
                  </a:cubicBezTo>
                  <a:cubicBezTo>
                    <a:pt x="6" y="50"/>
                    <a:pt x="0" y="86"/>
                    <a:pt x="0" y="92"/>
                  </a:cubicBezTo>
                  <a:cubicBezTo>
                    <a:pt x="3" y="110"/>
                    <a:pt x="72" y="174"/>
                    <a:pt x="108" y="186"/>
                  </a:cubicBezTo>
                  <a:cubicBezTo>
                    <a:pt x="117" y="188"/>
                    <a:pt x="117" y="188"/>
                    <a:pt x="117" y="188"/>
                  </a:cubicBezTo>
                  <a:cubicBezTo>
                    <a:pt x="128" y="186"/>
                    <a:pt x="128" y="186"/>
                    <a:pt x="128" y="186"/>
                  </a:cubicBezTo>
                  <a:cubicBezTo>
                    <a:pt x="151" y="177"/>
                    <a:pt x="190" y="140"/>
                    <a:pt x="227" y="100"/>
                  </a:cubicBezTo>
                  <a:close/>
                </a:path>
              </a:pathLst>
            </a:custGeom>
            <a:solidFill>
              <a:srgbClr val="5F96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7" name="AutoShape 27"/>
            <p:cNvSpPr/>
            <p:nvPr/>
          </p:nvSpPr>
          <p:spPr>
            <a:xfrm>
              <a:off x="9159876" y="1381125"/>
              <a:ext cx="325438" cy="425450"/>
            </a:xfrm>
            <a:custGeom>
              <a:avLst/>
              <a:gdLst/>
              <a:ahLst/>
              <a:cxnLst/>
              <a:rect l="l" t="t" r="r" b="b"/>
              <a:pathLst>
                <a:path w="205" h="268">
                  <a:moveTo>
                    <a:pt x="97" y="13"/>
                  </a:moveTo>
                  <a:cubicBezTo>
                    <a:pt x="97" y="13"/>
                    <a:pt x="36" y="71"/>
                    <a:pt x="19" y="121"/>
                  </a:cubicBezTo>
                  <a:cubicBezTo>
                    <a:pt x="1" y="171"/>
                    <a:pt x="0" y="248"/>
                    <a:pt x="14" y="258"/>
                  </a:cubicBezTo>
                  <a:cubicBezTo>
                    <a:pt x="29" y="268"/>
                    <a:pt x="125" y="268"/>
                    <a:pt x="145" y="260"/>
                  </a:cubicBezTo>
                  <a:cubicBezTo>
                    <a:pt x="145" y="260"/>
                    <a:pt x="159" y="163"/>
                    <a:pt x="182" y="152"/>
                  </a:cubicBezTo>
                  <a:cubicBezTo>
                    <a:pt x="205" y="140"/>
                    <a:pt x="205" y="66"/>
                    <a:pt x="183" y="47"/>
                  </a:cubicBezTo>
                  <a:cubicBezTo>
                    <a:pt x="161" y="28"/>
                    <a:pt x="126" y="0"/>
                    <a:pt x="97" y="13"/>
                  </a:cubicBezTo>
                  <a:close/>
                </a:path>
              </a:pathLst>
            </a:custGeom>
            <a:solidFill>
              <a:srgbClr val="F9B5AA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8" name="AutoShape 28"/>
            <p:cNvSpPr/>
            <p:nvPr/>
          </p:nvSpPr>
          <p:spPr>
            <a:xfrm>
              <a:off x="8702676" y="1433513"/>
              <a:ext cx="374650" cy="449263"/>
            </a:xfrm>
            <a:custGeom>
              <a:avLst/>
              <a:gdLst/>
              <a:ahLst/>
              <a:cxnLst/>
              <a:rect l="l" t="t" r="r" b="b"/>
              <a:pathLst>
                <a:path w="236" h="283">
                  <a:moveTo>
                    <a:pt x="47" y="97"/>
                  </a:moveTo>
                  <a:cubicBezTo>
                    <a:pt x="47" y="97"/>
                    <a:pt x="59" y="147"/>
                    <a:pt x="38" y="172"/>
                  </a:cubicBezTo>
                  <a:cubicBezTo>
                    <a:pt x="18" y="197"/>
                    <a:pt x="0" y="215"/>
                    <a:pt x="0" y="215"/>
                  </a:cubicBezTo>
                  <a:cubicBezTo>
                    <a:pt x="31" y="283"/>
                    <a:pt x="31" y="283"/>
                    <a:pt x="31" y="283"/>
                  </a:cubicBezTo>
                  <a:cubicBezTo>
                    <a:pt x="118" y="256"/>
                    <a:pt x="118" y="256"/>
                    <a:pt x="118" y="256"/>
                  </a:cubicBezTo>
                  <a:cubicBezTo>
                    <a:pt x="118" y="256"/>
                    <a:pt x="190" y="104"/>
                    <a:pt x="213" y="52"/>
                  </a:cubicBezTo>
                  <a:cubicBezTo>
                    <a:pt x="236" y="0"/>
                    <a:pt x="47" y="97"/>
                    <a:pt x="47" y="97"/>
                  </a:cubicBezTo>
                  <a:close/>
                </a:path>
              </a:pathLst>
            </a:custGeom>
            <a:solidFill>
              <a:srgbClr val="EC9387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9" name="AutoShape 29"/>
            <p:cNvSpPr/>
            <p:nvPr/>
          </p:nvSpPr>
          <p:spPr>
            <a:xfrm>
              <a:off x="8763001" y="1004888"/>
              <a:ext cx="447675" cy="508000"/>
            </a:xfrm>
            <a:custGeom>
              <a:avLst/>
              <a:gdLst/>
              <a:ahLst/>
              <a:cxnLst/>
              <a:rect l="l" t="t" r="r" b="b"/>
              <a:pathLst>
                <a:path w="282" h="320">
                  <a:moveTo>
                    <a:pt x="59" y="0"/>
                  </a:moveTo>
                  <a:cubicBezTo>
                    <a:pt x="59" y="0"/>
                    <a:pt x="0" y="18"/>
                    <a:pt x="0" y="68"/>
                  </a:cubicBezTo>
                  <a:cubicBezTo>
                    <a:pt x="0" y="118"/>
                    <a:pt x="52" y="138"/>
                    <a:pt x="80" y="143"/>
                  </a:cubicBezTo>
                  <a:cubicBezTo>
                    <a:pt x="107" y="147"/>
                    <a:pt x="180" y="152"/>
                    <a:pt x="180" y="179"/>
                  </a:cubicBezTo>
                  <a:cubicBezTo>
                    <a:pt x="180" y="206"/>
                    <a:pt x="175" y="231"/>
                    <a:pt x="168" y="233"/>
                  </a:cubicBezTo>
                  <a:cubicBezTo>
                    <a:pt x="161" y="236"/>
                    <a:pt x="184" y="281"/>
                    <a:pt x="168" y="297"/>
                  </a:cubicBezTo>
                  <a:cubicBezTo>
                    <a:pt x="168" y="297"/>
                    <a:pt x="214" y="302"/>
                    <a:pt x="209" y="317"/>
                  </a:cubicBezTo>
                  <a:cubicBezTo>
                    <a:pt x="209" y="317"/>
                    <a:pt x="254" y="320"/>
                    <a:pt x="268" y="243"/>
                  </a:cubicBezTo>
                  <a:cubicBezTo>
                    <a:pt x="282" y="165"/>
                    <a:pt x="275" y="106"/>
                    <a:pt x="225" y="97"/>
                  </a:cubicBezTo>
                  <a:cubicBezTo>
                    <a:pt x="175" y="88"/>
                    <a:pt x="64" y="61"/>
                    <a:pt x="59" y="0"/>
                  </a:cubicBezTo>
                  <a:close/>
                </a:path>
              </a:pathLst>
            </a:custGeom>
            <a:solidFill>
              <a:srgbClr val="251E25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0" name="AutoShape 30"/>
            <p:cNvSpPr/>
            <p:nvPr/>
          </p:nvSpPr>
          <p:spPr>
            <a:xfrm>
              <a:off x="8662988" y="1177925"/>
              <a:ext cx="431800" cy="482600"/>
            </a:xfrm>
            <a:custGeom>
              <a:avLst/>
              <a:gdLst/>
              <a:ahLst/>
              <a:cxnLst/>
              <a:rect l="l" t="t" r="r" b="b"/>
              <a:pathLst>
                <a:path w="272" h="304">
                  <a:moveTo>
                    <a:pt x="118" y="0"/>
                  </a:moveTo>
                  <a:cubicBezTo>
                    <a:pt x="118" y="0"/>
                    <a:pt x="54" y="63"/>
                    <a:pt x="36" y="138"/>
                  </a:cubicBezTo>
                  <a:cubicBezTo>
                    <a:pt x="18" y="213"/>
                    <a:pt x="0" y="272"/>
                    <a:pt x="38" y="288"/>
                  </a:cubicBezTo>
                  <a:cubicBezTo>
                    <a:pt x="77" y="304"/>
                    <a:pt x="172" y="263"/>
                    <a:pt x="197" y="254"/>
                  </a:cubicBezTo>
                  <a:cubicBezTo>
                    <a:pt x="222" y="245"/>
                    <a:pt x="272" y="208"/>
                    <a:pt x="272" y="208"/>
                  </a:cubicBezTo>
                  <a:cubicBezTo>
                    <a:pt x="256" y="27"/>
                    <a:pt x="256" y="27"/>
                    <a:pt x="256" y="27"/>
                  </a:cubicBezTo>
                  <a:lnTo>
                    <a:pt x="118" y="0"/>
                  </a:lnTo>
                  <a:close/>
                </a:path>
              </a:pathLst>
            </a:custGeom>
            <a:solidFill>
              <a:srgbClr val="F9B5AA">
                <a:alpha val="100000"/>
              </a:srgbClr>
            </a:solidFill>
            <a:ln>
              <a:headEnd type="none"/>
              <a:tailEnd type="none"/>
            </a:ln>
          </p:spPr>
        </p:sp>
        <p:pic>
          <p:nvPicPr>
            <p:cNvPr id="31" name="Picture 31"/>
            <p:cNvPicPr>
              <a:picLocks noChangeAspect="1"/>
            </p:cNvPicPr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099176" y="3252788"/>
              <a:ext cx="195263" cy="985838"/>
            </a:xfrm>
            <a:prstGeom prst="rect">
              <a:avLst/>
            </a:prstGeom>
            <a:ln>
              <a:headEnd type="none"/>
              <a:tailEnd type="none"/>
            </a:ln>
          </p:spPr>
        </p:pic>
        <p:pic>
          <p:nvPicPr>
            <p:cNvPr id="32" name="Picture 32"/>
            <p:cNvPicPr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283326" y="3252788"/>
              <a:ext cx="476250" cy="985838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33" name="AutoShape 33"/>
            <p:cNvSpPr/>
            <p:nvPr/>
          </p:nvSpPr>
          <p:spPr>
            <a:xfrm>
              <a:off x="6351588" y="3338513"/>
              <a:ext cx="323850" cy="7937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4" name="AutoShape 34"/>
            <p:cNvSpPr/>
            <p:nvPr/>
          </p:nvSpPr>
          <p:spPr>
            <a:xfrm>
              <a:off x="6353176" y="3476625"/>
              <a:ext cx="323850" cy="1111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5" name="AutoShape 35"/>
            <p:cNvSpPr/>
            <p:nvPr/>
          </p:nvSpPr>
          <p:spPr>
            <a:xfrm>
              <a:off x="6353176" y="3529013"/>
              <a:ext cx="323850" cy="127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6" name="AutoShape 36"/>
            <p:cNvSpPr/>
            <p:nvPr/>
          </p:nvSpPr>
          <p:spPr>
            <a:xfrm>
              <a:off x="6353176" y="3582988"/>
              <a:ext cx="323850" cy="1111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7" name="AutoShape 37"/>
            <p:cNvSpPr/>
            <p:nvPr/>
          </p:nvSpPr>
          <p:spPr>
            <a:xfrm>
              <a:off x="6353176" y="3635375"/>
              <a:ext cx="323850" cy="127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8" name="AutoShape 38"/>
            <p:cNvSpPr/>
            <p:nvPr/>
          </p:nvSpPr>
          <p:spPr>
            <a:xfrm>
              <a:off x="6353176" y="3689350"/>
              <a:ext cx="323850" cy="1111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pic>
          <p:nvPicPr>
            <p:cNvPr id="39" name="Picture 39"/>
            <p:cNvPicPr>
              <a:picLocks noChangeAspect="1"/>
            </p:cNvPicPr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548563" y="2855913"/>
              <a:ext cx="381000" cy="823913"/>
            </a:xfrm>
            <a:prstGeom prst="rect">
              <a:avLst/>
            </a:prstGeom>
            <a:ln>
              <a:headEnd type="none"/>
              <a:tailEnd type="none"/>
            </a:ln>
          </p:spPr>
        </p:pic>
        <p:pic>
          <p:nvPicPr>
            <p:cNvPr id="40" name="Picture 40"/>
            <p:cNvPicPr>
              <a:picLocks noChangeAspect="1"/>
            </p:cNvPicPr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958013" y="2679700"/>
              <a:ext cx="195263" cy="985838"/>
            </a:xfrm>
            <a:prstGeom prst="rect">
              <a:avLst/>
            </a:prstGeom>
            <a:ln>
              <a:headEnd type="none"/>
              <a:tailEnd type="none"/>
            </a:ln>
          </p:spPr>
        </p:pic>
        <p:pic>
          <p:nvPicPr>
            <p:cNvPr id="41" name="Picture 41"/>
            <p:cNvPicPr>
              <a:picLocks noChangeAspect="1"/>
            </p:cNvPicPr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142163" y="2679700"/>
              <a:ext cx="476250" cy="985838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42" name="AutoShape 42"/>
            <p:cNvSpPr/>
            <p:nvPr/>
          </p:nvSpPr>
          <p:spPr>
            <a:xfrm>
              <a:off x="7210426" y="2765425"/>
              <a:ext cx="323850" cy="7937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3" name="AutoShape 43"/>
            <p:cNvSpPr/>
            <p:nvPr/>
          </p:nvSpPr>
          <p:spPr>
            <a:xfrm>
              <a:off x="7212013" y="2901950"/>
              <a:ext cx="323850" cy="127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4" name="AutoShape 44"/>
            <p:cNvSpPr/>
            <p:nvPr/>
          </p:nvSpPr>
          <p:spPr>
            <a:xfrm>
              <a:off x="7212013" y="2955925"/>
              <a:ext cx="323850" cy="127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5" name="AutoShape 45"/>
            <p:cNvSpPr/>
            <p:nvPr/>
          </p:nvSpPr>
          <p:spPr>
            <a:xfrm>
              <a:off x="7212013" y="3009900"/>
              <a:ext cx="323850" cy="1111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6" name="AutoShape 46"/>
            <p:cNvSpPr/>
            <p:nvPr/>
          </p:nvSpPr>
          <p:spPr>
            <a:xfrm>
              <a:off x="7212013" y="3062288"/>
              <a:ext cx="323850" cy="127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7" name="AutoShape 47"/>
            <p:cNvSpPr/>
            <p:nvPr/>
          </p:nvSpPr>
          <p:spPr>
            <a:xfrm>
              <a:off x="7212013" y="3116263"/>
              <a:ext cx="323850" cy="1111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pic>
          <p:nvPicPr>
            <p:cNvPr id="48" name="Picture 48"/>
            <p:cNvPicPr>
              <a:picLocks noChangeAspect="1"/>
            </p:cNvPicPr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0285413" y="1946275"/>
              <a:ext cx="176213" cy="2062163"/>
            </a:xfrm>
            <a:prstGeom prst="rect">
              <a:avLst/>
            </a:prstGeom>
            <a:ln>
              <a:headEnd type="none"/>
              <a:tailEnd type="none"/>
            </a:ln>
          </p:spPr>
        </p:pic>
        <p:pic>
          <p:nvPicPr>
            <p:cNvPr id="49" name="Picture 49"/>
            <p:cNvPicPr>
              <a:picLocks noChangeAspect="1"/>
            </p:cNvPicPr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9958388" y="3232150"/>
              <a:ext cx="342900" cy="776288"/>
            </a:xfrm>
            <a:prstGeom prst="rect">
              <a:avLst/>
            </a:prstGeom>
            <a:ln>
              <a:headEnd type="none"/>
              <a:tailEnd type="none"/>
            </a:ln>
          </p:spPr>
        </p:pic>
        <p:pic>
          <p:nvPicPr>
            <p:cNvPr id="50" name="Picture 50"/>
            <p:cNvPicPr>
              <a:picLocks noChangeAspect="1"/>
            </p:cNvPicPr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9418638" y="3263900"/>
              <a:ext cx="341313" cy="776288"/>
            </a:xfrm>
            <a:prstGeom prst="rect">
              <a:avLst/>
            </a:prstGeom>
            <a:ln>
              <a:headEnd type="none"/>
              <a:tailEnd type="none"/>
            </a:ln>
          </p:spPr>
        </p:pic>
        <p:pic>
          <p:nvPicPr>
            <p:cNvPr id="51" name="Picture 51"/>
            <p:cNvPicPr>
              <a:picLocks noChangeAspect="1"/>
            </p:cNvPicPr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10448926" y="1946275"/>
              <a:ext cx="428625" cy="2062163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2" name="AutoShape 52"/>
            <p:cNvSpPr/>
            <p:nvPr/>
          </p:nvSpPr>
          <p:spPr>
            <a:xfrm>
              <a:off x="10510838" y="2030413"/>
              <a:ext cx="290513" cy="7937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3" name="AutoShape 53"/>
            <p:cNvSpPr/>
            <p:nvPr/>
          </p:nvSpPr>
          <p:spPr>
            <a:xfrm>
              <a:off x="10512426" y="2168525"/>
              <a:ext cx="288925" cy="1111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4" name="AutoShape 54"/>
            <p:cNvSpPr/>
            <p:nvPr/>
          </p:nvSpPr>
          <p:spPr>
            <a:xfrm>
              <a:off x="10512426" y="2222500"/>
              <a:ext cx="288925" cy="1111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5" name="AutoShape 55"/>
            <p:cNvSpPr/>
            <p:nvPr/>
          </p:nvSpPr>
          <p:spPr>
            <a:xfrm>
              <a:off x="10512426" y="2274888"/>
              <a:ext cx="288925" cy="127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6" name="AutoShape 56"/>
            <p:cNvSpPr/>
            <p:nvPr/>
          </p:nvSpPr>
          <p:spPr>
            <a:xfrm>
              <a:off x="10512426" y="2328863"/>
              <a:ext cx="288925" cy="1111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7" name="AutoShape 57"/>
            <p:cNvSpPr/>
            <p:nvPr/>
          </p:nvSpPr>
          <p:spPr>
            <a:xfrm>
              <a:off x="10512426" y="2381250"/>
              <a:ext cx="288925" cy="127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pic>
          <p:nvPicPr>
            <p:cNvPr id="58" name="Picture 58"/>
            <p:cNvPicPr>
              <a:picLocks noChangeAspect="1"/>
            </p:cNvPicPr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10869613" y="3005138"/>
              <a:ext cx="600075" cy="103822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59" name="AutoShape 59"/>
            <p:cNvSpPr/>
            <p:nvPr/>
          </p:nvSpPr>
          <p:spPr>
            <a:xfrm>
              <a:off x="10953751" y="3090863"/>
              <a:ext cx="409575" cy="7937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0" name="AutoShape 60"/>
            <p:cNvSpPr/>
            <p:nvPr/>
          </p:nvSpPr>
          <p:spPr>
            <a:xfrm>
              <a:off x="10955338" y="3228975"/>
              <a:ext cx="409575" cy="1111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1" name="AutoShape 61"/>
            <p:cNvSpPr/>
            <p:nvPr/>
          </p:nvSpPr>
          <p:spPr>
            <a:xfrm>
              <a:off x="10955338" y="3281363"/>
              <a:ext cx="409575" cy="127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2" name="AutoShape 62"/>
            <p:cNvSpPr/>
            <p:nvPr/>
          </p:nvSpPr>
          <p:spPr>
            <a:xfrm>
              <a:off x="10955338" y="3335338"/>
              <a:ext cx="409575" cy="1111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3" name="AutoShape 63"/>
            <p:cNvSpPr/>
            <p:nvPr/>
          </p:nvSpPr>
          <p:spPr>
            <a:xfrm>
              <a:off x="10955338" y="3387725"/>
              <a:ext cx="409575" cy="127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4" name="AutoShape 64"/>
            <p:cNvSpPr/>
            <p:nvPr/>
          </p:nvSpPr>
          <p:spPr>
            <a:xfrm>
              <a:off x="10955338" y="3441700"/>
              <a:ext cx="409575" cy="1111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/ppt/slideMasters/slideMaster1.xm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27086" y="1130300"/>
            <a:ext cx="4905377" cy="221711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4800" b="1" i="0">
                <a:ln/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Sapphire Mall项目介绍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827086" y="3347418"/>
            <a:ext cx="4905377" cy="18288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2400" b="0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去中心化社区自驱动的虚拟商品交易平台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865185" y="5394948"/>
            <a:ext cx="4905377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1400" b="0" i="0" strike="noStrike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Sapphire Mall 品牌宣传部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7700" y="6413500"/>
            <a:ext cx="1193800" cy="25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58711dc8-ab7a-42ad-a123-22cb053a2bb0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000000">
                    <a:alpha val="100000"/>
                    <a:tint val="75000"/>
                  </a:srgbClr>
                </a:solidFill>
                <a:latin typeface="Arial"/>
                <a:ea typeface="Arial"/>
                <a:cs typeface="Arial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-17980" y="-28254"/>
            <a:ext cx="12192000" cy="6858000"/>
            <a:chOff x="-17980" y="-28254"/>
            <a:chExt cx="12192000" cy="6858000"/>
          </a:xfrm>
        </p:grpSpPr>
        <p:sp>
          <p:nvSpPr>
            <p:cNvPr id="4" name="AutoShape 4"/>
            <p:cNvSpPr/>
            <p:nvPr/>
          </p:nvSpPr>
          <p:spPr>
            <a:xfrm>
              <a:off x="-17980" y="-28254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blipFill rotWithShape="1">
              <a:blip r:embed="rId2">
                <a:alphaModFix/>
                <a:alphaModFix/>
              </a:blip>
              <a:stretch>
                <a:fillRect/>
              </a:stretch>
            </a:blipFill>
            <a:ln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1056588" y="1130300"/>
              <a:ext cx="10066124" cy="759459"/>
            </a:xfrm>
            <a:prstGeom prst="rect">
              <a:avLst/>
            </a:prstGeom>
            <a:ln>
              <a:headEnd type="none"/>
              <a:tailEnd type="none"/>
            </a:ln>
          </p:spPr>
        </p:sp>
        <p:grpSp>
          <p:nvGrpSpPr>
            <p:cNvPr id="6" name="Group 6"/>
            <p:cNvGrpSpPr/>
            <p:nvPr/>
          </p:nvGrpSpPr>
          <p:grpSpPr>
            <a:xfrm>
              <a:off x="660400" y="2322605"/>
              <a:ext cx="2609539" cy="905799"/>
              <a:chOff x="660400" y="2322605"/>
              <a:chExt cx="2609539" cy="905799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1269081" y="2322605"/>
                <a:ext cx="2000858" cy="90579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18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平台简介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660400" y="2322605"/>
                <a:ext cx="608679" cy="87565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24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01.</a:t>
                </a:r>
                <a:endParaRPr lang="en-US" sz="110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3410054" y="2296810"/>
              <a:ext cx="2609538" cy="905799"/>
              <a:chOff x="3410054" y="2296810"/>
              <a:chExt cx="2609538" cy="905799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4018733" y="2296810"/>
                <a:ext cx="2000859" cy="90579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18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传统电商痛点</a:t>
                </a:r>
                <a:endParaRPr lang="en-US" sz="110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3410054" y="2296811"/>
                <a:ext cx="608679" cy="87565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24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02.</a:t>
                </a:r>
                <a:endParaRPr lang="en-US" sz="1100"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6159708" y="2296810"/>
              <a:ext cx="2609538" cy="905799"/>
              <a:chOff x="6159708" y="2296810"/>
              <a:chExt cx="2609538" cy="905799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6768387" y="2296810"/>
                <a:ext cx="2000859" cy="90579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18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去中心化优势</a:t>
                </a:r>
                <a:endParaRPr lang="en-US" sz="110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6159708" y="2296811"/>
                <a:ext cx="608679" cy="87565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24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03.</a:t>
                </a:r>
                <a:endParaRPr lang="en-US" sz="1100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8909362" y="2296810"/>
              <a:ext cx="2609538" cy="905799"/>
              <a:chOff x="8909362" y="2296810"/>
              <a:chExt cx="2609538" cy="905799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9518041" y="2296810"/>
                <a:ext cx="2000859" cy="90579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18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角色与收益模型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8909362" y="2296811"/>
                <a:ext cx="608679" cy="87565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24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04.</a:t>
                </a:r>
                <a:endParaRPr lang="en-US" sz="1100"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4784881" y="3587328"/>
              <a:ext cx="2609538" cy="905799"/>
              <a:chOff x="4784881" y="3587328"/>
              <a:chExt cx="2609538" cy="905799"/>
            </a:xfrm>
          </p:grpSpPr>
          <p:sp>
            <p:nvSpPr>
              <p:cNvPr id="22" name="TextBox 22"/>
              <p:cNvSpPr txBox="1"/>
              <p:nvPr/>
            </p:nvSpPr>
            <p:spPr>
              <a:xfrm>
                <a:off x="5393560" y="3587328"/>
                <a:ext cx="2000859" cy="90579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1800" b="0" i="0" dirty="0" err="1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现有功能与入口</a:t>
                </a:r>
                <a:endParaRPr lang="en-US" sz="1100" dirty="0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4784881" y="3587329"/>
                <a:ext cx="608679" cy="87565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2400" b="1" i="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05.</a:t>
                </a:r>
                <a:endParaRPr lang="en-US" sz="1100" dirty="0"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7534535" y="3587328"/>
              <a:ext cx="2609538" cy="905799"/>
              <a:chOff x="7534535" y="3587328"/>
              <a:chExt cx="2609538" cy="905799"/>
            </a:xfrm>
          </p:grpSpPr>
          <p:sp>
            <p:nvSpPr>
              <p:cNvPr id="25" name="TextBox 25"/>
              <p:cNvSpPr txBox="1"/>
              <p:nvPr/>
            </p:nvSpPr>
            <p:spPr>
              <a:xfrm>
                <a:off x="8143214" y="3587328"/>
                <a:ext cx="2000859" cy="90579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18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未来发展规划</a:t>
                </a:r>
                <a:endParaRPr lang="en-US" sz="1100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534535" y="3587329"/>
                <a:ext cx="608679" cy="87565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2400" b="1" i="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06.</a:t>
                </a:r>
                <a:endParaRPr lang="en-US" sz="1100" dirty="0"/>
              </a:p>
            </p:txBody>
          </p:sp>
        </p:grpSp>
      </p:grpSp>
      <p:sp>
        <p:nvSpPr>
          <p:cNvPr id="27" name="TextBox 27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目录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317998" y="1130300"/>
            <a:ext cx="7200901" cy="1398993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6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平台简介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4343398" y="2707093"/>
            <a:ext cx="7200901" cy="3604807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altLang="zh-CN" sz="1400" b="0" i="0" strike="noStrike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Sapphire Mall </a:t>
            </a:r>
            <a:r>
              <a:rPr lang="zh-CN" altLang="en-US" sz="1400" b="0" i="0" strike="noStrike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是一个基于区块链的去中心化虚拟商品交易平台，以社区 </a:t>
            </a:r>
            <a:r>
              <a:rPr lang="en-US" altLang="zh-CN" sz="1400" b="0" i="0" strike="noStrike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DAO </a:t>
            </a:r>
            <a:r>
              <a:rPr lang="zh-CN" altLang="en-US" sz="1400" b="0" i="0" strike="noStrike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治理为核心，采用 </a:t>
            </a:r>
            <a:r>
              <a:rPr lang="en-US" altLang="zh-CN" sz="1400" b="0" i="0" strike="noStrike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ERC-20 </a:t>
            </a:r>
            <a:r>
              <a:rPr lang="zh-CN" altLang="en-US" sz="1400" b="0" i="0" strike="noStrike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代币 </a:t>
            </a:r>
            <a:r>
              <a:rPr lang="en-US" altLang="zh-CN" sz="1400" b="0" i="0" strike="noStrike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SAP </a:t>
            </a:r>
            <a:r>
              <a:rPr lang="zh-CN" altLang="en-US" sz="1400" b="0" i="0" strike="noStrike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作为生态通证。支付体系的核心优势：</a:t>
            </a:r>
            <a:endParaRPr lang="en-US" altLang="zh-CN" sz="1400" b="0" i="0" strike="noStrike" dirty="0">
              <a:solidFill>
                <a:srgbClr val="000000">
                  <a:alpha val="100000"/>
                </a:srgbClr>
              </a:solidFill>
              <a:latin typeface="微软雅黑"/>
              <a:ea typeface="微软雅黑"/>
              <a:cs typeface="微软雅黑"/>
            </a:endParaRPr>
          </a:p>
          <a:p>
            <a:pPr marL="342900" indent="-342900" algn="l">
              <a:lnSpc>
                <a:spcPct val="120000"/>
              </a:lnSpc>
              <a:spcBef>
                <a:spcPts val="1000"/>
              </a:spcBef>
              <a:buAutoNum type="arabicPeriod"/>
              <a:defRPr/>
            </a:pPr>
            <a:r>
              <a:rPr lang="zh-CN" altLang="en-US" sz="1400" b="0" i="0" strike="noStrike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稳定币直付 </a:t>
            </a:r>
            <a:r>
              <a:rPr lang="en-US" altLang="zh-CN" sz="1400" b="0" i="0" strike="noStrike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— </a:t>
            </a:r>
            <a:r>
              <a:rPr lang="zh-CN" altLang="en-US" sz="1400" b="0" i="0" strike="noStrike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集成 </a:t>
            </a:r>
            <a:r>
              <a:rPr lang="en-US" altLang="zh-CN" sz="1400" b="0" i="0" strike="noStrike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Arc </a:t>
            </a:r>
            <a:r>
              <a:rPr lang="en-US" altLang="zh-CN" sz="1400" b="0" i="0" strike="noStrike" dirty="0" err="1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Testnet</a:t>
            </a:r>
            <a:r>
              <a:rPr lang="zh-CN" altLang="en-US" sz="1400" b="0" i="0" strike="noStrike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，支持 </a:t>
            </a:r>
            <a:r>
              <a:rPr lang="en-US" altLang="zh-CN" sz="1400" b="0" i="0" strike="noStrike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USDC</a:t>
            </a:r>
            <a:r>
              <a:rPr lang="zh-CN" altLang="en-US" sz="1400" b="0" i="0" strike="noStrike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lang="en-US" altLang="zh-CN" sz="1400" b="0" i="0" strike="noStrike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EURC</a:t>
            </a:r>
            <a:r>
              <a:rPr lang="zh-CN" altLang="en-US" sz="1400" b="0" i="0" strike="noStrike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lang="en-US" altLang="zh-CN" sz="1400" b="0" i="0" strike="noStrike" dirty="0" err="1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cirBTC</a:t>
            </a:r>
            <a:r>
              <a:rPr lang="en-US" altLang="zh-CN" sz="1400" b="0" i="0" strike="noStrike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lang="zh-CN" altLang="en-US" sz="1400" b="0" i="0" strike="noStrike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等稳定币直接支付，商品以 </a:t>
            </a:r>
            <a:r>
              <a:rPr lang="en-US" altLang="zh-CN" sz="1400" b="0" i="0" strike="noStrike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USDC </a:t>
            </a:r>
            <a:r>
              <a:rPr lang="zh-CN" altLang="en-US" sz="1400" b="0" i="0" strike="noStrike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统一计价，链上实时换算，近秒级确认、低 </a:t>
            </a:r>
            <a:r>
              <a:rPr lang="en-US" altLang="zh-CN" sz="1400" b="0" i="0" strike="noStrike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Gas</a:t>
            </a:r>
            <a:r>
              <a:rPr lang="zh-CN" altLang="en-US" sz="1400" b="0" i="0" strike="noStrike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，单链完成全流程。</a:t>
            </a:r>
            <a:endParaRPr lang="en-US" altLang="zh-CN" sz="1400" b="0" i="0" strike="noStrike" dirty="0">
              <a:solidFill>
                <a:srgbClr val="000000">
                  <a:alpha val="100000"/>
                </a:srgbClr>
              </a:solidFill>
              <a:latin typeface="微软雅黑"/>
              <a:ea typeface="微软雅黑"/>
              <a:cs typeface="微软雅黑"/>
            </a:endParaRPr>
          </a:p>
          <a:p>
            <a:pPr marL="342900" indent="-342900" algn="l">
              <a:lnSpc>
                <a:spcPct val="120000"/>
              </a:lnSpc>
              <a:spcBef>
                <a:spcPts val="1000"/>
              </a:spcBef>
              <a:buAutoNum type="arabicPeriod"/>
              <a:defRPr/>
            </a:pPr>
            <a:r>
              <a:rPr lang="zh-CN" altLang="en-US" sz="1400" b="0" i="0" strike="noStrike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跨链免桥接 </a:t>
            </a:r>
            <a:r>
              <a:rPr lang="en-US" altLang="zh-CN" sz="1400" b="0" i="0" strike="noStrike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— </a:t>
            </a:r>
            <a:r>
              <a:rPr lang="zh-CN" altLang="en-US" sz="1400" b="0" i="0" strike="noStrike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用户可从多条链携带不同资产（美元</a:t>
            </a:r>
            <a:r>
              <a:rPr lang="en-US" altLang="zh-CN" sz="1400" b="0" i="0" strike="noStrike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/</a:t>
            </a:r>
            <a:r>
              <a:rPr lang="zh-CN" altLang="en-US" sz="1400" b="0" i="0" strike="noStrike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欧元稳定币、比特币映射资产等）直接结账，无需手动桥接。后端 </a:t>
            </a:r>
            <a:r>
              <a:rPr lang="en-US" altLang="zh-CN" sz="1400" b="0" i="0" strike="noStrike" dirty="0" err="1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PaymentRouter</a:t>
            </a:r>
            <a:r>
              <a:rPr lang="en-US" altLang="zh-CN" sz="1400" b="0" i="0" strike="noStrike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lang="zh-CN" altLang="en-US" sz="1400" b="0" i="0" strike="noStrike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与 </a:t>
            </a:r>
            <a:r>
              <a:rPr lang="en-US" altLang="zh-CN" sz="1400" b="0" i="0" strike="noStrike" dirty="0" err="1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SettlementVault</a:t>
            </a:r>
            <a:r>
              <a:rPr lang="en-US" altLang="zh-CN" sz="1400" b="0" i="0" strike="noStrike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lang="zh-CN" altLang="en-US" sz="1400" b="0" i="0" strike="noStrike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统一路由资金流，降低多资产用户的支付与对账成本。</a:t>
            </a:r>
            <a:endParaRPr lang="en-US" altLang="zh-CN" sz="1400" b="0" i="0" strike="noStrike" dirty="0">
              <a:solidFill>
                <a:srgbClr val="000000">
                  <a:alpha val="100000"/>
                </a:srgbClr>
              </a:solidFill>
              <a:latin typeface="微软雅黑"/>
              <a:ea typeface="微软雅黑"/>
              <a:cs typeface="微软雅黑"/>
            </a:endParaRPr>
          </a:p>
          <a:p>
            <a:pPr marL="342900" indent="-342900" algn="l">
              <a:lnSpc>
                <a:spcPct val="120000"/>
              </a:lnSpc>
              <a:spcBef>
                <a:spcPts val="1000"/>
              </a:spcBef>
              <a:buAutoNum type="arabicPeriod"/>
              <a:defRPr/>
            </a:pPr>
            <a:r>
              <a:rPr lang="en-US" altLang="zh-CN" sz="1400" b="0" i="0" strike="noStrike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SAP </a:t>
            </a:r>
            <a:r>
              <a:rPr lang="zh-CN" altLang="en-US" sz="1400" b="0" i="0" strike="noStrike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通证激励 </a:t>
            </a:r>
            <a:r>
              <a:rPr lang="en-US" altLang="zh-CN" sz="1400" b="0" i="0" strike="noStrike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— SAP </a:t>
            </a:r>
            <a:r>
              <a:rPr lang="zh-CN" altLang="en-US" sz="1400" b="0" i="0" strike="noStrike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作为原生支付手段，结合社区任务与治理激励，提供手续费减免，形成「交易</a:t>
            </a:r>
            <a:r>
              <a:rPr lang="en-US" altLang="zh-CN" sz="1400" b="0" i="0" strike="noStrike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—</a:t>
            </a:r>
            <a:r>
              <a:rPr lang="zh-CN" altLang="en-US" sz="1400" b="0" i="0" strike="noStrike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激励</a:t>
            </a:r>
            <a:r>
              <a:rPr lang="en-US" altLang="zh-CN" sz="1400" b="0" i="0" strike="noStrike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—</a:t>
            </a:r>
            <a:r>
              <a:rPr lang="zh-CN" altLang="en-US" sz="1400" b="0" i="0" strike="noStrike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治理」闭环。</a:t>
            </a:r>
            <a:endParaRPr lang="en-US" altLang="zh-CN" sz="1100" b="0" i="0" strike="noStrike" dirty="0">
              <a:solidFill>
                <a:srgbClr val="000000">
                  <a:alpha val="100000"/>
                </a:srgbClr>
              </a:solidFill>
              <a:latin typeface="微软雅黑"/>
              <a:ea typeface="微软雅黑"/>
              <a:cs typeface="微软雅黑"/>
            </a:endParaRPr>
          </a:p>
          <a:p>
            <a:pPr marL="342900" indent="-342900" algn="l">
              <a:lnSpc>
                <a:spcPct val="120000"/>
              </a:lnSpc>
              <a:spcBef>
                <a:spcPts val="1000"/>
              </a:spcBef>
              <a:buAutoNum type="arabicPeriod"/>
              <a:defRPr/>
            </a:pPr>
            <a:r>
              <a:rPr lang="en-US" altLang="zh-CN" sz="110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…</a:t>
            </a:r>
            <a:endParaRPr lang="en-US" altLang="zh-CN" sz="1400" b="0" i="0" strike="noStrike" dirty="0">
              <a:solidFill>
                <a:srgbClr val="000000">
                  <a:alpha val="100000"/>
                </a:srgb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000000">
                    <a:alpha val="100000"/>
                    <a:tint val="75000"/>
                  </a:srgbClr>
                </a:solidFill>
                <a:latin typeface="Arial"/>
                <a:ea typeface="Arial"/>
                <a:cs typeface="Arial"/>
              </a:rPr>
              <a:t>3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57423c00-9e08-4258-9a19-69aa29c1496e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000000">
                    <a:alpha val="100000"/>
                    <a:tint val="75000"/>
                  </a:srgbClr>
                </a:solidFill>
                <a:latin typeface="Arial"/>
                <a:ea typeface="Arial"/>
                <a:cs typeface="Arial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660400" y="1130300"/>
            <a:ext cx="10896600" cy="5020458"/>
            <a:chOff x="660400" y="1130301"/>
            <a:chExt cx="10896600" cy="5020458"/>
          </a:xfrm>
        </p:grpSpPr>
        <p:sp>
          <p:nvSpPr>
            <p:cNvPr id="4" name="TextBox 4"/>
            <p:cNvSpPr txBox="1"/>
            <p:nvPr/>
          </p:nvSpPr>
          <p:spPr>
            <a:xfrm>
              <a:off x="660400" y="1130301"/>
              <a:ext cx="10858500" cy="669788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t" anchorCtr="1"/>
            <a:lstStyle/>
            <a:p>
              <a:pPr algn="ctr">
                <a:defRPr/>
              </a:pPr>
              <a:r>
                <a:rPr lang="en-US" sz="1800" b="1" i="0" strike="noStrike" dirty="0"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Sapphire </a:t>
              </a:r>
              <a:r>
                <a:rPr lang="en-US" sz="1800" b="1" i="0" strike="noStrike" dirty="0" err="1"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Mall的核心构成与运行逻辑</a:t>
              </a:r>
              <a:endParaRPr lang="en-US" sz="1100" dirty="0"/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660400" y="1926336"/>
              <a:ext cx="10858500" cy="916519"/>
              <a:chOff x="660400" y="1926336"/>
              <a:chExt cx="10858500" cy="916519"/>
            </a:xfrm>
          </p:grpSpPr>
          <p:sp>
            <p:nvSpPr>
              <p:cNvPr id="6" name="TextBox 6"/>
              <p:cNvSpPr txBox="1"/>
              <p:nvPr/>
            </p:nvSpPr>
            <p:spPr>
              <a:xfrm>
                <a:off x="660400" y="1926336"/>
                <a:ext cx="1112726" cy="916519"/>
              </a:xfrm>
              <a:prstGeom prst="roundRect">
                <a:avLst/>
              </a:prstGeom>
              <a:solidFill>
                <a:srgbClr val="372E68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4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  <p:sp>
            <p:nvSpPr>
              <p:cNvPr id="7" name="AutoShape 7"/>
              <p:cNvSpPr/>
              <p:nvPr/>
            </p:nvSpPr>
            <p:spPr>
              <a:xfrm>
                <a:off x="2006600" y="1926336"/>
                <a:ext cx="9512300" cy="916519"/>
              </a:xfrm>
              <a:prstGeom prst="roundRect">
                <a:avLst/>
              </a:prstGeom>
              <a:ln w="12700">
                <a:solidFill>
                  <a:srgbClr val="372E68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4927303" y="1986205"/>
                <a:ext cx="6342323" cy="79678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 strike="noStrike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平台基于区块链技术构建，利用智能合约执行核心业务逻辑，确保交易的安全、透明与不可篡改。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2198484" y="1986205"/>
                <a:ext cx="2602116" cy="79678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1800" b="1" i="0" dirty="0" err="1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区块链技术底座</a:t>
                </a:r>
                <a:endParaRPr lang="en-US" sz="1100" dirty="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673100" y="3028970"/>
              <a:ext cx="10858500" cy="916519"/>
              <a:chOff x="673100" y="3028970"/>
              <a:chExt cx="10858500" cy="916519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673100" y="3028970"/>
                <a:ext cx="1112726" cy="916519"/>
              </a:xfrm>
              <a:prstGeom prst="roundRect">
                <a:avLst/>
              </a:prstGeom>
              <a:solidFill>
                <a:srgbClr val="3462E1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4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  <p:sp>
            <p:nvSpPr>
              <p:cNvPr id="12" name="AutoShape 12"/>
              <p:cNvSpPr/>
              <p:nvPr/>
            </p:nvSpPr>
            <p:spPr>
              <a:xfrm>
                <a:off x="2019300" y="3028970"/>
                <a:ext cx="9512300" cy="916519"/>
              </a:xfrm>
              <a:prstGeom prst="roundRect">
                <a:avLst/>
              </a:prstGeom>
              <a:ln w="12700">
                <a:solidFill>
                  <a:srgbClr val="372E68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4940003" y="3088839"/>
                <a:ext cx="6342323" cy="79678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zh-CN" altLang="en-US" sz="120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便捷的支付方式，基于</a:t>
                </a:r>
                <a:r>
                  <a:rPr lang="en-US" altLang="zh-CN" sz="120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Arc</a:t>
                </a:r>
                <a:r>
                  <a:rPr lang="zh-CN" altLang="en-US" sz="120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的稳定币支付体系，</a:t>
                </a:r>
                <a:r>
                  <a:rPr lang="zh-CN" altLang="en-US" sz="1200" b="0" i="0" strike="noStrike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使用</a:t>
                </a:r>
                <a:r>
                  <a:rPr lang="en-US" altLang="zh-CN" sz="120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EURC</a:t>
                </a:r>
                <a:r>
                  <a:rPr lang="en-US" sz="1200" b="0" i="0" strike="noStrike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、USDC</a:t>
                </a:r>
                <a:r>
                  <a:rPr lang="zh-CN" altLang="en-US" sz="1200" b="0" i="0" strike="noStrike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、</a:t>
                </a:r>
                <a:r>
                  <a:rPr lang="en-US" altLang="zh-CN" sz="1200" b="0" i="0" strike="noStrike" dirty="0" err="1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cirBTC</a:t>
                </a:r>
                <a:r>
                  <a:rPr lang="en-US" sz="1200" b="0" i="0" strike="noStrike" dirty="0" err="1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等主流稳定币及平台原生代币SAP作为支付手段</a:t>
                </a:r>
                <a:r>
                  <a:rPr lang="zh-CN" altLang="en-US" sz="120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，</a:t>
                </a:r>
                <a:r>
                  <a:rPr lang="zh-CN" altLang="en-US" sz="1200" b="0" i="0" strike="noStrike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实现秒级的支付、跨链支付、兑换、跨链兑换</a:t>
                </a:r>
                <a:r>
                  <a:rPr lang="en-US" sz="1200" b="0" i="0" strike="noStrike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。</a:t>
                </a:r>
                <a:endParaRPr lang="en-US" sz="1100" dirty="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2211184" y="3088839"/>
                <a:ext cx="2602116" cy="79678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1800" b="1" i="0" dirty="0" err="1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稳定币与</a:t>
                </a:r>
                <a:r>
                  <a:rPr lang="en-US" altLang="zh-CN" sz="1800" b="1" i="0" dirty="0" err="1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SAP</a:t>
                </a:r>
                <a:r>
                  <a:rPr lang="zh-CN" altLang="en-US" sz="1800" b="1" i="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共治</a:t>
                </a:r>
                <a:endParaRPr lang="en-US" sz="1100" dirty="0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685800" y="4131605"/>
              <a:ext cx="10858500" cy="916519"/>
              <a:chOff x="685800" y="4131605"/>
              <a:chExt cx="10858500" cy="916519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685800" y="4131605"/>
                <a:ext cx="1112726" cy="916519"/>
              </a:xfrm>
              <a:prstGeom prst="roundRect">
                <a:avLst/>
              </a:prstGeom>
              <a:solidFill>
                <a:srgbClr val="372E68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4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  <p:sp>
            <p:nvSpPr>
              <p:cNvPr id="17" name="AutoShape 17"/>
              <p:cNvSpPr/>
              <p:nvPr/>
            </p:nvSpPr>
            <p:spPr>
              <a:xfrm>
                <a:off x="2032000" y="4131605"/>
                <a:ext cx="9512300" cy="916519"/>
              </a:xfrm>
              <a:prstGeom prst="roundRect">
                <a:avLst/>
              </a:prstGeom>
              <a:ln w="12700">
                <a:solidFill>
                  <a:srgbClr val="372E68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4952703" y="4191474"/>
                <a:ext cx="6342323" cy="79678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 strike="noStrike" dirty="0" err="1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引入DAO治理模式，让买家、创作者、贡献者等多元角色共同参与平台决策，共享平台发展红利</a:t>
                </a:r>
                <a:r>
                  <a:rPr lang="en-US" sz="1200" b="0" i="0" strike="noStrike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。</a:t>
                </a:r>
                <a:endParaRPr lang="en-US" sz="1100" dirty="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2223884" y="4191474"/>
                <a:ext cx="2602116" cy="79678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1800" b="1" i="0" dirty="0" err="1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社区共建共治</a:t>
                </a:r>
                <a:endParaRPr lang="en-US" sz="1100" dirty="0"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698500" y="5234240"/>
              <a:ext cx="10858500" cy="916519"/>
              <a:chOff x="698500" y="5234240"/>
              <a:chExt cx="10858500" cy="916519"/>
            </a:xfrm>
          </p:grpSpPr>
          <p:sp>
            <p:nvSpPr>
              <p:cNvPr id="21" name="TextBox 21"/>
              <p:cNvSpPr txBox="1"/>
              <p:nvPr/>
            </p:nvSpPr>
            <p:spPr>
              <a:xfrm>
                <a:off x="698500" y="5234240"/>
                <a:ext cx="1112726" cy="916519"/>
              </a:xfrm>
              <a:prstGeom prst="roundRect">
                <a:avLst/>
              </a:prstGeom>
              <a:solidFill>
                <a:srgbClr val="3462E1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4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04</a:t>
                </a:r>
                <a:endParaRPr lang="en-US" sz="1100"/>
              </a:p>
            </p:txBody>
          </p:sp>
          <p:sp>
            <p:nvSpPr>
              <p:cNvPr id="22" name="AutoShape 22"/>
              <p:cNvSpPr/>
              <p:nvPr/>
            </p:nvSpPr>
            <p:spPr>
              <a:xfrm>
                <a:off x="2044700" y="5234240"/>
                <a:ext cx="9512300" cy="916519"/>
              </a:xfrm>
              <a:prstGeom prst="roundRect">
                <a:avLst/>
              </a:prstGeom>
              <a:ln w="12700">
                <a:solidFill>
                  <a:srgbClr val="372E68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4965403" y="5294109"/>
                <a:ext cx="6342323" cy="79678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endParaRPr lang="en-US" sz="1100" dirty="0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2236584" y="5294109"/>
                <a:ext cx="2602116" cy="79678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zh-CN" altLang="en-US" sz="1800" b="1" i="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多语言与国际化</a:t>
                </a:r>
                <a:endParaRPr lang="en-US" sz="1100" dirty="0"/>
              </a:p>
            </p:txBody>
          </p:sp>
        </p:grpSp>
      </p:grpSp>
      <p:sp>
        <p:nvSpPr>
          <p:cNvPr id="25" name="TextBox 25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平台核心概览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e348dfd-03b4-42a8-9a60-8b522016bc89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000000">
                    <a:alpha val="100000"/>
                    <a:tint val="75000"/>
                  </a:srgbClr>
                </a:solidFill>
                <a:latin typeface="Arial"/>
                <a:ea typeface="Arial"/>
                <a:cs typeface="Arial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660399" y="1130300"/>
            <a:ext cx="10858502" cy="5003800"/>
            <a:chOff x="660399" y="1130300"/>
            <a:chExt cx="10858502" cy="5003800"/>
          </a:xfrm>
        </p:grpSpPr>
        <p:sp>
          <p:nvSpPr>
            <p:cNvPr id="4" name="TextBox 4"/>
            <p:cNvSpPr txBox="1"/>
            <p:nvPr/>
          </p:nvSpPr>
          <p:spPr>
            <a:xfrm>
              <a:off x="660399" y="1130300"/>
              <a:ext cx="10858500" cy="604617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800" b="1" i="0" strike="noStrike"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深入了解平台的技术实现与支付体系</a:t>
              </a:r>
              <a:endParaRPr lang="en-US" sz="1100"/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660401" y="1799683"/>
              <a:ext cx="10858500" cy="976972"/>
              <a:chOff x="660401" y="1799683"/>
              <a:chExt cx="10858500" cy="976972"/>
            </a:xfrm>
          </p:grpSpPr>
          <p:sp>
            <p:nvSpPr>
              <p:cNvPr id="6" name="AutoShape 6"/>
              <p:cNvSpPr/>
              <p:nvPr/>
            </p:nvSpPr>
            <p:spPr>
              <a:xfrm>
                <a:off x="660401" y="1799683"/>
                <a:ext cx="10858499" cy="976971"/>
              </a:xfrm>
              <a:prstGeom prst="roundRect">
                <a:avLst>
                  <a:gd name="adj" fmla="val 50000"/>
                </a:avLst>
              </a:prstGeom>
              <a:solidFill>
                <a:srgbClr val="372E68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7" name="AutoShape 7"/>
              <p:cNvSpPr/>
              <p:nvPr/>
            </p:nvSpPr>
            <p:spPr>
              <a:xfrm>
                <a:off x="1637370" y="1799684"/>
                <a:ext cx="9881531" cy="976971"/>
              </a:xfrm>
              <a:prstGeom prst="roundRect">
                <a:avLst>
                  <a:gd name="adj" fmla="val 50000"/>
                </a:avLst>
              </a:prstGeom>
              <a:solidFill>
                <a:srgbClr val="FFFFFF">
                  <a:alpha val="100000"/>
                </a:srgbClr>
              </a:solidFill>
              <a:ln w="12700">
                <a:solidFill>
                  <a:srgbClr val="372E68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8" name="AutoShape 8"/>
              <p:cNvSpPr/>
              <p:nvPr/>
            </p:nvSpPr>
            <p:spPr>
              <a:xfrm>
                <a:off x="4900295" y="2069094"/>
                <a:ext cx="0" cy="438150"/>
              </a:xfrm>
              <a:prstGeom prst="line">
                <a:avLst/>
              </a:prstGeom>
              <a:ln w="31750">
                <a:solidFill>
                  <a:srgbClr val="372E68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grpSp>
            <p:nvGrpSpPr>
              <p:cNvPr id="9" name="Group 9"/>
              <p:cNvGrpSpPr/>
              <p:nvPr/>
            </p:nvGrpSpPr>
            <p:grpSpPr>
              <a:xfrm>
                <a:off x="886903" y="1883417"/>
                <a:ext cx="10308612" cy="809503"/>
                <a:chOff x="886903" y="1883417"/>
                <a:chExt cx="10308612" cy="809503"/>
              </a:xfrm>
            </p:grpSpPr>
            <p:sp>
              <p:nvSpPr>
                <p:cNvPr id="10" name="TextBox 10"/>
                <p:cNvSpPr txBox="1"/>
                <p:nvPr/>
              </p:nvSpPr>
              <p:spPr>
                <a:xfrm flipH="1">
                  <a:off x="1841499" y="1938376"/>
                  <a:ext cx="2919089" cy="699586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ctr" anchorCtr="0"/>
                <a:lstStyle/>
                <a:p>
                  <a:pPr algn="l">
                    <a:defRPr/>
                  </a:pPr>
                  <a:r>
                    <a:rPr lang="en-US" sz="1800" b="1" i="0" strike="noStrike" dirty="0" err="1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双轨支付系统</a:t>
                  </a:r>
                  <a:endParaRPr lang="en-US" sz="1100" dirty="0"/>
                </a:p>
              </p:txBody>
            </p:sp>
            <p:sp>
              <p:nvSpPr>
                <p:cNvPr id="11" name="TextBox 11"/>
                <p:cNvSpPr txBox="1"/>
                <p:nvPr/>
              </p:nvSpPr>
              <p:spPr>
                <a:xfrm>
                  <a:off x="5001490" y="1883417"/>
                  <a:ext cx="6194025" cy="809503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ctr" anchorCtr="0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lang="en-US" sz="1200" b="0" i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采用稳定币与SAP双轨支付，既满足用户对价值稳定的需求，又通过SAP赋能生态治理与激励。</a:t>
                  </a:r>
                  <a:endParaRPr lang="en-US" sz="1100"/>
                </a:p>
              </p:txBody>
            </p:sp>
            <p:sp>
              <p:nvSpPr>
                <p:cNvPr id="12" name="TextBox 12"/>
                <p:cNvSpPr txBox="1"/>
                <p:nvPr/>
              </p:nvSpPr>
              <p:spPr>
                <a:xfrm>
                  <a:off x="886903" y="1968369"/>
                  <a:ext cx="645564" cy="627854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ctr" anchorCtr="0"/>
                <a:lstStyle/>
                <a:p>
                  <a:pPr algn="ctr">
                    <a:defRPr/>
                  </a:pPr>
                  <a:r>
                    <a:rPr lang="en-US" sz="2800" b="1" i="0">
                      <a:ln/>
                      <a:solidFill>
                        <a:srgbClr val="FFFFFF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1</a:t>
                  </a:r>
                  <a:endParaRPr lang="en-US" sz="1100"/>
                </a:p>
              </p:txBody>
            </p:sp>
          </p:grpSp>
        </p:grpSp>
        <p:grpSp>
          <p:nvGrpSpPr>
            <p:cNvPr id="13" name="Group 13"/>
            <p:cNvGrpSpPr/>
            <p:nvPr/>
          </p:nvGrpSpPr>
          <p:grpSpPr>
            <a:xfrm>
              <a:off x="660399" y="2918833"/>
              <a:ext cx="10858500" cy="976970"/>
              <a:chOff x="660399" y="2918833"/>
              <a:chExt cx="10858500" cy="976970"/>
            </a:xfrm>
          </p:grpSpPr>
          <p:sp>
            <p:nvSpPr>
              <p:cNvPr id="14" name="AutoShape 14"/>
              <p:cNvSpPr/>
              <p:nvPr/>
            </p:nvSpPr>
            <p:spPr>
              <a:xfrm>
                <a:off x="660399" y="2918833"/>
                <a:ext cx="10858500" cy="976970"/>
              </a:xfrm>
              <a:prstGeom prst="roundRect">
                <a:avLst>
                  <a:gd name="adj" fmla="val 50000"/>
                </a:avLst>
              </a:prstGeom>
              <a:solidFill>
                <a:srgbClr val="3462E1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15" name="AutoShape 15"/>
              <p:cNvSpPr/>
              <p:nvPr/>
            </p:nvSpPr>
            <p:spPr>
              <a:xfrm flipH="1">
                <a:off x="1637367" y="2918833"/>
                <a:ext cx="9881532" cy="976970"/>
              </a:xfrm>
              <a:prstGeom prst="roundRect">
                <a:avLst>
                  <a:gd name="adj" fmla="val 50000"/>
                </a:avLst>
              </a:prstGeom>
              <a:solidFill>
                <a:srgbClr val="FFFFFF">
                  <a:alpha val="100000"/>
                </a:srgbClr>
              </a:solidFill>
              <a:ln w="12700">
                <a:solidFill>
                  <a:srgbClr val="372E68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16" name="AutoShape 16"/>
              <p:cNvSpPr/>
              <p:nvPr/>
            </p:nvSpPr>
            <p:spPr>
              <a:xfrm>
                <a:off x="4900295" y="3188244"/>
                <a:ext cx="0" cy="438150"/>
              </a:xfrm>
              <a:prstGeom prst="line">
                <a:avLst/>
              </a:prstGeom>
              <a:ln w="31750">
                <a:solidFill>
                  <a:srgbClr val="3462E1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grpSp>
            <p:nvGrpSpPr>
              <p:cNvPr id="17" name="Group 17"/>
              <p:cNvGrpSpPr/>
              <p:nvPr/>
            </p:nvGrpSpPr>
            <p:grpSpPr>
              <a:xfrm>
                <a:off x="886903" y="3002567"/>
                <a:ext cx="10308612" cy="809503"/>
                <a:chOff x="886903" y="3002567"/>
                <a:chExt cx="10308612" cy="809503"/>
              </a:xfrm>
            </p:grpSpPr>
            <p:sp>
              <p:nvSpPr>
                <p:cNvPr id="18" name="TextBox 18"/>
                <p:cNvSpPr txBox="1"/>
                <p:nvPr/>
              </p:nvSpPr>
              <p:spPr>
                <a:xfrm>
                  <a:off x="1841503" y="3057526"/>
                  <a:ext cx="2919089" cy="699586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ctr" anchorCtr="0"/>
                <a:lstStyle/>
                <a:p>
                  <a:pPr algn="l">
                    <a:defRPr/>
                  </a:pPr>
                  <a:r>
                    <a:rPr lang="en-US" sz="1800" b="1" i="0" strike="noStrike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智能合约承载规则</a:t>
                  </a:r>
                  <a:endParaRPr lang="en-US" sz="1100"/>
                </a:p>
              </p:txBody>
            </p:sp>
            <p:sp>
              <p:nvSpPr>
                <p:cNvPr id="19" name="TextBox 19"/>
                <p:cNvSpPr txBox="1"/>
                <p:nvPr/>
              </p:nvSpPr>
              <p:spPr>
                <a:xfrm flipH="1">
                  <a:off x="5001490" y="3002567"/>
                  <a:ext cx="6194025" cy="809503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ctr" anchorCtr="0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lang="en-US" sz="1200" b="0" i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核心业务规则由链上智能合约承载，订单与资产状态公开可查，极大降低了平台方随意修改规则的风险。</a:t>
                  </a:r>
                  <a:endParaRPr lang="en-US" sz="1100"/>
                </a:p>
              </p:txBody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886903" y="3079151"/>
                  <a:ext cx="645564" cy="644586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ctr" anchorCtr="0"/>
                <a:lstStyle/>
                <a:p>
                  <a:pPr algn="ctr">
                    <a:defRPr/>
                  </a:pPr>
                  <a:r>
                    <a:rPr lang="en-US" sz="2800" b="1" i="0">
                      <a:ln/>
                      <a:solidFill>
                        <a:srgbClr val="FFFFFF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2</a:t>
                  </a:r>
                  <a:endParaRPr lang="en-US" sz="1100"/>
                </a:p>
              </p:txBody>
            </p:sp>
          </p:grpSp>
        </p:grpSp>
        <p:grpSp>
          <p:nvGrpSpPr>
            <p:cNvPr id="21" name="Group 21"/>
            <p:cNvGrpSpPr/>
            <p:nvPr/>
          </p:nvGrpSpPr>
          <p:grpSpPr>
            <a:xfrm>
              <a:off x="660401" y="4037981"/>
              <a:ext cx="10858500" cy="976970"/>
              <a:chOff x="660401" y="4037981"/>
              <a:chExt cx="10858500" cy="976970"/>
            </a:xfrm>
          </p:grpSpPr>
          <p:sp>
            <p:nvSpPr>
              <p:cNvPr id="22" name="AutoShape 22"/>
              <p:cNvSpPr/>
              <p:nvPr/>
            </p:nvSpPr>
            <p:spPr>
              <a:xfrm>
                <a:off x="660401" y="4037981"/>
                <a:ext cx="10858499" cy="976970"/>
              </a:xfrm>
              <a:prstGeom prst="roundRect">
                <a:avLst>
                  <a:gd name="adj" fmla="val 50000"/>
                </a:avLst>
              </a:prstGeom>
              <a:solidFill>
                <a:srgbClr val="372E68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3" name="AutoShape 23"/>
              <p:cNvSpPr/>
              <p:nvPr/>
            </p:nvSpPr>
            <p:spPr>
              <a:xfrm>
                <a:off x="1637370" y="4037981"/>
                <a:ext cx="9881531" cy="976970"/>
              </a:xfrm>
              <a:prstGeom prst="roundRect">
                <a:avLst>
                  <a:gd name="adj" fmla="val 50000"/>
                </a:avLst>
              </a:prstGeom>
              <a:solidFill>
                <a:srgbClr val="FFFFFF">
                  <a:alpha val="100000"/>
                </a:srgbClr>
              </a:solidFill>
              <a:ln w="12700">
                <a:solidFill>
                  <a:srgbClr val="372E68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24" name="AutoShape 24"/>
              <p:cNvSpPr/>
              <p:nvPr/>
            </p:nvSpPr>
            <p:spPr>
              <a:xfrm>
                <a:off x="4900295" y="4307392"/>
                <a:ext cx="0" cy="438150"/>
              </a:xfrm>
              <a:prstGeom prst="line">
                <a:avLst/>
              </a:prstGeom>
              <a:ln w="31750">
                <a:solidFill>
                  <a:srgbClr val="372E68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grpSp>
            <p:nvGrpSpPr>
              <p:cNvPr id="25" name="Group 25"/>
              <p:cNvGrpSpPr/>
              <p:nvPr/>
            </p:nvGrpSpPr>
            <p:grpSpPr>
              <a:xfrm>
                <a:off x="886903" y="4121715"/>
                <a:ext cx="10308612" cy="809503"/>
                <a:chOff x="886903" y="4121715"/>
                <a:chExt cx="10308612" cy="809503"/>
              </a:xfrm>
            </p:grpSpPr>
            <p:sp>
              <p:nvSpPr>
                <p:cNvPr id="26" name="TextBox 26"/>
                <p:cNvSpPr txBox="1"/>
                <p:nvPr/>
              </p:nvSpPr>
              <p:spPr>
                <a:xfrm flipH="1">
                  <a:off x="1841499" y="4176674"/>
                  <a:ext cx="2919089" cy="699586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ctr" anchorCtr="0"/>
                <a:lstStyle/>
                <a:p>
                  <a:pPr algn="l">
                    <a:defRPr/>
                  </a:pPr>
                  <a:r>
                    <a:rPr lang="en-US" sz="1800" b="1" i="0" strike="noStrike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订单状态可追溯</a:t>
                  </a:r>
                  <a:endParaRPr lang="en-US" sz="1100"/>
                </a:p>
              </p:txBody>
            </p:sp>
            <p:sp>
              <p:nvSpPr>
                <p:cNvPr id="27" name="TextBox 27"/>
                <p:cNvSpPr txBox="1"/>
                <p:nvPr/>
              </p:nvSpPr>
              <p:spPr>
                <a:xfrm>
                  <a:off x="5001490" y="4121715"/>
                  <a:ext cx="6194025" cy="809503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ctr" anchorCtr="0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lang="en-US" sz="1200" b="0" i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所有交易信息记录在区块链上，从下单到履约的全流程均可追溯、可审计，保障了交易的公正性。</a:t>
                  </a:r>
                  <a:endParaRPr lang="en-US" sz="1100"/>
                </a:p>
              </p:txBody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886903" y="4229692"/>
                  <a:ext cx="645564" cy="581800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ctr" anchorCtr="0"/>
                <a:lstStyle/>
                <a:p>
                  <a:pPr algn="ctr">
                    <a:defRPr/>
                  </a:pPr>
                  <a:r>
                    <a:rPr lang="en-US" sz="2800" b="1" i="0">
                      <a:ln/>
                      <a:solidFill>
                        <a:srgbClr val="FFFFFF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3</a:t>
                  </a:r>
                  <a:endParaRPr lang="en-US" sz="1100"/>
                </a:p>
              </p:txBody>
            </p:sp>
          </p:grpSp>
        </p:grpSp>
        <p:grpSp>
          <p:nvGrpSpPr>
            <p:cNvPr id="29" name="Group 29"/>
            <p:cNvGrpSpPr/>
            <p:nvPr/>
          </p:nvGrpSpPr>
          <p:grpSpPr>
            <a:xfrm>
              <a:off x="660399" y="5157130"/>
              <a:ext cx="10858500" cy="976970"/>
              <a:chOff x="660399" y="5157130"/>
              <a:chExt cx="10858500" cy="976970"/>
            </a:xfrm>
          </p:grpSpPr>
          <p:sp>
            <p:nvSpPr>
              <p:cNvPr id="30" name="AutoShape 30"/>
              <p:cNvSpPr/>
              <p:nvPr/>
            </p:nvSpPr>
            <p:spPr>
              <a:xfrm>
                <a:off x="660399" y="5157130"/>
                <a:ext cx="10858500" cy="976970"/>
              </a:xfrm>
              <a:prstGeom prst="roundRect">
                <a:avLst>
                  <a:gd name="adj" fmla="val 50000"/>
                </a:avLst>
              </a:prstGeom>
              <a:solidFill>
                <a:srgbClr val="3462E1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31" name="AutoShape 31"/>
              <p:cNvSpPr/>
              <p:nvPr/>
            </p:nvSpPr>
            <p:spPr>
              <a:xfrm flipH="1">
                <a:off x="1637367" y="5157130"/>
                <a:ext cx="9881532" cy="976970"/>
              </a:xfrm>
              <a:prstGeom prst="roundRect">
                <a:avLst>
                  <a:gd name="adj" fmla="val 50000"/>
                </a:avLst>
              </a:prstGeom>
              <a:solidFill>
                <a:srgbClr val="FFFFFF">
                  <a:alpha val="100000"/>
                </a:srgbClr>
              </a:solidFill>
              <a:ln w="12700">
                <a:solidFill>
                  <a:srgbClr val="372E68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32" name="AutoShape 32"/>
              <p:cNvSpPr/>
              <p:nvPr/>
            </p:nvSpPr>
            <p:spPr>
              <a:xfrm>
                <a:off x="4900295" y="5426540"/>
                <a:ext cx="0" cy="438150"/>
              </a:xfrm>
              <a:prstGeom prst="line">
                <a:avLst/>
              </a:prstGeom>
              <a:ln w="31750">
                <a:solidFill>
                  <a:srgbClr val="3462E1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grpSp>
            <p:nvGrpSpPr>
              <p:cNvPr id="33" name="Group 33"/>
              <p:cNvGrpSpPr/>
              <p:nvPr/>
            </p:nvGrpSpPr>
            <p:grpSpPr>
              <a:xfrm>
                <a:off x="886903" y="5240864"/>
                <a:ext cx="10308612" cy="809503"/>
                <a:chOff x="886903" y="5240864"/>
                <a:chExt cx="10308612" cy="809503"/>
              </a:xfrm>
            </p:grpSpPr>
            <p:sp>
              <p:nvSpPr>
                <p:cNvPr id="34" name="TextBox 34"/>
                <p:cNvSpPr txBox="1"/>
                <p:nvPr/>
              </p:nvSpPr>
              <p:spPr>
                <a:xfrm>
                  <a:off x="1841503" y="5295823"/>
                  <a:ext cx="2919089" cy="699586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ctr" anchorCtr="0"/>
                <a:lstStyle/>
                <a:p>
                  <a:pPr algn="l">
                    <a:defRPr/>
                  </a:pPr>
                  <a:r>
                    <a:rPr lang="en-US" sz="1800" b="1" i="0" strike="noStrike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支持多链部署</a:t>
                  </a:r>
                  <a:endParaRPr lang="en-US" sz="1100"/>
                </a:p>
              </p:txBody>
            </p:sp>
            <p:sp>
              <p:nvSpPr>
                <p:cNvPr id="35" name="TextBox 35"/>
                <p:cNvSpPr txBox="1"/>
                <p:nvPr/>
              </p:nvSpPr>
              <p:spPr>
                <a:xfrm flipH="1">
                  <a:off x="5001490" y="5240864"/>
                  <a:ext cx="6194025" cy="809503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ctr" anchorCtr="0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lang="en-US" sz="1200" b="0" i="0" dirty="0" err="1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未来规划中包含多链部署，可接入Ethereum、Polygon、BSC等主流公链，拓展用户群体与资产范围</a:t>
                  </a:r>
                  <a:r>
                    <a:rPr lang="en-US" sz="1200" b="0" i="0" dirty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。</a:t>
                  </a:r>
                  <a:endParaRPr lang="en-US" sz="1100" dirty="0"/>
                </a:p>
              </p:txBody>
            </p:sp>
            <p:sp>
              <p:nvSpPr>
                <p:cNvPr id="36" name="TextBox 36"/>
                <p:cNvSpPr txBox="1"/>
                <p:nvPr/>
              </p:nvSpPr>
              <p:spPr>
                <a:xfrm>
                  <a:off x="886903" y="5330903"/>
                  <a:ext cx="645564" cy="617674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ctr" anchorCtr="0"/>
                <a:lstStyle/>
                <a:p>
                  <a:pPr algn="ctr">
                    <a:defRPr/>
                  </a:pPr>
                  <a:r>
                    <a:rPr lang="en-US" sz="2800" b="1" i="0">
                      <a:ln/>
                      <a:solidFill>
                        <a:srgbClr val="FFFFFF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4</a:t>
                  </a:r>
                  <a:endParaRPr lang="en-US" sz="1100"/>
                </a:p>
              </p:txBody>
            </p:sp>
          </p:grpSp>
        </p:grpSp>
      </p:grpSp>
      <p:sp>
        <p:nvSpPr>
          <p:cNvPr id="37" name="TextBox 37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技术架构解析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317998" y="1130300"/>
            <a:ext cx="7200901" cy="1398993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6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传统电商痛点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4317998" y="2770593"/>
            <a:ext cx="7200901" cy="3604807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1400" b="0" i="0" strike="noStrike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• ⼊</a:t>
            </a:r>
            <a:r>
              <a:rPr lang="en-US" sz="1400" b="0" i="0" strike="noStrike" dirty="0" err="1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驻费、保证⾦与营销预算流向不透明，商家侧难以审计与对账</a:t>
            </a:r>
            <a:r>
              <a:rPr lang="en-US" sz="1400" b="0" i="0" strike="noStrike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。</a:t>
            </a:r>
            <a:endParaRPr lang="en-US" sz="1100" dirty="0"/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sz="1400" b="0" i="0" strike="noStrike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400" b="0" i="0" strike="noStrike" dirty="0" err="1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交易资⾦依赖平台托管与中⼼化清结算，存在对</a:t>
            </a:r>
            <a:r>
              <a:rPr sz="1400" b="0" i="0" strike="noStrike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⼿⽅</a:t>
            </a:r>
            <a:r>
              <a:rPr sz="1400" b="0" i="0" strike="noStrike" dirty="0" err="1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与挪</a:t>
            </a:r>
            <a:r>
              <a:rPr sz="1400" b="0" i="0" strike="noStrike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⽤⻛险。</a:t>
            </a:r>
            <a:endParaRPr dirty="0"/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sz="1400" b="0" i="0" strike="noStrike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400" b="0" i="0" strike="noStrike" dirty="0" err="1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纠纷处理依赖平台单⽅规则与信誉背书，过程与结果难被</a:t>
            </a:r>
            <a:r>
              <a:rPr sz="1400" b="0" i="0" strike="noStrike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⽤⼾</a:t>
            </a:r>
            <a:r>
              <a:rPr sz="1400" b="0" i="0" strike="noStrike" dirty="0" err="1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验证</a:t>
            </a:r>
            <a:r>
              <a:rPr sz="1400" b="0" i="0" strike="noStrike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。</a:t>
            </a:r>
            <a:endParaRPr dirty="0"/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sz="1400" b="0" i="0" strike="noStrike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400" b="0" i="0" strike="noStrike" dirty="0" err="1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虚拟商品确权与分账规则常不透明，创作者收益保障不</a:t>
            </a:r>
            <a:r>
              <a:rPr sz="1400" b="0" i="0" strike="noStrike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⾜。</a:t>
            </a:r>
            <a:endParaRPr dirty="0"/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sz="1400" b="0" i="0" strike="noStrike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400" b="0" i="0" strike="noStrike" dirty="0" err="1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跨境⽀付与多币种成本</a:t>
            </a:r>
            <a:r>
              <a:rPr sz="1400" b="0" i="0" strike="noStrike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⾼，</a:t>
            </a:r>
            <a:r>
              <a:rPr sz="1400" b="0" i="0" strike="noStrike" dirty="0" err="1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治理参与弱</a:t>
            </a:r>
            <a:r>
              <a:rPr sz="1400" b="0" i="0" strike="noStrike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，⽤⼾</a:t>
            </a:r>
            <a:r>
              <a:rPr sz="1400" b="0" i="0" strike="noStrike" dirty="0" err="1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难以分享平台成⻓红利</a:t>
            </a:r>
            <a:r>
              <a:rPr sz="1400" b="0" i="0" strike="noStrike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 。</a:t>
            </a:r>
            <a:endParaRPr lang="en-US" sz="1400" b="0" i="0" strike="noStrike" dirty="0">
              <a:solidFill>
                <a:srgbClr val="000000">
                  <a:alpha val="100000"/>
                </a:srgbClr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sz="1400" b="0" i="0" strike="noStrike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400" b="0" i="0" strike="noStrike" dirty="0" err="1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平台和商家结算周期过⻓且不透明</a:t>
            </a:r>
            <a:endParaRPr dirty="0"/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sz="1400" b="0" i="0" strike="noStrike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• …</a:t>
            </a:r>
            <a:endParaRPr dirty="0"/>
          </a:p>
        </p:txBody>
      </p:sp>
      <p:sp>
        <p:nvSpPr>
          <p:cNvPr id="4" name="TextBox 4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000000">
                    <a:alpha val="100000"/>
                    <a:tint val="75000"/>
                  </a:srgbClr>
                </a:solidFill>
                <a:latin typeface="Arial"/>
                <a:ea typeface="Arial"/>
                <a:cs typeface="Arial"/>
              </a:rPr>
              <a:t>3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65506872-d587-4686-861f-af396f94bc59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000000">
                    <a:alpha val="100000"/>
                    <a:tint val="75000"/>
                  </a:srgbClr>
                </a:solidFill>
                <a:latin typeface="Arial"/>
                <a:ea typeface="Arial"/>
                <a:cs typeface="Arial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660399" y="1130301"/>
            <a:ext cx="10858501" cy="5003799"/>
            <a:chOff x="660399" y="1130301"/>
            <a:chExt cx="10858501" cy="5003799"/>
          </a:xfrm>
        </p:grpSpPr>
        <p:sp>
          <p:nvSpPr>
            <p:cNvPr id="4" name="TextBox 4"/>
            <p:cNvSpPr txBox="1"/>
            <p:nvPr/>
          </p:nvSpPr>
          <p:spPr>
            <a:xfrm>
              <a:off x="660399" y="1130301"/>
              <a:ext cx="10858500" cy="480060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800" b="1" i="0" strike="noStrike"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传统电商模式下的典型问题与信任危机</a:t>
              </a:r>
              <a:endParaRPr lang="en-US" sz="1100"/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1301598" y="1944181"/>
              <a:ext cx="4296598" cy="1840419"/>
              <a:chOff x="1807597" y="1944181"/>
              <a:chExt cx="4296598" cy="1840419"/>
            </a:xfrm>
          </p:grpSpPr>
          <p:sp>
            <p:nvSpPr>
              <p:cNvPr id="6" name="TextBox 6"/>
              <p:cNvSpPr txBox="1"/>
              <p:nvPr/>
            </p:nvSpPr>
            <p:spPr>
              <a:xfrm>
                <a:off x="1807597" y="2406647"/>
                <a:ext cx="4296598" cy="43601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费用流向不透明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1807597" y="2842665"/>
                <a:ext cx="4296598" cy="941935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商家入驻费、保证金及营销预算的去向难以审计和对账，平台方掌握绝对话语权。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894627" y="1944181"/>
                <a:ext cx="462466" cy="462466"/>
              </a:xfrm>
              <a:prstGeom prst="rect">
                <a:avLst/>
              </a:prstGeom>
              <a:solidFill>
                <a:srgbClr val="00000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1</a:t>
                </a:r>
                <a:endParaRPr lang="en-US" sz="110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6581104" y="1944181"/>
              <a:ext cx="4296598" cy="1840419"/>
              <a:chOff x="2634909" y="1944181"/>
              <a:chExt cx="4296598" cy="1840419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2634909" y="2406647"/>
                <a:ext cx="4296598" cy="43601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资金托管风险</a:t>
                </a:r>
                <a:endParaRPr lang="en-US" sz="110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2634909" y="2842665"/>
                <a:ext cx="4296598" cy="941935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交易资金依赖平台托管与中心化清结算，存在对手方跑路、资金被挪用的潜在风险。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2721941" y="1944181"/>
                <a:ext cx="462466" cy="462466"/>
              </a:xfrm>
              <a:prstGeom prst="rect">
                <a:avLst/>
              </a:prstGeom>
              <a:solidFill>
                <a:srgbClr val="00000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2</a:t>
                </a:r>
                <a:endParaRPr lang="en-US" sz="1100"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1301598" y="4293681"/>
              <a:ext cx="4296598" cy="1840419"/>
              <a:chOff x="1807597" y="1944181"/>
              <a:chExt cx="4296598" cy="1840419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1807597" y="2406647"/>
                <a:ext cx="4296598" cy="43601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纠纷处理不公正</a:t>
                </a:r>
                <a:endParaRPr lang="en-US" sz="110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807597" y="2842665"/>
                <a:ext cx="4296598" cy="941935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纠纷处理依赖平台单方规则和信誉背书，用户难以验证处理过程的公平性与结果的合理性。</a:t>
                </a:r>
                <a:endParaRPr lang="en-US" sz="110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894627" y="1944181"/>
                <a:ext cx="462466" cy="462466"/>
              </a:xfrm>
              <a:prstGeom prst="rect">
                <a:avLst/>
              </a:prstGeom>
              <a:solidFill>
                <a:srgbClr val="00000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3</a:t>
                </a:r>
                <a:endParaRPr lang="en-US" sz="1100"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6581104" y="4293681"/>
              <a:ext cx="4296598" cy="1840419"/>
              <a:chOff x="2634909" y="1944181"/>
              <a:chExt cx="4296598" cy="1840419"/>
            </a:xfrm>
          </p:grpSpPr>
          <p:sp>
            <p:nvSpPr>
              <p:cNvPr id="18" name="TextBox 18"/>
              <p:cNvSpPr txBox="1"/>
              <p:nvPr/>
            </p:nvSpPr>
            <p:spPr>
              <a:xfrm>
                <a:off x="2634909" y="2406647"/>
                <a:ext cx="4296598" cy="43601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跨境支付成本高</a:t>
                </a:r>
                <a:endParaRPr lang="en-US" sz="110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2634909" y="2842665"/>
                <a:ext cx="4296598" cy="941935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跨境交易面临复杂的金融监管和较高的支付手续费，且用户参与平台治理的途径有限。</a:t>
                </a:r>
                <a:endParaRPr lang="en-US" sz="1100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2721941" y="1944181"/>
                <a:ext cx="462466" cy="462466"/>
              </a:xfrm>
              <a:prstGeom prst="rect">
                <a:avLst/>
              </a:prstGeom>
              <a:solidFill>
                <a:srgbClr val="00000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4</a:t>
                </a:r>
                <a:endParaRPr lang="en-US" sz="1100"/>
              </a:p>
            </p:txBody>
          </p:sp>
        </p:grpSp>
        <p:sp>
          <p:nvSpPr>
            <p:cNvPr id="21" name="AutoShape 21"/>
            <p:cNvSpPr/>
            <p:nvPr/>
          </p:nvSpPr>
          <p:spPr>
            <a:xfrm>
              <a:off x="660400" y="3981370"/>
              <a:ext cx="10858500" cy="0"/>
            </a:xfrm>
            <a:prstGeom prst="line">
              <a:avLst/>
            </a:prstGeom>
            <a:ln w="12700">
              <a:solidFill>
                <a:srgbClr val="00000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</p:grpSp>
      <p:sp>
        <p:nvSpPr>
          <p:cNvPr id="22" name="TextBox 22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Web2电商局限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3fb86fd-21f8-4575-ab50-a2b98b3b0e6c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000000">
                    <a:alpha val="100000"/>
                    <a:tint val="75000"/>
                  </a:srgbClr>
                </a:solidFill>
                <a:latin typeface="Arial"/>
                <a:ea typeface="Arial"/>
                <a:cs typeface="Arial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660400" y="1130300"/>
            <a:ext cx="10858500" cy="4845289"/>
            <a:chOff x="660400" y="1130300"/>
            <a:chExt cx="10858500" cy="4845289"/>
          </a:xfrm>
        </p:grpSpPr>
        <p:sp>
          <p:nvSpPr>
            <p:cNvPr id="4" name="TextBox 4"/>
            <p:cNvSpPr txBox="1"/>
            <p:nvPr/>
          </p:nvSpPr>
          <p:spPr>
            <a:xfrm>
              <a:off x="666750" y="1409700"/>
              <a:ext cx="10858500" cy="582612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  <a:r>
                <a:rPr lang="en-US" sz="1800" b="1" i="0" strike="noStrike"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痛点最终转嫁，影响商家经营活力与收益保障</a:t>
              </a:r>
              <a:endParaRPr lang="en-US" sz="1100"/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660401" y="2544284"/>
              <a:ext cx="3287181" cy="3431305"/>
              <a:chOff x="660401" y="2544284"/>
              <a:chExt cx="3287181" cy="3431305"/>
            </a:xfrm>
          </p:grpSpPr>
          <p:grpSp>
            <p:nvGrpSpPr>
              <p:cNvPr id="6" name="Group 6"/>
              <p:cNvGrpSpPr/>
              <p:nvPr/>
            </p:nvGrpSpPr>
            <p:grpSpPr>
              <a:xfrm>
                <a:off x="660401" y="3860800"/>
                <a:ext cx="3287181" cy="2114789"/>
                <a:chOff x="660403" y="3740943"/>
                <a:chExt cx="2501897" cy="2114789"/>
              </a:xfrm>
            </p:grpSpPr>
            <p:sp>
              <p:nvSpPr>
                <p:cNvPr id="7" name="TextBox 7"/>
                <p:cNvSpPr txBox="1"/>
                <p:nvPr/>
              </p:nvSpPr>
              <p:spPr>
                <a:xfrm>
                  <a:off x="660404" y="3740943"/>
                  <a:ext cx="2501896" cy="666195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ctr">
                    <a:defRPr/>
                  </a:pPr>
                  <a:r>
                    <a:rPr lang="en-US" sz="1800" b="1" i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结算周期长且模糊</a:t>
                  </a:r>
                  <a:endParaRPr lang="en-US" sz="1100"/>
                </a:p>
              </p:txBody>
            </p:sp>
            <p:sp>
              <p:nvSpPr>
                <p:cNvPr id="8" name="TextBox 8"/>
                <p:cNvSpPr txBox="1"/>
                <p:nvPr/>
              </p:nvSpPr>
              <p:spPr>
                <a:xfrm>
                  <a:off x="660403" y="4407139"/>
                  <a:ext cx="2501897" cy="1448593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ctr">
                    <a:lnSpc>
                      <a:spcPct val="120000"/>
                    </a:lnSpc>
                    <a:defRPr/>
                  </a:pPr>
                  <a:r>
                    <a:rPr lang="en-US" sz="1200" b="0" i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平台和商家之间的结算周期过长且不透明，严重占用了商家的流动资金，影响资金周转效率。</a:t>
                  </a:r>
                  <a:endParaRPr lang="en-US" sz="1100"/>
                </a:p>
              </p:txBody>
            </p:sp>
          </p:grpSp>
          <p:sp>
            <p:nvSpPr>
              <p:cNvPr id="9" name="TextBox 9"/>
              <p:cNvSpPr txBox="1"/>
              <p:nvPr/>
            </p:nvSpPr>
            <p:spPr>
              <a:xfrm>
                <a:off x="1687008" y="2544284"/>
                <a:ext cx="1233966" cy="1233966"/>
              </a:xfrm>
              <a:prstGeom prst="ellipse">
                <a:avLst/>
              </a:prstGeom>
              <a:solidFill>
                <a:srgbClr val="372E68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36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4446060" y="2544284"/>
              <a:ext cx="3287181" cy="3431305"/>
              <a:chOff x="660401" y="2544284"/>
              <a:chExt cx="3287181" cy="3431305"/>
            </a:xfrm>
          </p:grpSpPr>
          <p:grpSp>
            <p:nvGrpSpPr>
              <p:cNvPr id="11" name="Group 11"/>
              <p:cNvGrpSpPr/>
              <p:nvPr/>
            </p:nvGrpSpPr>
            <p:grpSpPr>
              <a:xfrm>
                <a:off x="660401" y="3860800"/>
                <a:ext cx="3287181" cy="2114789"/>
                <a:chOff x="660403" y="3740943"/>
                <a:chExt cx="2501897" cy="2114789"/>
              </a:xfrm>
            </p:grpSpPr>
            <p:sp>
              <p:nvSpPr>
                <p:cNvPr id="12" name="TextBox 12"/>
                <p:cNvSpPr txBox="1"/>
                <p:nvPr/>
              </p:nvSpPr>
              <p:spPr>
                <a:xfrm>
                  <a:off x="660404" y="3740943"/>
                  <a:ext cx="2501896" cy="666195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ctr">
                    <a:defRPr/>
                  </a:pPr>
                  <a:r>
                    <a:rPr lang="en-US" sz="1800" b="1" i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创作者权益保障弱</a:t>
                  </a:r>
                  <a:endParaRPr lang="en-US" sz="1100"/>
                </a:p>
              </p:txBody>
            </p:sp>
            <p:sp>
              <p:nvSpPr>
                <p:cNvPr id="13" name="TextBox 13"/>
                <p:cNvSpPr txBox="1"/>
                <p:nvPr/>
              </p:nvSpPr>
              <p:spPr>
                <a:xfrm>
                  <a:off x="660403" y="4407139"/>
                  <a:ext cx="2501897" cy="1448593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ctr">
                    <a:lnSpc>
                      <a:spcPct val="120000"/>
                    </a:lnSpc>
                    <a:defRPr/>
                  </a:pPr>
                  <a:r>
                    <a:rPr lang="en-US" sz="1200" b="0" i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虚拟商品的确权、版权保护和分账规则常不透明，导致创作者的收益难以得到充分保障。</a:t>
                  </a:r>
                  <a:endParaRPr lang="en-US" sz="1100"/>
                </a:p>
              </p:txBody>
            </p:sp>
          </p:grpSp>
          <p:sp>
            <p:nvSpPr>
              <p:cNvPr id="14" name="TextBox 14"/>
              <p:cNvSpPr txBox="1"/>
              <p:nvPr/>
            </p:nvSpPr>
            <p:spPr>
              <a:xfrm>
                <a:off x="1687008" y="2544284"/>
                <a:ext cx="1233966" cy="1233966"/>
              </a:xfrm>
              <a:prstGeom prst="ellipse">
                <a:avLst/>
              </a:prstGeom>
              <a:solidFill>
                <a:srgbClr val="372E68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36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8231719" y="2544284"/>
              <a:ext cx="3287181" cy="3431305"/>
              <a:chOff x="660401" y="2544284"/>
              <a:chExt cx="3287181" cy="3431305"/>
            </a:xfrm>
          </p:grpSpPr>
          <p:grpSp>
            <p:nvGrpSpPr>
              <p:cNvPr id="16" name="Group 16"/>
              <p:cNvGrpSpPr/>
              <p:nvPr/>
            </p:nvGrpSpPr>
            <p:grpSpPr>
              <a:xfrm>
                <a:off x="660401" y="3860800"/>
                <a:ext cx="3287181" cy="2114789"/>
                <a:chOff x="660403" y="3740943"/>
                <a:chExt cx="2501897" cy="2114789"/>
              </a:xfrm>
            </p:grpSpPr>
            <p:sp>
              <p:nvSpPr>
                <p:cNvPr id="17" name="TextBox 17"/>
                <p:cNvSpPr txBox="1"/>
                <p:nvPr/>
              </p:nvSpPr>
              <p:spPr>
                <a:xfrm>
                  <a:off x="660404" y="3740943"/>
                  <a:ext cx="2501896" cy="666195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ctr">
                    <a:defRPr/>
                  </a:pPr>
                  <a:r>
                    <a:rPr lang="en-US" sz="1800" b="1" i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用户数据被平台垄断</a:t>
                  </a:r>
                  <a:endParaRPr lang="en-US" sz="1100"/>
                </a:p>
              </p:txBody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660403" y="4407139"/>
                  <a:ext cx="2501897" cy="1448593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ctr">
                    <a:lnSpc>
                      <a:spcPct val="120000"/>
                    </a:lnSpc>
                    <a:defRPr/>
                  </a:pPr>
                  <a:r>
                    <a:rPr lang="en-US" sz="1200" b="0" i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用户数据完全由平台掌控，商家无法建立属于自己的用户资产，难以进行深度用户运营。</a:t>
                  </a:r>
                  <a:endParaRPr lang="en-US" sz="1100"/>
                </a:p>
              </p:txBody>
            </p:sp>
          </p:grpSp>
          <p:sp>
            <p:nvSpPr>
              <p:cNvPr id="19" name="TextBox 19"/>
              <p:cNvSpPr txBox="1"/>
              <p:nvPr/>
            </p:nvSpPr>
            <p:spPr>
              <a:xfrm>
                <a:off x="1687008" y="2544284"/>
                <a:ext cx="1233966" cy="1233966"/>
              </a:xfrm>
              <a:prstGeom prst="ellipse">
                <a:avLst/>
              </a:prstGeom>
              <a:solidFill>
                <a:srgbClr val="372E68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36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</p:grpSp>
      </p:grpSp>
      <p:sp>
        <p:nvSpPr>
          <p:cNvPr id="20" name="TextBox 20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 strike="noStrike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商家的局限性与影响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317998" y="1130300"/>
            <a:ext cx="7200901" cy="1398993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6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去中心化优势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4317999" y="2804883"/>
            <a:ext cx="7200901" cy="3604807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buFont typeface="Arial"/>
              <a:buChar char="•"/>
              <a:defRPr/>
            </a:pPr>
            <a:r>
              <a:rPr lang="en-US" sz="1400" b="0" i="0" strike="noStrike" dirty="0" err="1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链上结算与⽀付周期短</a:t>
            </a:r>
            <a:endParaRPr lang="en-US" sz="1100" dirty="0"/>
          </a:p>
          <a:p>
            <a:pPr algn="l">
              <a:lnSpc>
                <a:spcPct val="120000"/>
              </a:lnSpc>
              <a:spcBef>
                <a:spcPts val="1000"/>
              </a:spcBef>
              <a:buFont typeface="Arial"/>
              <a:buChar char="•"/>
            </a:pPr>
            <a:r>
              <a:rPr sz="1400" b="0" i="0" strike="noStrike" dirty="0" err="1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纠纷处理公正公开透明</a:t>
            </a:r>
            <a:endParaRPr dirty="0"/>
          </a:p>
          <a:p>
            <a:pPr algn="l">
              <a:lnSpc>
                <a:spcPct val="120000"/>
              </a:lnSpc>
              <a:spcBef>
                <a:spcPts val="1000"/>
              </a:spcBef>
              <a:buFont typeface="Arial"/>
              <a:buChar char="•"/>
            </a:pPr>
            <a:r>
              <a:rPr sz="1400" b="0" i="0" strike="noStrike" dirty="0" err="1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全球化与体验</a:t>
            </a:r>
            <a:endParaRPr dirty="0"/>
          </a:p>
          <a:p>
            <a:pPr algn="l">
              <a:lnSpc>
                <a:spcPct val="120000"/>
              </a:lnSpc>
              <a:spcBef>
                <a:spcPts val="1000"/>
              </a:spcBef>
              <a:buFont typeface="Arial"/>
              <a:buChar char="•"/>
            </a:pPr>
            <a:r>
              <a:rPr sz="1400" b="0" i="0" strike="noStrike" dirty="0" err="1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社区与多</a:t>
            </a:r>
            <a:r>
              <a:rPr sz="1400" b="0" i="0" strike="noStrike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⾓⾊</a:t>
            </a:r>
            <a:r>
              <a:rPr sz="1400" b="0" i="0" strike="noStrike" dirty="0" err="1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价值对</a:t>
            </a:r>
            <a:r>
              <a:rPr sz="1400" b="0" i="0" strike="noStrike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⻬</a:t>
            </a:r>
            <a:endParaRPr dirty="0"/>
          </a:p>
          <a:p>
            <a:pPr algn="l">
              <a:lnSpc>
                <a:spcPct val="120000"/>
              </a:lnSpc>
              <a:spcBef>
                <a:spcPts val="1000"/>
              </a:spcBef>
              <a:buFont typeface="Arial"/>
              <a:buChar char="•"/>
            </a:pPr>
            <a:r>
              <a:rPr sz="1400" b="0" i="0" strike="noStrike" dirty="0" err="1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平台社区驱动</a:t>
            </a:r>
            <a:endParaRPr dirty="0"/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endParaRPr dirty="0"/>
          </a:p>
        </p:txBody>
      </p:sp>
      <p:sp>
        <p:nvSpPr>
          <p:cNvPr id="4" name="TextBox 4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000000">
                    <a:alpha val="100000"/>
                    <a:tint val="75000"/>
                  </a:srgbClr>
                </a:solidFill>
                <a:latin typeface="Arial"/>
                <a:ea typeface="Arial"/>
                <a:cs typeface="Arial"/>
              </a:rPr>
              <a:t>3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9564cb3-66fd-41b1-8d24-884899572872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000000">
                    <a:alpha val="100000"/>
                    <a:tint val="75000"/>
                  </a:srgbClr>
                </a:solidFill>
                <a:latin typeface="Arial"/>
                <a:ea typeface="Arial"/>
                <a:cs typeface="Arial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660400" y="1130299"/>
            <a:ext cx="10858500" cy="4724401"/>
            <a:chOff x="660400" y="1130299"/>
            <a:chExt cx="10858500" cy="4724401"/>
          </a:xfrm>
        </p:grpSpPr>
        <p:sp>
          <p:nvSpPr>
            <p:cNvPr id="4" name="TextBox 4"/>
            <p:cNvSpPr txBox="1"/>
            <p:nvPr/>
          </p:nvSpPr>
          <p:spPr>
            <a:xfrm>
              <a:off x="660400" y="1130299"/>
              <a:ext cx="10858500" cy="1141415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t" anchorCtr="1"/>
            <a:lstStyle/>
            <a:p>
              <a:pPr algn="ctr">
                <a:defRPr/>
              </a:pPr>
              <a:r>
                <a:rPr lang="en-US" sz="2400" b="1" i="0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构建高效、透明的链上清结算体系</a:t>
              </a:r>
              <a:endParaRPr lang="en-US" sz="1100"/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660400" y="2497254"/>
              <a:ext cx="2641677" cy="3357446"/>
              <a:chOff x="979912" y="2497254"/>
              <a:chExt cx="2912332" cy="3357446"/>
            </a:xfrm>
          </p:grpSpPr>
          <p:sp>
            <p:nvSpPr>
              <p:cNvPr id="6" name="AutoShape 6"/>
              <p:cNvSpPr/>
              <p:nvPr/>
            </p:nvSpPr>
            <p:spPr>
              <a:xfrm>
                <a:off x="979912" y="2497254"/>
                <a:ext cx="2912332" cy="3357446"/>
              </a:xfrm>
              <a:prstGeom prst="rect">
                <a:avLst/>
              </a:prstGeom>
              <a:solidFill>
                <a:srgbClr val="768394">
                  <a:alpha val="10196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zh-CN" altLang="en-US" dirty="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1109681" y="3541770"/>
                <a:ext cx="2652794" cy="79289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稳定币支付选项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109682" y="2627396"/>
                <a:ext cx="2652792" cy="68883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t" anchorCtr="0"/>
              <a:lstStyle/>
              <a:p>
                <a:pPr algn="ctr">
                  <a:defRPr/>
                </a:pPr>
                <a:r>
                  <a:rPr lang="en-US" sz="32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109682" y="4334664"/>
                <a:ext cx="2652792" cy="139303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 strike="noStrike" dirty="0" err="1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支持</a:t>
                </a:r>
                <a:r>
                  <a:rPr lang="en-US" altLang="zh-CN" sz="1200" b="0" i="0" strike="noStrike" dirty="0" err="1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EURC</a:t>
                </a:r>
                <a:r>
                  <a:rPr lang="en-US" sz="1200" b="0" i="0" strike="noStrike" dirty="0" err="1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、USDC等主流稳定币</a:t>
                </a:r>
                <a:r>
                  <a:rPr lang="zh-CN" altLang="en-US" sz="1200" b="0" i="0" strike="noStrike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支付、跨链支付</a:t>
                </a:r>
                <a:r>
                  <a:rPr lang="en-US" sz="1200" b="0" i="0" strike="noStrike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，</a:t>
                </a:r>
                <a:r>
                  <a:rPr lang="en-US" sz="1200" b="0" i="0" strike="noStrike" dirty="0" err="1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为用户提供熟悉且价值稳定的支付选择，符合传统支付习惯</a:t>
                </a:r>
                <a:r>
                  <a:rPr lang="en-US" sz="1200" b="0" i="0" strike="noStrike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。</a:t>
                </a:r>
                <a:endParaRPr lang="en-US" sz="1100" dirty="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3399341" y="2497254"/>
              <a:ext cx="2641677" cy="3357446"/>
              <a:chOff x="4633484" y="2497254"/>
              <a:chExt cx="2912332" cy="3357446"/>
            </a:xfrm>
          </p:grpSpPr>
          <p:sp>
            <p:nvSpPr>
              <p:cNvPr id="11" name="AutoShape 11"/>
              <p:cNvSpPr/>
              <p:nvPr/>
            </p:nvSpPr>
            <p:spPr>
              <a:xfrm>
                <a:off x="4633484" y="2497254"/>
                <a:ext cx="2912332" cy="3357446"/>
              </a:xfrm>
              <a:prstGeom prst="rect">
                <a:avLst/>
              </a:prstGeom>
              <a:solidFill>
                <a:srgbClr val="372E68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4763253" y="3541770"/>
                <a:ext cx="2652794" cy="79289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链上清结算路径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4763254" y="2627396"/>
                <a:ext cx="2652792" cy="68883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t" anchorCtr="0"/>
              <a:lstStyle/>
              <a:p>
                <a:pPr algn="ctr">
                  <a:defRPr/>
                </a:pPr>
                <a:r>
                  <a:rPr lang="en-US" sz="32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763254" y="4334664"/>
                <a:ext cx="2652792" cy="139303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 strike="noStrike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交易直接在链上进行清结算，路径清晰，到账和状态变更可实时查证，周期短，过程透明。</a:t>
                </a:r>
                <a:endParaRPr lang="en-US" sz="1100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6138282" y="2497254"/>
              <a:ext cx="2641677" cy="3357446"/>
              <a:chOff x="8287056" y="2497254"/>
              <a:chExt cx="2912332" cy="3357446"/>
            </a:xfrm>
          </p:grpSpPr>
          <p:sp>
            <p:nvSpPr>
              <p:cNvPr id="16" name="AutoShape 16"/>
              <p:cNvSpPr/>
              <p:nvPr/>
            </p:nvSpPr>
            <p:spPr>
              <a:xfrm>
                <a:off x="8287056" y="2497254"/>
                <a:ext cx="2912332" cy="3357446"/>
              </a:xfrm>
              <a:prstGeom prst="rect">
                <a:avLst/>
              </a:prstGeom>
              <a:solidFill>
                <a:srgbClr val="768394">
                  <a:alpha val="10196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8416825" y="3541770"/>
                <a:ext cx="2652794" cy="79289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平台通证生态激励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8416826" y="2627396"/>
                <a:ext cx="2652792" cy="68883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t" anchorCtr="0"/>
              <a:lstStyle/>
              <a:p>
                <a:pPr algn="ctr">
                  <a:defRPr/>
                </a:pPr>
                <a:r>
                  <a:rPr lang="en-US" sz="32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8416826" y="4334664"/>
                <a:ext cx="2652792" cy="139303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 strike="noStrike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平台原生代币SAP用于生态激励与治理，将平台价值与参与者深度绑定，形成正向循环。</a:t>
                </a:r>
                <a:endParaRPr lang="en-US" sz="1100"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8877223" y="2497254"/>
              <a:ext cx="2641677" cy="3357446"/>
              <a:chOff x="4633484" y="2497254"/>
              <a:chExt cx="2912332" cy="3357446"/>
            </a:xfrm>
          </p:grpSpPr>
          <p:sp>
            <p:nvSpPr>
              <p:cNvPr id="21" name="AutoShape 21"/>
              <p:cNvSpPr/>
              <p:nvPr/>
            </p:nvSpPr>
            <p:spPr>
              <a:xfrm>
                <a:off x="4633484" y="2497254"/>
                <a:ext cx="2912332" cy="3357446"/>
              </a:xfrm>
              <a:prstGeom prst="rect">
                <a:avLst/>
              </a:prstGeom>
              <a:solidFill>
                <a:srgbClr val="372E68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4763253" y="3541770"/>
                <a:ext cx="2652794" cy="79289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交易状态可审计</a:t>
                </a:r>
                <a:endParaRPr lang="en-US" sz="1100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4763254" y="2627396"/>
                <a:ext cx="2652792" cy="68883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t" anchorCtr="0"/>
              <a:lstStyle/>
              <a:p>
                <a:pPr algn="ctr">
                  <a:defRPr/>
                </a:pPr>
                <a:r>
                  <a:rPr lang="en-US" sz="32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04</a:t>
                </a:r>
                <a:endParaRPr lang="en-US" sz="1100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763254" y="4334664"/>
                <a:ext cx="2652792" cy="139303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 strike="noStrike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所有订单和资产状态记录在链上，任何人均可查询审计，保障了交易的公开透明。</a:t>
                </a:r>
                <a:endParaRPr lang="en-US" sz="1100"/>
              </a:p>
            </p:txBody>
          </p:sp>
        </p:grpSp>
      </p:grpSp>
      <p:sp>
        <p:nvSpPr>
          <p:cNvPr id="25" name="TextBox 25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链上结算与支付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579efca8-87ee-4f49-a227-08e25457077e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000000">
                    <a:alpha val="100000"/>
                    <a:tint val="75000"/>
                  </a:srgbClr>
                </a:solidFill>
                <a:latin typeface="Arial"/>
                <a:ea typeface="Arial"/>
                <a:cs typeface="Arial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660400" y="1130300"/>
            <a:ext cx="10858500" cy="5003800"/>
            <a:chOff x="660400" y="1130300"/>
            <a:chExt cx="10858500" cy="5003800"/>
          </a:xfrm>
        </p:grpSpPr>
        <p:sp>
          <p:nvSpPr>
            <p:cNvPr id="4" name="TextBox 4"/>
            <p:cNvSpPr txBox="1"/>
            <p:nvPr/>
          </p:nvSpPr>
          <p:spPr>
            <a:xfrm>
              <a:off x="660400" y="1130300"/>
              <a:ext cx="10858500" cy="461665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t" anchorCtr="1"/>
            <a:lstStyle/>
            <a:p>
              <a:pPr algn="ctr">
                <a:defRPr/>
              </a:pPr>
              <a:r>
                <a:rPr lang="en-US" sz="1800" b="1" i="0" strike="noStrike"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打造无国界、友好的Web3用户体验</a:t>
              </a:r>
              <a:endParaRPr lang="en-US" sz="1100"/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1465920" y="1966174"/>
              <a:ext cx="2969251" cy="4167926"/>
              <a:chOff x="1465920" y="1966174"/>
              <a:chExt cx="2969251" cy="4167926"/>
            </a:xfrm>
          </p:grpSpPr>
          <p:sp>
            <p:nvSpPr>
              <p:cNvPr id="6" name="AutoShape 6"/>
              <p:cNvSpPr/>
              <p:nvPr/>
            </p:nvSpPr>
            <p:spPr>
              <a:xfrm>
                <a:off x="1465922" y="2915516"/>
                <a:ext cx="2969249" cy="3218584"/>
              </a:xfrm>
              <a:prstGeom prst="roundRect">
                <a:avLst>
                  <a:gd name="adj" fmla="val 4000"/>
                </a:avLst>
              </a:prstGeom>
              <a:solidFill>
                <a:srgbClr val="768394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2602983" y="1966174"/>
                <a:ext cx="695126" cy="695126"/>
              </a:xfrm>
              <a:prstGeom prst="ellipse">
                <a:avLst/>
              </a:prstGeom>
              <a:solidFill>
                <a:srgbClr val="768394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465921" y="3019418"/>
                <a:ext cx="2969249" cy="73872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内置多语言支持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465920" y="3758141"/>
                <a:ext cx="2969249" cy="188169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DApp内置中英文(i18n)，文档与产品口径双语，旨在服务全球用户，拓展国际市场。</a:t>
                </a:r>
                <a:endParaRPr lang="en-US" sz="110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4605023" y="1966174"/>
              <a:ext cx="2969253" cy="4167926"/>
              <a:chOff x="4605023" y="1966174"/>
              <a:chExt cx="2969253" cy="4167926"/>
            </a:xfrm>
          </p:grpSpPr>
          <p:sp>
            <p:nvSpPr>
              <p:cNvPr id="11" name="AutoShape 11"/>
              <p:cNvSpPr/>
              <p:nvPr/>
            </p:nvSpPr>
            <p:spPr>
              <a:xfrm>
                <a:off x="4605027" y="2915516"/>
                <a:ext cx="2969249" cy="3218584"/>
              </a:xfrm>
              <a:prstGeom prst="roundRect">
                <a:avLst>
                  <a:gd name="adj" fmla="val 4000"/>
                </a:avLst>
              </a:prstGeom>
              <a:solidFill>
                <a:srgbClr val="768394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5742088" y="1966174"/>
                <a:ext cx="695126" cy="695126"/>
              </a:xfrm>
              <a:prstGeom prst="ellipse">
                <a:avLst/>
              </a:prstGeom>
              <a:solidFill>
                <a:srgbClr val="372E68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4605025" y="3035509"/>
                <a:ext cx="2969249" cy="73872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372E68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清晰的交易反馈</a:t>
                </a:r>
                <a:endParaRPr lang="en-US" sz="110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605023" y="3774232"/>
                <a:ext cx="2969249" cy="188169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主交易路径强调钱包连接、网络状态与余额反馈，清晰明了，有效降低用户误操作成本。</a:t>
                </a:r>
                <a:endParaRPr lang="en-US" sz="1100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7744130" y="1966174"/>
              <a:ext cx="2969250" cy="4167926"/>
              <a:chOff x="7744130" y="1966174"/>
              <a:chExt cx="2969250" cy="4167926"/>
            </a:xfrm>
          </p:grpSpPr>
          <p:sp>
            <p:nvSpPr>
              <p:cNvPr id="16" name="AutoShape 16"/>
              <p:cNvSpPr/>
              <p:nvPr/>
            </p:nvSpPr>
            <p:spPr>
              <a:xfrm>
                <a:off x="7744131" y="2915516"/>
                <a:ext cx="2969249" cy="3218584"/>
              </a:xfrm>
              <a:prstGeom prst="roundRect">
                <a:avLst>
                  <a:gd name="adj" fmla="val 4000"/>
                </a:avLst>
              </a:prstGeom>
              <a:solidFill>
                <a:srgbClr val="768394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8881193" y="1966174"/>
                <a:ext cx="695126" cy="695126"/>
              </a:xfrm>
              <a:prstGeom prst="ellipse">
                <a:avLst/>
              </a:prstGeom>
              <a:solidFill>
                <a:srgbClr val="768394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7744131" y="3035509"/>
                <a:ext cx="2969249" cy="73872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响应式Web3视觉</a:t>
                </a:r>
                <a:endParaRPr lang="en-US" sz="110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7744130" y="3774232"/>
                <a:ext cx="2969249" cy="188169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采用暗色Web3视觉设计与响应式布局，确保在桌面与移动端均可一屏内完成核心操作，体验流畅。</a:t>
                </a:r>
                <a:endParaRPr lang="en-US" sz="1100"/>
              </a:p>
            </p:txBody>
          </p:sp>
        </p:grpSp>
      </p:grpSp>
      <p:sp>
        <p:nvSpPr>
          <p:cNvPr id="20" name="TextBox 20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全球化与体验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91e0549-a304-49e1-90d4-4f115e0eaa4d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000000">
                    <a:alpha val="100000"/>
                    <a:tint val="75000"/>
                  </a:srgbClr>
                </a:solidFill>
                <a:latin typeface="Arial"/>
                <a:ea typeface="Arial"/>
                <a:cs typeface="Arial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660400" y="1130300"/>
            <a:ext cx="10858500" cy="5003800"/>
            <a:chOff x="660400" y="1130300"/>
            <a:chExt cx="10858500" cy="5003800"/>
          </a:xfrm>
        </p:grpSpPr>
        <p:sp>
          <p:nvSpPr>
            <p:cNvPr id="4" name="TextBox 4"/>
            <p:cNvSpPr txBox="1"/>
            <p:nvPr/>
          </p:nvSpPr>
          <p:spPr>
            <a:xfrm>
              <a:off x="660400" y="1130300"/>
              <a:ext cx="10858500" cy="620192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  <a:r>
                <a:rPr lang="en-US" sz="1800" b="1" i="0" strike="noStrike"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通过DAO治理和平台多角色实现平台价值共享</a:t>
              </a:r>
              <a:endParaRPr lang="en-US" sz="1100"/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660400" y="2045266"/>
              <a:ext cx="2560738" cy="4088834"/>
              <a:chOff x="660400" y="2045266"/>
              <a:chExt cx="2560738" cy="4088834"/>
            </a:xfrm>
          </p:grpSpPr>
          <p:sp>
            <p:nvSpPr>
              <p:cNvPr id="6" name="AutoShape 6"/>
              <p:cNvSpPr/>
              <p:nvPr/>
            </p:nvSpPr>
            <p:spPr>
              <a:xfrm>
                <a:off x="814566" y="2192775"/>
                <a:ext cx="2406572" cy="3941325"/>
              </a:xfrm>
              <a:prstGeom prst="roundRect">
                <a:avLst>
                  <a:gd name="adj" fmla="val 3195"/>
                </a:avLst>
              </a:prstGeom>
              <a:solidFill>
                <a:srgbClr val="372E68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660400" y="2045266"/>
                <a:ext cx="454380" cy="450122"/>
              </a:xfrm>
              <a:custGeom>
                <a:avLst/>
                <a:gdLst/>
                <a:ahLst/>
                <a:cxnLst/>
                <a:rect l="l" t="t" r="r" b="b"/>
                <a:pathLst>
                  <a:path w="636309" h="636309">
                    <a:moveTo>
                      <a:pt x="0" y="318154"/>
                    </a:moveTo>
                    <a:cubicBezTo>
                      <a:pt x="0" y="259584"/>
                      <a:pt x="23740" y="206558"/>
                      <a:pt x="62124" y="168175"/>
                    </a:cubicBezTo>
                    <a:lnTo>
                      <a:pt x="125467" y="125467"/>
                    </a:lnTo>
                    <a:lnTo>
                      <a:pt x="168175" y="62124"/>
                    </a:lnTo>
                    <a:cubicBezTo>
                      <a:pt x="206558" y="23740"/>
                      <a:pt x="259584" y="0"/>
                      <a:pt x="318154" y="0"/>
                    </a:cubicBezTo>
                    <a:cubicBezTo>
                      <a:pt x="376725" y="0"/>
                      <a:pt x="429750" y="23741"/>
                      <a:pt x="468133" y="62124"/>
                    </a:cubicBezTo>
                    <a:lnTo>
                      <a:pt x="510840" y="125466"/>
                    </a:lnTo>
                    <a:lnTo>
                      <a:pt x="574185" y="168175"/>
                    </a:lnTo>
                    <a:cubicBezTo>
                      <a:pt x="612569" y="206558"/>
                      <a:pt x="636309" y="259584"/>
                      <a:pt x="636309" y="318154"/>
                    </a:cubicBezTo>
                    <a:cubicBezTo>
                      <a:pt x="636309" y="376725"/>
                      <a:pt x="612569" y="429750"/>
                      <a:pt x="574185" y="468133"/>
                    </a:cubicBezTo>
                    <a:lnTo>
                      <a:pt x="510841" y="510841"/>
                    </a:lnTo>
                    <a:lnTo>
                      <a:pt x="468133" y="574185"/>
                    </a:lnTo>
                    <a:cubicBezTo>
                      <a:pt x="429750" y="612569"/>
                      <a:pt x="376725" y="636309"/>
                      <a:pt x="318154" y="636309"/>
                    </a:cubicBezTo>
                    <a:cubicBezTo>
                      <a:pt x="259584" y="636309"/>
                      <a:pt x="206558" y="612569"/>
                      <a:pt x="168175" y="574185"/>
                    </a:cubicBezTo>
                    <a:lnTo>
                      <a:pt x="125466" y="510840"/>
                    </a:lnTo>
                    <a:lnTo>
                      <a:pt x="62124" y="468133"/>
                    </a:lnTo>
                    <a:cubicBezTo>
                      <a:pt x="23740" y="429750"/>
                      <a:pt x="0" y="376725"/>
                      <a:pt x="0" y="318154"/>
                    </a:cubicBezTo>
                    <a:close/>
                  </a:path>
                </a:pathLst>
              </a:custGeom>
              <a:solidFill>
                <a:srgbClr val="372E68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1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925415" y="2560874"/>
                <a:ext cx="2184875" cy="861846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DAO社区治理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925415" y="3422719"/>
                <a:ext cx="2184875" cy="2487587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以SAP作为治理凭证，用户可就费率、功能迭代、金库用途等平台级事项发起提案、参与讨论并投票。</a:t>
                </a:r>
                <a:endParaRPr lang="en-US" sz="110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3426321" y="2045266"/>
              <a:ext cx="2560738" cy="4088834"/>
              <a:chOff x="3426321" y="2045266"/>
              <a:chExt cx="2560738" cy="4088834"/>
            </a:xfrm>
          </p:grpSpPr>
          <p:sp>
            <p:nvSpPr>
              <p:cNvPr id="11" name="AutoShape 11"/>
              <p:cNvSpPr/>
              <p:nvPr/>
            </p:nvSpPr>
            <p:spPr>
              <a:xfrm>
                <a:off x="3580487" y="2192775"/>
                <a:ext cx="2406572" cy="3941325"/>
              </a:xfrm>
              <a:prstGeom prst="roundRect">
                <a:avLst>
                  <a:gd name="adj" fmla="val 3195"/>
                </a:avLst>
              </a:prstGeom>
              <a:solidFill>
                <a:srgbClr val="372E68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3426321" y="2045266"/>
                <a:ext cx="454380" cy="450122"/>
              </a:xfrm>
              <a:custGeom>
                <a:avLst/>
                <a:gdLst/>
                <a:ahLst/>
                <a:cxnLst/>
                <a:rect l="l" t="t" r="r" b="b"/>
                <a:pathLst>
                  <a:path w="636309" h="636309">
                    <a:moveTo>
                      <a:pt x="0" y="318154"/>
                    </a:moveTo>
                    <a:cubicBezTo>
                      <a:pt x="0" y="259584"/>
                      <a:pt x="23740" y="206558"/>
                      <a:pt x="62124" y="168175"/>
                    </a:cubicBezTo>
                    <a:lnTo>
                      <a:pt x="125467" y="125467"/>
                    </a:lnTo>
                    <a:lnTo>
                      <a:pt x="168175" y="62124"/>
                    </a:lnTo>
                    <a:cubicBezTo>
                      <a:pt x="206558" y="23740"/>
                      <a:pt x="259584" y="0"/>
                      <a:pt x="318154" y="0"/>
                    </a:cubicBezTo>
                    <a:cubicBezTo>
                      <a:pt x="376725" y="0"/>
                      <a:pt x="429750" y="23741"/>
                      <a:pt x="468133" y="62124"/>
                    </a:cubicBezTo>
                    <a:lnTo>
                      <a:pt x="510840" y="125466"/>
                    </a:lnTo>
                    <a:lnTo>
                      <a:pt x="574185" y="168175"/>
                    </a:lnTo>
                    <a:cubicBezTo>
                      <a:pt x="612569" y="206558"/>
                      <a:pt x="636309" y="259584"/>
                      <a:pt x="636309" y="318154"/>
                    </a:cubicBezTo>
                    <a:cubicBezTo>
                      <a:pt x="636309" y="376725"/>
                      <a:pt x="612569" y="429750"/>
                      <a:pt x="574185" y="468133"/>
                    </a:cubicBezTo>
                    <a:lnTo>
                      <a:pt x="510841" y="510841"/>
                    </a:lnTo>
                    <a:lnTo>
                      <a:pt x="468133" y="574185"/>
                    </a:lnTo>
                    <a:cubicBezTo>
                      <a:pt x="429750" y="612569"/>
                      <a:pt x="376725" y="636309"/>
                      <a:pt x="318154" y="636309"/>
                    </a:cubicBezTo>
                    <a:cubicBezTo>
                      <a:pt x="259584" y="636309"/>
                      <a:pt x="206558" y="612569"/>
                      <a:pt x="168175" y="574185"/>
                    </a:cubicBezTo>
                    <a:lnTo>
                      <a:pt x="125466" y="510840"/>
                    </a:lnTo>
                    <a:lnTo>
                      <a:pt x="62124" y="468133"/>
                    </a:lnTo>
                    <a:cubicBezTo>
                      <a:pt x="23740" y="429750"/>
                      <a:pt x="0" y="376725"/>
                      <a:pt x="0" y="318154"/>
                    </a:cubicBezTo>
                    <a:close/>
                  </a:path>
                </a:pathLst>
              </a:custGeom>
              <a:solidFill>
                <a:srgbClr val="372E68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2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3691336" y="2560874"/>
                <a:ext cx="2184875" cy="861846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多角色收益模型</a:t>
                </a:r>
                <a:endParaRPr lang="en-US" sz="110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3691336" y="3422719"/>
                <a:ext cx="2184875" cy="2487587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买家、创作者、社区贡献者等不同角色在同一套规则下各取所需，各担其责，共享平台发展成果。</a:t>
                </a:r>
                <a:endParaRPr lang="en-US" sz="1100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6192242" y="2045266"/>
              <a:ext cx="2560738" cy="4088834"/>
              <a:chOff x="6192242" y="2045266"/>
              <a:chExt cx="2560738" cy="4088834"/>
            </a:xfrm>
          </p:grpSpPr>
          <p:sp>
            <p:nvSpPr>
              <p:cNvPr id="16" name="AutoShape 16"/>
              <p:cNvSpPr/>
              <p:nvPr/>
            </p:nvSpPr>
            <p:spPr>
              <a:xfrm>
                <a:off x="6346408" y="2192775"/>
                <a:ext cx="2406572" cy="3941325"/>
              </a:xfrm>
              <a:prstGeom prst="roundRect">
                <a:avLst>
                  <a:gd name="adj" fmla="val 3195"/>
                </a:avLst>
              </a:prstGeom>
              <a:solidFill>
                <a:srgbClr val="372E68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6192242" y="2045266"/>
                <a:ext cx="454380" cy="450122"/>
              </a:xfrm>
              <a:custGeom>
                <a:avLst/>
                <a:gdLst/>
                <a:ahLst/>
                <a:cxnLst/>
                <a:rect l="l" t="t" r="r" b="b"/>
                <a:pathLst>
                  <a:path w="636309" h="636309">
                    <a:moveTo>
                      <a:pt x="0" y="318154"/>
                    </a:moveTo>
                    <a:cubicBezTo>
                      <a:pt x="0" y="259584"/>
                      <a:pt x="23740" y="206558"/>
                      <a:pt x="62124" y="168175"/>
                    </a:cubicBezTo>
                    <a:lnTo>
                      <a:pt x="125467" y="125467"/>
                    </a:lnTo>
                    <a:lnTo>
                      <a:pt x="168175" y="62124"/>
                    </a:lnTo>
                    <a:cubicBezTo>
                      <a:pt x="206558" y="23740"/>
                      <a:pt x="259584" y="0"/>
                      <a:pt x="318154" y="0"/>
                    </a:cubicBezTo>
                    <a:cubicBezTo>
                      <a:pt x="376725" y="0"/>
                      <a:pt x="429750" y="23741"/>
                      <a:pt x="468133" y="62124"/>
                    </a:cubicBezTo>
                    <a:lnTo>
                      <a:pt x="510840" y="125466"/>
                    </a:lnTo>
                    <a:lnTo>
                      <a:pt x="574185" y="168175"/>
                    </a:lnTo>
                    <a:cubicBezTo>
                      <a:pt x="612569" y="206558"/>
                      <a:pt x="636309" y="259584"/>
                      <a:pt x="636309" y="318154"/>
                    </a:cubicBezTo>
                    <a:cubicBezTo>
                      <a:pt x="636309" y="376725"/>
                      <a:pt x="612569" y="429750"/>
                      <a:pt x="574185" y="468133"/>
                    </a:cubicBezTo>
                    <a:lnTo>
                      <a:pt x="510841" y="510841"/>
                    </a:lnTo>
                    <a:lnTo>
                      <a:pt x="468133" y="574185"/>
                    </a:lnTo>
                    <a:cubicBezTo>
                      <a:pt x="429750" y="612569"/>
                      <a:pt x="376725" y="636309"/>
                      <a:pt x="318154" y="636309"/>
                    </a:cubicBezTo>
                    <a:cubicBezTo>
                      <a:pt x="259584" y="636309"/>
                      <a:pt x="206558" y="612569"/>
                      <a:pt x="168175" y="574185"/>
                    </a:cubicBezTo>
                    <a:lnTo>
                      <a:pt x="125466" y="510840"/>
                    </a:lnTo>
                    <a:lnTo>
                      <a:pt x="62124" y="468133"/>
                    </a:lnTo>
                    <a:cubicBezTo>
                      <a:pt x="23740" y="429750"/>
                      <a:pt x="0" y="376725"/>
                      <a:pt x="0" y="318154"/>
                    </a:cubicBezTo>
                    <a:close/>
                  </a:path>
                </a:pathLst>
              </a:custGeom>
              <a:solidFill>
                <a:srgbClr val="372E68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3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6457257" y="2560874"/>
                <a:ext cx="2184875" cy="861846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平台金库透明管理</a:t>
                </a:r>
                <a:endParaRPr lang="en-US" sz="110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6457257" y="3422719"/>
                <a:ext cx="2184875" cy="2487587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平台手续费等收入进入DAO金库，其用途（如回购销毁、生态激励）由社区治理决定，公开透明。</a:t>
                </a:r>
                <a:endParaRPr lang="en-US" sz="1100"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8958162" y="2045266"/>
              <a:ext cx="2560738" cy="4088834"/>
              <a:chOff x="8958162" y="2045266"/>
              <a:chExt cx="2560738" cy="4088834"/>
            </a:xfrm>
          </p:grpSpPr>
          <p:sp>
            <p:nvSpPr>
              <p:cNvPr id="21" name="AutoShape 21"/>
              <p:cNvSpPr/>
              <p:nvPr/>
            </p:nvSpPr>
            <p:spPr>
              <a:xfrm>
                <a:off x="9112328" y="2192775"/>
                <a:ext cx="2406572" cy="3941325"/>
              </a:xfrm>
              <a:prstGeom prst="roundRect">
                <a:avLst>
                  <a:gd name="adj" fmla="val 3195"/>
                </a:avLst>
              </a:prstGeom>
              <a:solidFill>
                <a:srgbClr val="372E68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8958162" y="2045266"/>
                <a:ext cx="454380" cy="450122"/>
              </a:xfrm>
              <a:custGeom>
                <a:avLst/>
                <a:gdLst/>
                <a:ahLst/>
                <a:cxnLst/>
                <a:rect l="l" t="t" r="r" b="b"/>
                <a:pathLst>
                  <a:path w="636309" h="636309">
                    <a:moveTo>
                      <a:pt x="0" y="318154"/>
                    </a:moveTo>
                    <a:cubicBezTo>
                      <a:pt x="0" y="259584"/>
                      <a:pt x="23740" y="206558"/>
                      <a:pt x="62124" y="168175"/>
                    </a:cubicBezTo>
                    <a:lnTo>
                      <a:pt x="125467" y="125467"/>
                    </a:lnTo>
                    <a:lnTo>
                      <a:pt x="168175" y="62124"/>
                    </a:lnTo>
                    <a:cubicBezTo>
                      <a:pt x="206558" y="23740"/>
                      <a:pt x="259584" y="0"/>
                      <a:pt x="318154" y="0"/>
                    </a:cubicBezTo>
                    <a:cubicBezTo>
                      <a:pt x="376725" y="0"/>
                      <a:pt x="429750" y="23741"/>
                      <a:pt x="468133" y="62124"/>
                    </a:cubicBezTo>
                    <a:lnTo>
                      <a:pt x="510840" y="125466"/>
                    </a:lnTo>
                    <a:lnTo>
                      <a:pt x="574185" y="168175"/>
                    </a:lnTo>
                    <a:cubicBezTo>
                      <a:pt x="612569" y="206558"/>
                      <a:pt x="636309" y="259584"/>
                      <a:pt x="636309" y="318154"/>
                    </a:cubicBezTo>
                    <a:cubicBezTo>
                      <a:pt x="636309" y="376725"/>
                      <a:pt x="612569" y="429750"/>
                      <a:pt x="574185" y="468133"/>
                    </a:cubicBezTo>
                    <a:lnTo>
                      <a:pt x="510841" y="510841"/>
                    </a:lnTo>
                    <a:lnTo>
                      <a:pt x="468133" y="574185"/>
                    </a:lnTo>
                    <a:cubicBezTo>
                      <a:pt x="429750" y="612569"/>
                      <a:pt x="376725" y="636309"/>
                      <a:pt x="318154" y="636309"/>
                    </a:cubicBezTo>
                    <a:cubicBezTo>
                      <a:pt x="259584" y="636309"/>
                      <a:pt x="206558" y="612569"/>
                      <a:pt x="168175" y="574185"/>
                    </a:cubicBezTo>
                    <a:lnTo>
                      <a:pt x="125466" y="510840"/>
                    </a:lnTo>
                    <a:lnTo>
                      <a:pt x="62124" y="468133"/>
                    </a:lnTo>
                    <a:cubicBezTo>
                      <a:pt x="23740" y="429750"/>
                      <a:pt x="0" y="376725"/>
                      <a:pt x="0" y="318154"/>
                    </a:cubicBezTo>
                    <a:close/>
                  </a:path>
                </a:pathLst>
              </a:custGeom>
              <a:solidFill>
                <a:srgbClr val="372E68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4</a:t>
                </a:r>
                <a:endParaRPr lang="en-US" sz="1100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9223177" y="2560874"/>
                <a:ext cx="2184875" cy="861846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从运营驱动到共识驱动</a:t>
                </a:r>
                <a:endParaRPr lang="en-US" sz="1100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9223177" y="3422719"/>
                <a:ext cx="2184875" cy="2487587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 dirty="0" err="1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平台运营决策逐步从单一运营方过渡到社区共识驱动，确保发展方向的公平性与可持续性</a:t>
                </a:r>
                <a:r>
                  <a:rPr lang="en-US" sz="1200" b="0" i="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。</a:t>
                </a:r>
                <a:endParaRPr lang="en-US" sz="1100" dirty="0"/>
              </a:p>
            </p:txBody>
          </p:sp>
        </p:grpSp>
      </p:grpSp>
      <p:sp>
        <p:nvSpPr>
          <p:cNvPr id="25" name="TextBox 25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社区与价值对齐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317998" y="1130300"/>
            <a:ext cx="7200901" cy="1398993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6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角色与收益模型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4317998" y="2529293"/>
            <a:ext cx="7200901" cy="3604807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1400" b="0" i="0" strike="noStrike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• 普通⽤⼾ / 买家：浏览购买虚拟商品；可参与治理投票、审核、仲裁与任务获取 SAP 或权益。</a:t>
            </a:r>
            <a:endParaRPr lang="en-US" sz="1100"/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sz="1400" b="0" i="0" strike="noStrike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• 创作者 / 认证商家：完成认证后上架商品（元数据与⽂件可⾛ IPFS 等去中⼼化存储）；销售收⼊归创作者，平台按规则收取⼿续 费等。</a:t>
            </a:r>
            <a:endParaRPr/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sz="1400" b="0" i="0" strike="noStrike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• 社区贡献者 / 陪审员：参与商品审核与纠纷裁决，按规则获得激励；陪审资格与商家保证⾦等与 SAP</a:t>
            </a:r>
            <a:endParaRPr/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sz="1400" b="0" i="0" strike="noStrike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• 平台 / DAO ⾦库：⼿续费与部分费⽤进⼊⾦库，由 DAO 决定回购销毁、⽣态激励或建设投⼊ 。</a:t>
            </a:r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000000">
                    <a:alpha val="100000"/>
                    <a:tint val="75000"/>
                  </a:srgbClr>
                </a:solidFill>
                <a:latin typeface="Arial"/>
                <a:ea typeface="Arial"/>
                <a:cs typeface="Arial"/>
              </a:rPr>
              <a:t>3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44475509-f323-4d47-be97-dfe446b8ef2c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000000">
                    <a:alpha val="100000"/>
                    <a:tint val="75000"/>
                  </a:srgbClr>
                </a:solidFill>
                <a:latin typeface="Arial"/>
                <a:ea typeface="Arial"/>
                <a:cs typeface="Arial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660399" y="1130301"/>
            <a:ext cx="10858501" cy="5105399"/>
            <a:chOff x="660399" y="1130301"/>
            <a:chExt cx="10858501" cy="5105399"/>
          </a:xfrm>
        </p:grpSpPr>
        <p:sp>
          <p:nvSpPr>
            <p:cNvPr id="4" name="TextBox 4"/>
            <p:cNvSpPr txBox="1"/>
            <p:nvPr/>
          </p:nvSpPr>
          <p:spPr>
            <a:xfrm>
              <a:off x="660399" y="1130301"/>
              <a:ext cx="10858500" cy="480060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lnSpc>
                  <a:spcPct val="108000"/>
                </a:lnSpc>
                <a:defRPr/>
              </a:pPr>
              <a:r>
                <a:rPr lang="en-US" sz="2400" b="1" i="0" strike="noStrike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清晰定义平台生态中各参与方的身份与职责</a:t>
              </a:r>
              <a:endParaRPr lang="en-US" sz="1100"/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660400" y="1711961"/>
              <a:ext cx="2564617" cy="4523739"/>
              <a:chOff x="660400" y="1711961"/>
              <a:chExt cx="3161058" cy="4523739"/>
            </a:xfrm>
          </p:grpSpPr>
          <p:grpSp>
            <p:nvGrpSpPr>
              <p:cNvPr id="6" name="Group 6"/>
              <p:cNvGrpSpPr/>
              <p:nvPr/>
            </p:nvGrpSpPr>
            <p:grpSpPr>
              <a:xfrm>
                <a:off x="660400" y="1711961"/>
                <a:ext cx="3161058" cy="4523739"/>
                <a:chOff x="660400" y="1610361"/>
                <a:chExt cx="3161058" cy="4523739"/>
              </a:xfrm>
            </p:grpSpPr>
            <p:sp>
              <p:nvSpPr>
                <p:cNvPr id="7" name="AutoShape 7"/>
                <p:cNvSpPr/>
                <p:nvPr/>
              </p:nvSpPr>
              <p:spPr>
                <a:xfrm>
                  <a:off x="660400" y="1868557"/>
                  <a:ext cx="3161058" cy="4265543"/>
                </a:xfrm>
                <a:prstGeom prst="roundRect">
                  <a:avLst>
                    <a:gd name="adj" fmla="val 10596"/>
                  </a:avLst>
                </a:prstGeom>
                <a:solidFill>
                  <a:srgbClr val="3462E1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8" name="TextBox 8"/>
                <p:cNvSpPr txBox="1"/>
                <p:nvPr/>
              </p:nvSpPr>
              <p:spPr>
                <a:xfrm>
                  <a:off x="1819391" y="1610361"/>
                  <a:ext cx="843075" cy="684000"/>
                </a:xfrm>
                <a:prstGeom prst="ellipse">
                  <a:avLst/>
                </a:prstGeom>
                <a:solidFill>
                  <a:srgbClr val="372E68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ctr" anchorCtr="0"/>
                <a:lstStyle/>
                <a:p>
                  <a:pPr algn="ctr">
                    <a:lnSpc>
                      <a:spcPct val="108000"/>
                    </a:lnSpc>
                    <a:defRPr/>
                  </a:pPr>
                  <a:r>
                    <a:rPr lang="en-US" sz="2400" b="1" i="0">
                      <a:ln/>
                      <a:solidFill>
                        <a:srgbClr val="FFFFFF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01</a:t>
                  </a:r>
                  <a:endParaRPr lang="en-US" sz="1100"/>
                </a:p>
              </p:txBody>
            </p:sp>
          </p:grpSp>
          <p:sp>
            <p:nvSpPr>
              <p:cNvPr id="9" name="TextBox 9"/>
              <p:cNvSpPr txBox="1"/>
              <p:nvPr/>
            </p:nvSpPr>
            <p:spPr>
              <a:xfrm>
                <a:off x="833161" y="2514270"/>
                <a:ext cx="2815535" cy="73242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普通用户\/买家</a:t>
                </a:r>
                <a:endParaRPr lang="en-US" sz="1100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833161" y="3246699"/>
                <a:ext cx="2815535" cy="2756536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浏览和购买虚拟商品，同时可参与治理投票、审核、仲裁等任务以获取SAP或权益。</a:t>
                </a:r>
                <a:endParaRPr lang="en-US" sz="1100"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3425028" y="1711961"/>
              <a:ext cx="2564617" cy="4523739"/>
              <a:chOff x="4509121" y="1711961"/>
              <a:chExt cx="3161058" cy="4523739"/>
            </a:xfrm>
          </p:grpSpPr>
          <p:grpSp>
            <p:nvGrpSpPr>
              <p:cNvPr id="12" name="Group 12"/>
              <p:cNvGrpSpPr/>
              <p:nvPr/>
            </p:nvGrpSpPr>
            <p:grpSpPr>
              <a:xfrm>
                <a:off x="4509121" y="1711961"/>
                <a:ext cx="3161058" cy="4523739"/>
                <a:chOff x="660400" y="1610361"/>
                <a:chExt cx="3161058" cy="4523739"/>
              </a:xfrm>
            </p:grpSpPr>
            <p:sp>
              <p:nvSpPr>
                <p:cNvPr id="13" name="AutoShape 13"/>
                <p:cNvSpPr/>
                <p:nvPr/>
              </p:nvSpPr>
              <p:spPr>
                <a:xfrm>
                  <a:off x="660400" y="1868557"/>
                  <a:ext cx="3161058" cy="4265543"/>
                </a:xfrm>
                <a:prstGeom prst="roundRect">
                  <a:avLst>
                    <a:gd name="adj" fmla="val 10596"/>
                  </a:avLst>
                </a:prstGeom>
                <a:solidFill>
                  <a:srgbClr val="3462E1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1819391" y="1610361"/>
                  <a:ext cx="843075" cy="684000"/>
                </a:xfrm>
                <a:prstGeom prst="ellipse">
                  <a:avLst/>
                </a:prstGeom>
                <a:solidFill>
                  <a:srgbClr val="372E68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ctr" anchorCtr="0"/>
                <a:lstStyle/>
                <a:p>
                  <a:pPr algn="ctr">
                    <a:lnSpc>
                      <a:spcPct val="108000"/>
                    </a:lnSpc>
                    <a:defRPr/>
                  </a:pPr>
                  <a:r>
                    <a:rPr lang="en-US" sz="2400" b="1" i="0">
                      <a:ln/>
                      <a:solidFill>
                        <a:srgbClr val="FFFFFF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02</a:t>
                  </a:r>
                  <a:endParaRPr lang="en-US" sz="1100"/>
                </a:p>
              </p:txBody>
            </p:sp>
          </p:grpSp>
          <p:sp>
            <p:nvSpPr>
              <p:cNvPr id="15" name="TextBox 15"/>
              <p:cNvSpPr txBox="1"/>
              <p:nvPr/>
            </p:nvSpPr>
            <p:spPr>
              <a:xfrm>
                <a:off x="4681882" y="2514270"/>
                <a:ext cx="2815535" cy="73242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创作者\/认证商家</a:t>
                </a:r>
                <a:endParaRPr lang="en-US" sz="110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681882" y="3246699"/>
                <a:ext cx="2815535" cy="2756536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 dirty="0" err="1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完成认证后可上架商品（元数据与文件可走IPFS等去中心化存储</a:t>
                </a:r>
                <a:r>
                  <a:rPr lang="en-US" sz="1200" b="0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），</a:t>
                </a:r>
                <a:r>
                  <a:rPr lang="en-US" sz="1200" b="0" i="0" dirty="0" err="1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享有销售商品的全部收入</a:t>
                </a:r>
                <a:r>
                  <a:rPr lang="en-US" sz="1200" b="0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。</a:t>
                </a:r>
                <a:endParaRPr lang="en-US" sz="1100" dirty="0"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6189656" y="1711961"/>
              <a:ext cx="2564617" cy="4523739"/>
              <a:chOff x="8357842" y="1711961"/>
              <a:chExt cx="3161058" cy="4523739"/>
            </a:xfrm>
          </p:grpSpPr>
          <p:grpSp>
            <p:nvGrpSpPr>
              <p:cNvPr id="18" name="Group 18"/>
              <p:cNvGrpSpPr/>
              <p:nvPr/>
            </p:nvGrpSpPr>
            <p:grpSpPr>
              <a:xfrm>
                <a:off x="8357842" y="1711961"/>
                <a:ext cx="3161058" cy="4523739"/>
                <a:chOff x="660400" y="1610361"/>
                <a:chExt cx="3161058" cy="4523739"/>
              </a:xfrm>
            </p:grpSpPr>
            <p:sp>
              <p:nvSpPr>
                <p:cNvPr id="19" name="AutoShape 19"/>
                <p:cNvSpPr/>
                <p:nvPr/>
              </p:nvSpPr>
              <p:spPr>
                <a:xfrm>
                  <a:off x="660400" y="1868557"/>
                  <a:ext cx="3161058" cy="4265543"/>
                </a:xfrm>
                <a:prstGeom prst="roundRect">
                  <a:avLst>
                    <a:gd name="adj" fmla="val 10596"/>
                  </a:avLst>
                </a:prstGeom>
                <a:solidFill>
                  <a:srgbClr val="3462E1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1819391" y="1610361"/>
                  <a:ext cx="843075" cy="684000"/>
                </a:xfrm>
                <a:prstGeom prst="ellipse">
                  <a:avLst/>
                </a:prstGeom>
                <a:solidFill>
                  <a:srgbClr val="372E68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ctr" anchorCtr="0"/>
                <a:lstStyle/>
                <a:p>
                  <a:pPr algn="ctr">
                    <a:lnSpc>
                      <a:spcPct val="108000"/>
                    </a:lnSpc>
                    <a:defRPr/>
                  </a:pPr>
                  <a:r>
                    <a:rPr lang="en-US" sz="2400" b="1" i="0">
                      <a:ln/>
                      <a:solidFill>
                        <a:srgbClr val="FFFFFF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03</a:t>
                  </a:r>
                  <a:endParaRPr lang="en-US" sz="1100"/>
                </a:p>
              </p:txBody>
            </p:sp>
          </p:grpSp>
          <p:sp>
            <p:nvSpPr>
              <p:cNvPr id="21" name="TextBox 21"/>
              <p:cNvSpPr txBox="1"/>
              <p:nvPr/>
            </p:nvSpPr>
            <p:spPr>
              <a:xfrm>
                <a:off x="8530603" y="2514270"/>
                <a:ext cx="2815535" cy="73242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社区贡献者\/陪审员</a:t>
                </a:r>
                <a:endParaRPr lang="en-US" sz="1100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530603" y="3246699"/>
                <a:ext cx="2815535" cy="2756536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 dirty="0" err="1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参与商品审核与交易纠纷裁决，为平台生态的健康运行贡献力量，并按规则获得相应激励</a:t>
                </a:r>
                <a:r>
                  <a:rPr lang="en-US" sz="1200" b="0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。</a:t>
                </a:r>
                <a:endParaRPr lang="en-US" sz="1100" dirty="0"/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8954283" y="1711961"/>
              <a:ext cx="2564617" cy="4523739"/>
              <a:chOff x="8357842" y="1711961"/>
              <a:chExt cx="3161058" cy="4523739"/>
            </a:xfrm>
          </p:grpSpPr>
          <p:grpSp>
            <p:nvGrpSpPr>
              <p:cNvPr id="24" name="Group 24"/>
              <p:cNvGrpSpPr/>
              <p:nvPr/>
            </p:nvGrpSpPr>
            <p:grpSpPr>
              <a:xfrm>
                <a:off x="8357842" y="1711961"/>
                <a:ext cx="3161058" cy="4523739"/>
                <a:chOff x="660400" y="1610361"/>
                <a:chExt cx="3161058" cy="4523739"/>
              </a:xfrm>
            </p:grpSpPr>
            <p:sp>
              <p:nvSpPr>
                <p:cNvPr id="25" name="AutoShape 25"/>
                <p:cNvSpPr/>
                <p:nvPr/>
              </p:nvSpPr>
              <p:spPr>
                <a:xfrm>
                  <a:off x="660400" y="1868557"/>
                  <a:ext cx="3161058" cy="4265543"/>
                </a:xfrm>
                <a:prstGeom prst="roundRect">
                  <a:avLst>
                    <a:gd name="adj" fmla="val 10596"/>
                  </a:avLst>
                </a:prstGeom>
                <a:solidFill>
                  <a:srgbClr val="3462E1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26" name="TextBox 26"/>
                <p:cNvSpPr txBox="1"/>
                <p:nvPr/>
              </p:nvSpPr>
              <p:spPr>
                <a:xfrm>
                  <a:off x="1819391" y="1610361"/>
                  <a:ext cx="843075" cy="684000"/>
                </a:xfrm>
                <a:prstGeom prst="ellipse">
                  <a:avLst/>
                </a:prstGeom>
                <a:solidFill>
                  <a:srgbClr val="372E68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ctr" anchorCtr="0"/>
                <a:lstStyle/>
                <a:p>
                  <a:pPr algn="ctr">
                    <a:lnSpc>
                      <a:spcPct val="108000"/>
                    </a:lnSpc>
                    <a:defRPr/>
                  </a:pPr>
                  <a:r>
                    <a:rPr lang="en-US" sz="2400" b="1" i="0">
                      <a:ln/>
                      <a:solidFill>
                        <a:srgbClr val="FFFFFF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04</a:t>
                  </a:r>
                  <a:endParaRPr lang="en-US" sz="1100"/>
                </a:p>
              </p:txBody>
            </p:sp>
          </p:grpSp>
          <p:sp>
            <p:nvSpPr>
              <p:cNvPr id="27" name="TextBox 27"/>
              <p:cNvSpPr txBox="1"/>
              <p:nvPr/>
            </p:nvSpPr>
            <p:spPr>
              <a:xfrm>
                <a:off x="8530603" y="2514270"/>
                <a:ext cx="2815535" cy="73242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平台\/DAO金库</a:t>
                </a:r>
                <a:endParaRPr lang="en-US" sz="1100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530603" y="3246699"/>
                <a:ext cx="2815535" cy="2756536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 dirty="0" err="1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作为平台的核心资金管理机构，负责接收手续费等收入，并根据DAO治理决策进行资金分配</a:t>
                </a:r>
                <a:r>
                  <a:rPr lang="en-US" sz="1200" b="0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。</a:t>
                </a:r>
                <a:endParaRPr lang="en-US" sz="1100" dirty="0"/>
              </a:p>
            </p:txBody>
          </p:sp>
        </p:grpSp>
      </p:grpSp>
      <p:sp>
        <p:nvSpPr>
          <p:cNvPr id="29" name="TextBox 29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平台四大角色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691d4030-5e8b-4c22-91e3-244175906a7f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000000">
                    <a:alpha val="100000"/>
                    <a:tint val="75000"/>
                  </a:srgbClr>
                </a:solidFill>
                <a:latin typeface="Arial"/>
                <a:ea typeface="Arial"/>
                <a:cs typeface="Arial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660400" y="1130300"/>
            <a:ext cx="10858500" cy="4127500"/>
            <a:chOff x="660400" y="1130300"/>
            <a:chExt cx="10858500" cy="4127500"/>
          </a:xfrm>
        </p:grpSpPr>
        <p:sp>
          <p:nvSpPr>
            <p:cNvPr id="4" name="AutoShape 4"/>
            <p:cNvSpPr/>
            <p:nvPr/>
          </p:nvSpPr>
          <p:spPr>
            <a:xfrm>
              <a:off x="660400" y="2203914"/>
              <a:ext cx="10858500" cy="3053886"/>
            </a:xfrm>
            <a:prstGeom prst="roundRect">
              <a:avLst>
                <a:gd name="adj" fmla="val 4000"/>
              </a:avLst>
            </a:prstGeom>
            <a:solidFill>
              <a:srgbClr val="000000">
                <a:alpha val="5098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60400" y="1130300"/>
              <a:ext cx="10858500" cy="536454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  <a:r>
                <a:rPr lang="en-US" sz="1800" b="1" i="0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明确不同角色的经济回报与参与动力</a:t>
              </a:r>
              <a:endParaRPr lang="en-US" sz="1100"/>
            </a:p>
          </p:txBody>
        </p:sp>
        <p:grpSp>
          <p:nvGrpSpPr>
            <p:cNvPr id="6" name="Group 6"/>
            <p:cNvGrpSpPr/>
            <p:nvPr/>
          </p:nvGrpSpPr>
          <p:grpSpPr>
            <a:xfrm>
              <a:off x="906139" y="1903309"/>
              <a:ext cx="2515611" cy="3125891"/>
              <a:chOff x="1022166" y="1903309"/>
              <a:chExt cx="2515611" cy="3125891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1022166" y="2585614"/>
                <a:ext cx="2515611" cy="57143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创作者销售收入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022166" y="3157044"/>
                <a:ext cx="2515611" cy="1872156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创作者拥有商品定价权，销售收入归创作者所有，平台仅按规则收取少量手续费。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022167" y="1903309"/>
                <a:ext cx="610438" cy="610374"/>
              </a:xfrm>
              <a:prstGeom prst="roundRect">
                <a:avLst>
                  <a:gd name="adj" fmla="val 10458"/>
                </a:avLst>
              </a:prstGeom>
              <a:solidFill>
                <a:srgbClr val="372E68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vert="horz" wrap="none" lIns="108000" tIns="108000" rIns="108000" bIns="108000" rtlCol="0" anchor="ctr" anchorCtr="0"/>
              <a:lstStyle/>
              <a:p>
                <a:pPr algn="ctr">
                  <a:defRPr/>
                </a:pPr>
                <a:r>
                  <a:rPr lang="en-US" sz="20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1</a:t>
                </a:r>
                <a:endParaRPr lang="en-US" sz="110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3523516" y="1903309"/>
              <a:ext cx="2515611" cy="3125891"/>
              <a:chOff x="1022166" y="1903309"/>
              <a:chExt cx="2515611" cy="3125891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1022166" y="2585614"/>
                <a:ext cx="2515611" cy="57143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陪审员审核激励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022166" y="3157044"/>
                <a:ext cx="2515611" cy="1872156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社区贡献者作为陪审员参与审核与裁决工作，平台会根据其贡献度发放SAP或权益类回馈。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022167" y="1903309"/>
                <a:ext cx="610438" cy="610374"/>
              </a:xfrm>
              <a:prstGeom prst="roundRect">
                <a:avLst>
                  <a:gd name="adj" fmla="val 10458"/>
                </a:avLst>
              </a:prstGeom>
              <a:solidFill>
                <a:srgbClr val="372E68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vert="horz" wrap="none" lIns="108000" tIns="108000" rIns="108000" bIns="108000" rtlCol="0" anchor="ctr" anchorCtr="0"/>
              <a:lstStyle/>
              <a:p>
                <a:pPr algn="ctr">
                  <a:defRPr/>
                </a:pPr>
                <a:r>
                  <a:rPr lang="en-US" sz="20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2</a:t>
                </a:r>
                <a:endParaRPr lang="en-US" sz="110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6140893" y="1903309"/>
              <a:ext cx="2515611" cy="3125891"/>
              <a:chOff x="1022166" y="1903309"/>
              <a:chExt cx="2515611" cy="3125891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1022166" y="2585614"/>
                <a:ext cx="2515611" cy="57143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买家参与治理权益</a:t>
                </a:r>
                <a:endParaRPr lang="en-US" sz="110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022166" y="3157044"/>
                <a:ext cx="2515611" cy="1872156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买家持有SAP可参与平台治理投票，对平台发展方向拥有话语权，并能从生态增长中获益。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022167" y="1903309"/>
                <a:ext cx="610438" cy="610374"/>
              </a:xfrm>
              <a:prstGeom prst="roundRect">
                <a:avLst>
                  <a:gd name="adj" fmla="val 10458"/>
                </a:avLst>
              </a:prstGeom>
              <a:solidFill>
                <a:srgbClr val="372E68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vert="horz" wrap="none" lIns="108000" tIns="108000" rIns="108000" bIns="108000" rtlCol="0" anchor="ctr" anchorCtr="0"/>
              <a:lstStyle/>
              <a:p>
                <a:pPr algn="ctr">
                  <a:defRPr/>
                </a:pPr>
                <a:r>
                  <a:rPr lang="en-US" sz="20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3</a:t>
                </a:r>
                <a:endParaRPr lang="en-US" sz="1100"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8758270" y="1903309"/>
              <a:ext cx="2515611" cy="3125891"/>
              <a:chOff x="1022166" y="1903309"/>
              <a:chExt cx="2515611" cy="3125891"/>
            </a:xfrm>
          </p:grpSpPr>
          <p:sp>
            <p:nvSpPr>
              <p:cNvPr id="19" name="TextBox 19"/>
              <p:cNvSpPr txBox="1"/>
              <p:nvPr/>
            </p:nvSpPr>
            <p:spPr>
              <a:xfrm>
                <a:off x="1022166" y="2585614"/>
                <a:ext cx="2515611" cy="57143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金库资金分配</a:t>
                </a:r>
                <a:endParaRPr lang="en-US" sz="1100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022166" y="3157044"/>
                <a:ext cx="2515611" cy="1872156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金库收入在治理框架下，可用于回购销毁通证、生态激励、长期建设等，与平台增长挂钩。</a:t>
                </a:r>
                <a:endParaRPr lang="en-US" sz="1100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022167" y="1903309"/>
                <a:ext cx="610438" cy="610374"/>
              </a:xfrm>
              <a:prstGeom prst="roundRect">
                <a:avLst>
                  <a:gd name="adj" fmla="val 10458"/>
                </a:avLst>
              </a:prstGeom>
              <a:solidFill>
                <a:srgbClr val="372E68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vert="horz" wrap="none" lIns="108000" tIns="108000" rIns="108000" bIns="108000" rtlCol="0" anchor="ctr" anchorCtr="0"/>
              <a:lstStyle/>
              <a:p>
                <a:pPr algn="ctr">
                  <a:defRPr/>
                </a:pPr>
                <a:r>
                  <a:rPr lang="en-US" sz="20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4</a:t>
                </a:r>
                <a:endParaRPr lang="en-US" sz="1100"/>
              </a:p>
            </p:txBody>
          </p:sp>
        </p:grpSp>
      </p:grpSp>
      <p:sp>
        <p:nvSpPr>
          <p:cNvPr id="22" name="TextBox 22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角色收益与激励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317998" y="1130300"/>
            <a:ext cx="7200901" cy="1398993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6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现有功能与入口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4317998" y="2529293"/>
            <a:ext cx="7200901" cy="3604807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buFont typeface="Arial"/>
              <a:buChar char="•"/>
              <a:defRPr/>
            </a:pPr>
            <a:r>
              <a:rPr lang="en-US" sz="1400" b="0" i="0" strike="noStrike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DApp ⽤⼾端（sapmall-dapp）</a:t>
            </a:r>
            <a:endParaRPr lang="en-US" sz="1100"/>
          </a:p>
          <a:p>
            <a:pPr algn="l">
              <a:lnSpc>
                <a:spcPct val="120000"/>
              </a:lnSpc>
              <a:spcBef>
                <a:spcPts val="1000"/>
              </a:spcBef>
              <a:buFont typeface="Arial"/>
              <a:buChar char="•"/>
            </a:pPr>
            <a:r>
              <a:rPr sz="1400" b="0" i="0" strike="noStrike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官⽹站点（sapmall-website）</a:t>
            </a:r>
            <a:endParaRPr/>
          </a:p>
          <a:p>
            <a:pPr algn="l">
              <a:lnSpc>
                <a:spcPct val="120000"/>
              </a:lnSpc>
              <a:spcBef>
                <a:spcPts val="1000"/>
              </a:spcBef>
              <a:buFont typeface="Arial"/>
              <a:buChar char="•"/>
            </a:pPr>
            <a:r>
              <a:rPr sz="1400" b="0" i="0" strike="noStrike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管理后台（sapmall-admin）</a:t>
            </a:r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000000">
                    <a:alpha val="100000"/>
                    <a:tint val="75000"/>
                  </a:srgbClr>
                </a:solidFill>
                <a:latin typeface="Arial"/>
                <a:ea typeface="Arial"/>
                <a:cs typeface="Arial"/>
              </a:rPr>
              <a:t>3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7d9c6f00-5a34-42b6-9513-bcfd477cd3cb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000000">
                    <a:alpha val="100000"/>
                    <a:tint val="75000"/>
                  </a:srgbClr>
                </a:solidFill>
                <a:latin typeface="Arial"/>
                <a:ea typeface="Arial"/>
                <a:cs typeface="Arial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660400" y="1130299"/>
            <a:ext cx="10858500" cy="5003801"/>
            <a:chOff x="660400" y="1130299"/>
            <a:chExt cx="10858500" cy="5003801"/>
          </a:xfrm>
        </p:grpSpPr>
        <p:sp>
          <p:nvSpPr>
            <p:cNvPr id="4" name="TextBox 4"/>
            <p:cNvSpPr txBox="1"/>
            <p:nvPr/>
          </p:nvSpPr>
          <p:spPr>
            <a:xfrm>
              <a:off x="660400" y="1130299"/>
              <a:ext cx="10858500" cy="564389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  <a:r>
                <a:rPr lang="en-US" sz="1800" b="1" i="0" strike="noStrike"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Sapphire Mall DApp用户端的主要功能</a:t>
              </a:r>
              <a:endParaRPr lang="en-US" sz="1100"/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660400" y="1921971"/>
              <a:ext cx="3606800" cy="2032486"/>
              <a:chOff x="660400" y="1694688"/>
              <a:chExt cx="3606800" cy="2032486"/>
            </a:xfrm>
          </p:grpSpPr>
          <p:grpSp>
            <p:nvGrpSpPr>
              <p:cNvPr id="6" name="Group 6"/>
              <p:cNvGrpSpPr/>
              <p:nvPr/>
            </p:nvGrpSpPr>
            <p:grpSpPr>
              <a:xfrm>
                <a:off x="660400" y="1694688"/>
                <a:ext cx="3606800" cy="2032486"/>
                <a:chOff x="660400" y="1694688"/>
                <a:chExt cx="3619500" cy="2039643"/>
              </a:xfrm>
            </p:grpSpPr>
            <p:sp>
              <p:nvSpPr>
                <p:cNvPr id="7" name="AutoShape 7"/>
                <p:cNvSpPr/>
                <p:nvPr/>
              </p:nvSpPr>
              <p:spPr>
                <a:xfrm>
                  <a:off x="660400" y="1694688"/>
                  <a:ext cx="3619500" cy="2039643"/>
                </a:xfrm>
                <a:prstGeom prst="roundRect">
                  <a:avLst>
                    <a:gd name="adj" fmla="val 7800"/>
                  </a:avLst>
                </a:prstGeom>
                <a:solidFill>
                  <a:srgbClr val="000000">
                    <a:alpha val="10196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8" name="TextBox 8"/>
                <p:cNvSpPr txBox="1"/>
                <p:nvPr/>
              </p:nvSpPr>
              <p:spPr>
                <a:xfrm>
                  <a:off x="1104341" y="1729481"/>
                  <a:ext cx="3115233" cy="653354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ctr" anchorCtr="0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lang="en-US" sz="1800" b="1" i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商城浏览</a:t>
                  </a:r>
                  <a:endParaRPr lang="en-US" sz="1100"/>
                </a:p>
              </p:txBody>
            </p:sp>
            <p:sp>
              <p:nvSpPr>
                <p:cNvPr id="9" name="TextBox 9"/>
                <p:cNvSpPr txBox="1"/>
                <p:nvPr/>
              </p:nvSpPr>
              <p:spPr>
                <a:xfrm>
                  <a:off x="1104340" y="2382836"/>
                  <a:ext cx="3115232" cy="1221830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lang="en-US" sz="1200" b="0" i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支持代币化商品的分类、筛选、列表与详情查看，提供便捷的货架浏览能力。</a:t>
                  </a:r>
                  <a:endParaRPr lang="en-US" sz="1100"/>
                </a:p>
              </p:txBody>
            </p:sp>
          </p:grpSp>
          <p:sp>
            <p:nvSpPr>
              <p:cNvPr id="10" name="TextBox 10"/>
              <p:cNvSpPr txBox="1"/>
              <p:nvPr/>
            </p:nvSpPr>
            <p:spPr>
              <a:xfrm>
                <a:off x="722312" y="1890397"/>
                <a:ext cx="328983" cy="328983"/>
              </a:xfrm>
              <a:prstGeom prst="roundRect">
                <a:avLst/>
              </a:prstGeom>
              <a:solidFill>
                <a:srgbClr val="372E68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2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1</a:t>
                </a:r>
                <a:endParaRPr lang="en-US" sz="1100"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4286250" y="1921971"/>
              <a:ext cx="3606800" cy="2032486"/>
              <a:chOff x="660400" y="1694688"/>
              <a:chExt cx="3606800" cy="2032486"/>
            </a:xfrm>
          </p:grpSpPr>
          <p:grpSp>
            <p:nvGrpSpPr>
              <p:cNvPr id="12" name="Group 12"/>
              <p:cNvGrpSpPr/>
              <p:nvPr/>
            </p:nvGrpSpPr>
            <p:grpSpPr>
              <a:xfrm>
                <a:off x="660400" y="1694688"/>
                <a:ext cx="3606800" cy="2032486"/>
                <a:chOff x="660400" y="1694688"/>
                <a:chExt cx="3619500" cy="2039643"/>
              </a:xfrm>
            </p:grpSpPr>
            <p:sp>
              <p:nvSpPr>
                <p:cNvPr id="13" name="AutoShape 13"/>
                <p:cNvSpPr/>
                <p:nvPr/>
              </p:nvSpPr>
              <p:spPr>
                <a:xfrm>
                  <a:off x="660400" y="1694688"/>
                  <a:ext cx="3619500" cy="2039643"/>
                </a:xfrm>
                <a:prstGeom prst="roundRect">
                  <a:avLst>
                    <a:gd name="adj" fmla="val 7800"/>
                  </a:avLst>
                </a:prstGeom>
                <a:solidFill>
                  <a:srgbClr val="000000">
                    <a:alpha val="10196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1104341" y="1729481"/>
                  <a:ext cx="3115233" cy="653354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ctr" anchorCtr="0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lang="en-US" sz="1800" b="1" i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生态活动聚合</a:t>
                  </a:r>
                  <a:endParaRPr lang="en-US" sz="1100"/>
                </a:p>
              </p:txBody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1104340" y="2382836"/>
                  <a:ext cx="3115232" cy="1221830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lang="en-US" sz="1200" b="0" i="0" dirty="0" err="1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聚合各类活动与奖励规则说明，用户可在此了解并参与Bags等营销活动</a:t>
                  </a:r>
                  <a:r>
                    <a:rPr lang="en-US" sz="1200" b="0" i="0" dirty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。</a:t>
                  </a:r>
                  <a:endParaRPr lang="en-US" sz="1100" dirty="0"/>
                </a:p>
              </p:txBody>
            </p:sp>
          </p:grpSp>
          <p:sp>
            <p:nvSpPr>
              <p:cNvPr id="16" name="TextBox 16"/>
              <p:cNvSpPr txBox="1"/>
              <p:nvPr/>
            </p:nvSpPr>
            <p:spPr>
              <a:xfrm>
                <a:off x="722312" y="1890397"/>
                <a:ext cx="328983" cy="328983"/>
              </a:xfrm>
              <a:prstGeom prst="roundRect">
                <a:avLst/>
              </a:prstGeom>
              <a:solidFill>
                <a:srgbClr val="372E68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2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2</a:t>
                </a:r>
                <a:endParaRPr lang="en-US" sz="1100"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7912100" y="1921971"/>
              <a:ext cx="3606800" cy="2032486"/>
              <a:chOff x="660400" y="1694688"/>
              <a:chExt cx="3606800" cy="2032486"/>
            </a:xfrm>
          </p:grpSpPr>
          <p:grpSp>
            <p:nvGrpSpPr>
              <p:cNvPr id="18" name="Group 18"/>
              <p:cNvGrpSpPr/>
              <p:nvPr/>
            </p:nvGrpSpPr>
            <p:grpSpPr>
              <a:xfrm>
                <a:off x="660400" y="1694688"/>
                <a:ext cx="3606800" cy="2032486"/>
                <a:chOff x="660400" y="1694688"/>
                <a:chExt cx="3619500" cy="2039643"/>
              </a:xfrm>
            </p:grpSpPr>
            <p:sp>
              <p:nvSpPr>
                <p:cNvPr id="19" name="AutoShape 19"/>
                <p:cNvSpPr/>
                <p:nvPr/>
              </p:nvSpPr>
              <p:spPr>
                <a:xfrm>
                  <a:off x="660400" y="1694688"/>
                  <a:ext cx="3619500" cy="2039643"/>
                </a:xfrm>
                <a:prstGeom prst="roundRect">
                  <a:avLst>
                    <a:gd name="adj" fmla="val 7800"/>
                  </a:avLst>
                </a:prstGeom>
                <a:solidFill>
                  <a:srgbClr val="000000">
                    <a:alpha val="10196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1104341" y="1729481"/>
                  <a:ext cx="3115233" cy="653354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ctr" anchorCtr="0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lang="en-US" sz="1800" b="1" i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资产兑换</a:t>
                  </a:r>
                  <a:endParaRPr lang="en-US" sz="1100"/>
                </a:p>
              </p:txBody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1104340" y="2382836"/>
                  <a:ext cx="3115232" cy="1221830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lang="en-US" sz="1200" b="0" i="0" dirty="0" err="1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提供围绕SAP</a:t>
                  </a:r>
                  <a:r>
                    <a:rPr lang="en-US" sz="1200" b="0" i="0" dirty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\/</a:t>
                  </a:r>
                  <a:r>
                    <a:rPr lang="en-US" sz="1200" b="0" i="0" dirty="0" err="1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稳定币的兑换与资产相关展示与操作，与活动侧代币严格区分</a:t>
                  </a:r>
                  <a:r>
                    <a:rPr lang="en-US" sz="1200" b="0" i="0" dirty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。</a:t>
                  </a:r>
                  <a:endParaRPr lang="en-US" sz="1100" dirty="0"/>
                </a:p>
              </p:txBody>
            </p:sp>
          </p:grpSp>
          <p:sp>
            <p:nvSpPr>
              <p:cNvPr id="22" name="TextBox 22"/>
              <p:cNvSpPr txBox="1"/>
              <p:nvPr/>
            </p:nvSpPr>
            <p:spPr>
              <a:xfrm>
                <a:off x="722312" y="1890397"/>
                <a:ext cx="328983" cy="328983"/>
              </a:xfrm>
              <a:prstGeom prst="roundRect">
                <a:avLst/>
              </a:prstGeom>
              <a:solidFill>
                <a:srgbClr val="372E68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2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3</a:t>
                </a:r>
                <a:endParaRPr lang="en-US" sz="1100"/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660400" y="4101614"/>
              <a:ext cx="5350082" cy="2032486"/>
              <a:chOff x="660400" y="1694688"/>
              <a:chExt cx="5350082" cy="2032486"/>
            </a:xfrm>
          </p:grpSpPr>
          <p:grpSp>
            <p:nvGrpSpPr>
              <p:cNvPr id="24" name="Group 24"/>
              <p:cNvGrpSpPr/>
              <p:nvPr/>
            </p:nvGrpSpPr>
            <p:grpSpPr>
              <a:xfrm>
                <a:off x="660400" y="1694688"/>
                <a:ext cx="5350082" cy="2032486"/>
                <a:chOff x="660401" y="1694688"/>
                <a:chExt cx="5368920" cy="2039643"/>
              </a:xfrm>
            </p:grpSpPr>
            <p:sp>
              <p:nvSpPr>
                <p:cNvPr id="25" name="AutoShape 25"/>
                <p:cNvSpPr/>
                <p:nvPr/>
              </p:nvSpPr>
              <p:spPr>
                <a:xfrm>
                  <a:off x="660401" y="1694688"/>
                  <a:ext cx="5368920" cy="2039643"/>
                </a:xfrm>
                <a:prstGeom prst="roundRect">
                  <a:avLst>
                    <a:gd name="adj" fmla="val 7800"/>
                  </a:avLst>
                </a:prstGeom>
                <a:solidFill>
                  <a:srgbClr val="000000">
                    <a:alpha val="10196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26" name="TextBox 26"/>
                <p:cNvSpPr txBox="1"/>
                <p:nvPr/>
              </p:nvSpPr>
              <p:spPr>
                <a:xfrm>
                  <a:off x="1104339" y="1729481"/>
                  <a:ext cx="3115233" cy="653354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ctr" anchorCtr="0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lang="en-US" sz="1800" b="1" i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DAO社区治理</a:t>
                  </a:r>
                  <a:endParaRPr lang="en-US" sz="1100"/>
                </a:p>
              </p:txBody>
            </p:sp>
            <p:sp>
              <p:nvSpPr>
                <p:cNvPr id="27" name="TextBox 27"/>
                <p:cNvSpPr txBox="1"/>
                <p:nvPr/>
              </p:nvSpPr>
              <p:spPr>
                <a:xfrm>
                  <a:off x="1104338" y="2382836"/>
                  <a:ext cx="3115232" cy="1221830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lang="en-US" sz="1200" b="0" i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提供社区参与与治理的相关界面，用户可查看治理提案并行使投票权。</a:t>
                  </a:r>
                  <a:endParaRPr lang="en-US" sz="1100"/>
                </a:p>
              </p:txBody>
            </p:sp>
          </p:grpSp>
          <p:sp>
            <p:nvSpPr>
              <p:cNvPr id="28" name="TextBox 28"/>
              <p:cNvSpPr txBox="1"/>
              <p:nvPr/>
            </p:nvSpPr>
            <p:spPr>
              <a:xfrm>
                <a:off x="722310" y="1890397"/>
                <a:ext cx="328983" cy="328983"/>
              </a:xfrm>
              <a:prstGeom prst="roundRect">
                <a:avLst/>
              </a:prstGeom>
              <a:solidFill>
                <a:srgbClr val="372E68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2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4</a:t>
                </a:r>
                <a:endParaRPr lang="en-US" sz="1100"/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6029532" y="4101614"/>
              <a:ext cx="5489367" cy="2032486"/>
              <a:chOff x="2403682" y="1694688"/>
              <a:chExt cx="5489367" cy="2032486"/>
            </a:xfrm>
          </p:grpSpPr>
          <p:grpSp>
            <p:nvGrpSpPr>
              <p:cNvPr id="30" name="Group 30"/>
              <p:cNvGrpSpPr/>
              <p:nvPr/>
            </p:nvGrpSpPr>
            <p:grpSpPr>
              <a:xfrm>
                <a:off x="2403682" y="1694688"/>
                <a:ext cx="5489367" cy="2032486"/>
                <a:chOff x="2409820" y="1694688"/>
                <a:chExt cx="5508696" cy="2039643"/>
              </a:xfrm>
            </p:grpSpPr>
            <p:sp>
              <p:nvSpPr>
                <p:cNvPr id="31" name="AutoShape 31"/>
                <p:cNvSpPr/>
                <p:nvPr/>
              </p:nvSpPr>
              <p:spPr>
                <a:xfrm>
                  <a:off x="2409820" y="1694688"/>
                  <a:ext cx="5508696" cy="2039643"/>
                </a:xfrm>
                <a:prstGeom prst="roundRect">
                  <a:avLst>
                    <a:gd name="adj" fmla="val 7800"/>
                  </a:avLst>
                </a:prstGeom>
                <a:solidFill>
                  <a:srgbClr val="000000">
                    <a:alpha val="10196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32" name="TextBox 32"/>
                <p:cNvSpPr txBox="1"/>
                <p:nvPr/>
              </p:nvSpPr>
              <p:spPr>
                <a:xfrm>
                  <a:off x="2853762" y="1729481"/>
                  <a:ext cx="5004430" cy="653354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ctr" anchorCtr="0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lang="en-US" sz="1800" b="1" i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帮助中心</a:t>
                  </a:r>
                  <a:endParaRPr lang="en-US" sz="1100"/>
                </a:p>
              </p:txBody>
            </p:sp>
            <p:sp>
              <p:nvSpPr>
                <p:cNvPr id="33" name="TextBox 33"/>
                <p:cNvSpPr txBox="1"/>
                <p:nvPr/>
              </p:nvSpPr>
              <p:spPr>
                <a:xfrm>
                  <a:off x="2853761" y="2382836"/>
                  <a:ext cx="5004428" cy="1221830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lang="en-US" sz="1200" b="0" i="0" dirty="0" err="1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包含FAQ与详细流程说明，覆盖活动、钱包、支付等各类常见问题，降低用户支持成本</a:t>
                  </a:r>
                  <a:r>
                    <a:rPr lang="en-US" sz="1200" b="0" i="0" dirty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。</a:t>
                  </a:r>
                  <a:endParaRPr lang="en-US" sz="1100" dirty="0"/>
                </a:p>
              </p:txBody>
            </p:sp>
          </p:grpSp>
          <p:sp>
            <p:nvSpPr>
              <p:cNvPr id="34" name="TextBox 34"/>
              <p:cNvSpPr txBox="1"/>
              <p:nvPr/>
            </p:nvSpPr>
            <p:spPr>
              <a:xfrm>
                <a:off x="2465595" y="1890397"/>
                <a:ext cx="328983" cy="328983"/>
              </a:xfrm>
              <a:prstGeom prst="roundRect">
                <a:avLst/>
              </a:prstGeom>
              <a:solidFill>
                <a:srgbClr val="372E68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2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5</a:t>
                </a:r>
                <a:endParaRPr lang="en-US" sz="1100"/>
              </a:p>
            </p:txBody>
          </p:sp>
        </p:grpSp>
      </p:grpSp>
      <p:sp>
        <p:nvSpPr>
          <p:cNvPr id="35" name="TextBox 35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 strike="noStrike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平台DApp核心功能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47592e89-b1f7-4d52-b6b1-3a66f710108b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000000">
                    <a:alpha val="100000"/>
                    <a:tint val="75000"/>
                  </a:srgbClr>
                </a:solidFill>
                <a:latin typeface="Arial"/>
                <a:ea typeface="Arial"/>
                <a:cs typeface="Arial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660399" y="1243979"/>
            <a:ext cx="10858500" cy="4370041"/>
            <a:chOff x="660399" y="1243979"/>
            <a:chExt cx="10858500" cy="4370041"/>
          </a:xfrm>
        </p:grpSpPr>
        <p:sp>
          <p:nvSpPr>
            <p:cNvPr id="4" name="AutoShape 4"/>
            <p:cNvSpPr/>
            <p:nvPr/>
          </p:nvSpPr>
          <p:spPr>
            <a:xfrm>
              <a:off x="740505" y="2200108"/>
              <a:ext cx="2535241" cy="3413912"/>
            </a:xfrm>
            <a:prstGeom prst="flowChartOffpageConnector">
              <a:avLst/>
            </a:prstGeom>
            <a:solidFill>
              <a:srgbClr val="FFFFFF">
                <a:alpha val="100000"/>
              </a:srgbClr>
            </a:solidFill>
            <a:ln w="12700">
              <a:solidFill>
                <a:srgbClr val="372E68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id="5" name="Group 5"/>
            <p:cNvGrpSpPr/>
            <p:nvPr/>
          </p:nvGrpSpPr>
          <p:grpSpPr>
            <a:xfrm>
              <a:off x="660399" y="2368961"/>
              <a:ext cx="2493145" cy="2982789"/>
              <a:chOff x="660399" y="2368961"/>
              <a:chExt cx="2493145" cy="2982789"/>
            </a:xfrm>
          </p:grpSpPr>
          <p:sp>
            <p:nvSpPr>
              <p:cNvPr id="6" name="TextBox 6"/>
              <p:cNvSpPr txBox="1"/>
              <p:nvPr/>
            </p:nvSpPr>
            <p:spPr>
              <a:xfrm>
                <a:off x="862718" y="3257711"/>
                <a:ext cx="2290822" cy="80889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800" b="1" i="0" strike="noStrike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品牌叙事与价值主张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862721" y="4153743"/>
                <a:ext cx="2290823" cy="119800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200" b="0" i="0" strike="noStrike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官网作为品牌对外的门面，清晰阐述Sapphire Mall的项目愿景、核心优势与商业模式，吸引潜在用户与合作伙伴。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660399" y="2368961"/>
                <a:ext cx="2290827" cy="572508"/>
              </a:xfrm>
              <a:prstGeom prst="homePlate">
                <a:avLst/>
              </a:prstGeom>
              <a:gradFill>
                <a:gsLst>
                  <a:gs pos="0">
                    <a:srgbClr val="372E68">
                      <a:alpha val="100000"/>
                      <a:lumMod val="60000"/>
                      <a:lumOff val="40000"/>
                    </a:srgbClr>
                  </a:gs>
                  <a:gs pos="75000">
                    <a:srgbClr val="372E68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4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</p:grpSp>
        <p:sp>
          <p:nvSpPr>
            <p:cNvPr id="9" name="AutoShape 9"/>
            <p:cNvSpPr/>
            <p:nvPr/>
          </p:nvSpPr>
          <p:spPr>
            <a:xfrm>
              <a:off x="3489101" y="2200108"/>
              <a:ext cx="2535240" cy="3413912"/>
            </a:xfrm>
            <a:prstGeom prst="flowChartOffpageConnector">
              <a:avLst/>
            </a:prstGeom>
            <a:solidFill>
              <a:srgbClr val="FFFFFF">
                <a:alpha val="100000"/>
              </a:srgbClr>
            </a:solidFill>
            <a:ln w="12700">
              <a:solidFill>
                <a:srgbClr val="372E68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3389502" y="2368961"/>
              <a:ext cx="2512637" cy="2982789"/>
              <a:chOff x="3389502" y="2368961"/>
              <a:chExt cx="2512637" cy="2982789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3611317" y="3257711"/>
                <a:ext cx="2290822" cy="80889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800" b="1" i="0" strike="noStrike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产品功能引导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3611317" y="4153743"/>
                <a:ext cx="2290822" cy="119800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200" b="0" i="0" strike="noStrike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通过直观的导航与布局，引导用户了解DApp的核心功能模块，如商城、DAO治理、Bags活动等，并提供入口。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3389502" y="2368961"/>
                <a:ext cx="2290825" cy="572508"/>
              </a:xfrm>
              <a:prstGeom prst="homePlate">
                <a:avLst/>
              </a:prstGeom>
              <a:gradFill>
                <a:gsLst>
                  <a:gs pos="0">
                    <a:srgbClr val="3462E1">
                      <a:alpha val="100000"/>
                      <a:lumMod val="60000"/>
                      <a:lumOff val="40000"/>
                    </a:srgbClr>
                  </a:gs>
                  <a:gs pos="75000">
                    <a:srgbClr val="3462E1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4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</p:grpSp>
        <p:sp>
          <p:nvSpPr>
            <p:cNvPr id="14" name="AutoShape 14"/>
            <p:cNvSpPr/>
            <p:nvPr/>
          </p:nvSpPr>
          <p:spPr>
            <a:xfrm>
              <a:off x="6237699" y="2200108"/>
              <a:ext cx="2535240" cy="3413912"/>
            </a:xfrm>
            <a:prstGeom prst="flowChartOffpageConnector">
              <a:avLst/>
            </a:prstGeom>
            <a:solidFill>
              <a:srgbClr val="FFFFFF">
                <a:alpha val="100000"/>
              </a:srgbClr>
            </a:solidFill>
            <a:ln w="12700">
              <a:solidFill>
                <a:srgbClr val="372E68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6138100" y="2368959"/>
              <a:ext cx="2512637" cy="2982789"/>
              <a:chOff x="6138100" y="2368959"/>
              <a:chExt cx="2512637" cy="2982789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6359915" y="3257709"/>
                <a:ext cx="2290822" cy="80889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800" b="1" i="0" strike="noStrike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生态与社区入口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6359915" y="4153741"/>
                <a:ext cx="2290822" cy="119800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200" b="0" i="0" strike="noStrike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官网提供社区讨论、开发者文档、合作伙伴计划等链接，作为连接外部生态与内部社区的重要枢纽。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6138100" y="2368959"/>
                <a:ext cx="2290825" cy="572508"/>
              </a:xfrm>
              <a:prstGeom prst="homePlate">
                <a:avLst/>
              </a:prstGeom>
              <a:gradFill>
                <a:gsLst>
                  <a:gs pos="0">
                    <a:srgbClr val="2090E6">
                      <a:alpha val="100000"/>
                      <a:lumMod val="60000"/>
                      <a:lumOff val="40000"/>
                    </a:srgbClr>
                  </a:gs>
                  <a:gs pos="75000">
                    <a:srgbClr val="2090E6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4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</p:grpSp>
        <p:sp>
          <p:nvSpPr>
            <p:cNvPr id="19" name="AutoShape 19"/>
            <p:cNvSpPr/>
            <p:nvPr/>
          </p:nvSpPr>
          <p:spPr>
            <a:xfrm>
              <a:off x="8983659" y="2200111"/>
              <a:ext cx="2535240" cy="3413909"/>
            </a:xfrm>
            <a:prstGeom prst="flowChartOffpageConnector">
              <a:avLst/>
            </a:prstGeom>
            <a:solidFill>
              <a:srgbClr val="FFFFFF">
                <a:alpha val="100000"/>
              </a:srgbClr>
            </a:solidFill>
            <a:ln w="12700">
              <a:solidFill>
                <a:srgbClr val="372E68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8886695" y="2368960"/>
              <a:ext cx="2510001" cy="2982792"/>
              <a:chOff x="8886695" y="2368960"/>
              <a:chExt cx="2510001" cy="2982792"/>
            </a:xfrm>
          </p:grpSpPr>
          <p:sp>
            <p:nvSpPr>
              <p:cNvPr id="21" name="TextBox 21"/>
              <p:cNvSpPr txBox="1"/>
              <p:nvPr/>
            </p:nvSpPr>
            <p:spPr>
              <a:xfrm>
                <a:off x="9105874" y="3257713"/>
                <a:ext cx="2290822" cy="80889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800" b="1" i="0" strike="noStrike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动态资讯与公告</a:t>
                </a:r>
                <a:endParaRPr lang="en-US" sz="1100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9105874" y="4153746"/>
                <a:ext cx="2290822" cy="119800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200" b="0" i="0" strike="noStrike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发布项目最新动态、版本更新、重要公告与媒体资讯，保持信息的公开透明与及时同步。</a:t>
                </a:r>
                <a:endParaRPr lang="en-US" sz="1100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8886695" y="2368960"/>
                <a:ext cx="2285556" cy="572507"/>
              </a:xfrm>
              <a:prstGeom prst="homePlate">
                <a:avLst/>
              </a:prstGeom>
              <a:gradFill>
                <a:gsLst>
                  <a:gs pos="0">
                    <a:srgbClr val="7EACF8">
                      <a:alpha val="100000"/>
                      <a:lumMod val="60000"/>
                      <a:lumOff val="40000"/>
                    </a:srgbClr>
                  </a:gs>
                  <a:gs pos="75000">
                    <a:srgbClr val="7EACF8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4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04</a:t>
                </a:r>
                <a:endParaRPr lang="en-US" sz="1100"/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660399" y="1243979"/>
              <a:ext cx="10858500" cy="693857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  <a:r>
                <a:rPr lang="en-US" sz="1800" b="1" i="0" strike="noStrike"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Sapphire Mall官方网站与品牌价值</a:t>
              </a:r>
              <a:endParaRPr lang="en-US" sz="1100"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官网站点概览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a7fc9eb-c74e-4303-ac14-fc8497fa0240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000000">
                    <a:alpha val="100000"/>
                    <a:tint val="75000"/>
                  </a:srgbClr>
                </a:solidFill>
                <a:latin typeface="Arial"/>
                <a:ea typeface="Arial"/>
                <a:cs typeface="Arial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660400" y="1130300"/>
            <a:ext cx="10858500" cy="4870450"/>
            <a:chOff x="660400" y="1130300"/>
            <a:chExt cx="10858500" cy="4870450"/>
          </a:xfrm>
        </p:grpSpPr>
        <p:sp>
          <p:nvSpPr>
            <p:cNvPr id="4" name="TextBox 4"/>
            <p:cNvSpPr txBox="1"/>
            <p:nvPr/>
          </p:nvSpPr>
          <p:spPr>
            <a:xfrm>
              <a:off x="660400" y="1130300"/>
              <a:ext cx="10858500" cy="1117600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  <a:r>
                <a:rPr lang="en-US" sz="1800" b="1" i="0" strike="noStrike"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多角色后台管理主要功能介绍</a:t>
              </a:r>
              <a:endParaRPr lang="en-US" sz="1100"/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660400" y="2477770"/>
              <a:ext cx="2560286" cy="3522980"/>
              <a:chOff x="660400" y="2477770"/>
              <a:chExt cx="2560286" cy="3522980"/>
            </a:xfrm>
          </p:grpSpPr>
          <p:sp>
            <p:nvSpPr>
              <p:cNvPr id="6" name="AutoShape 6"/>
              <p:cNvSpPr/>
              <p:nvPr/>
            </p:nvSpPr>
            <p:spPr>
              <a:xfrm>
                <a:off x="660400" y="2477770"/>
                <a:ext cx="2560286" cy="3522980"/>
              </a:xfrm>
              <a:prstGeom prst="roundRect">
                <a:avLst>
                  <a:gd name="adj" fmla="val 3341"/>
                </a:avLst>
              </a:pr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54011" y="3295650"/>
                <a:ext cx="2373064" cy="67928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平台运营仪表盘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54011" y="3974937"/>
                <a:ext cx="2373064" cy="170196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spcAft>
                    <a:spcPts val="600"/>
                  </a:spcAft>
                  <a:buClr>
                    <a:srgbClr val="2B252B">
                      <a:alpha val="100000"/>
                    </a:srgbClr>
                  </a:buClr>
                  <a:buFont typeface="Arial"/>
                  <a:buChar char="•"/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提供订单、用户、收入等关键指标的实时监控与分析，为运营决策提供数据支持。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402080" y="2768600"/>
                <a:ext cx="1076926" cy="456082"/>
              </a:xfrm>
              <a:prstGeom prst="roundRect">
                <a:avLst>
                  <a:gd name="adj" fmla="val 50000"/>
                </a:avLst>
              </a:prstGeom>
              <a:solidFill>
                <a:srgbClr val="372E68">
                  <a:alpha val="100000"/>
                  <a:lumMod val="75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4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3426471" y="2477770"/>
              <a:ext cx="2560286" cy="3522980"/>
              <a:chOff x="3426471" y="2477770"/>
              <a:chExt cx="2560286" cy="3522980"/>
            </a:xfrm>
          </p:grpSpPr>
          <p:sp>
            <p:nvSpPr>
              <p:cNvPr id="11" name="AutoShape 11"/>
              <p:cNvSpPr/>
              <p:nvPr/>
            </p:nvSpPr>
            <p:spPr>
              <a:xfrm>
                <a:off x="3426471" y="2477770"/>
                <a:ext cx="2560286" cy="3522980"/>
              </a:xfrm>
              <a:prstGeom prst="roundRect">
                <a:avLst>
                  <a:gd name="adj" fmla="val 3341"/>
                </a:avLst>
              </a:pr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3520082" y="3295650"/>
                <a:ext cx="2373064" cy="67928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用户与商户管理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3520082" y="3974937"/>
                <a:ext cx="2373064" cy="170196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spcAft>
                    <a:spcPts val="600"/>
                  </a:spcAft>
                  <a:buClr>
                    <a:srgbClr val="2B252B">
                      <a:alpha val="100000"/>
                    </a:srgbClr>
                  </a:buClr>
                  <a:buFont typeface="Arial"/>
                  <a:buChar char="•"/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对平台用户和认证商家进行统一管理，包括状态维护、权限配置等。</a:t>
                </a:r>
                <a:endParaRPr lang="en-US" sz="110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168151" y="2768600"/>
                <a:ext cx="1076926" cy="456082"/>
              </a:xfrm>
              <a:prstGeom prst="roundRect">
                <a:avLst>
                  <a:gd name="adj" fmla="val 50000"/>
                </a:avLst>
              </a:prstGeom>
              <a:solidFill>
                <a:srgbClr val="372E68">
                  <a:alpha val="100000"/>
                  <a:lumMod val="75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4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6192542" y="2477770"/>
              <a:ext cx="2560286" cy="3522980"/>
              <a:chOff x="6192542" y="2477770"/>
              <a:chExt cx="2560286" cy="3522980"/>
            </a:xfrm>
          </p:grpSpPr>
          <p:sp>
            <p:nvSpPr>
              <p:cNvPr id="16" name="AutoShape 16"/>
              <p:cNvSpPr/>
              <p:nvPr/>
            </p:nvSpPr>
            <p:spPr>
              <a:xfrm>
                <a:off x="6192542" y="2477770"/>
                <a:ext cx="2560286" cy="3522980"/>
              </a:xfrm>
              <a:prstGeom prst="roundRect">
                <a:avLst>
                  <a:gd name="adj" fmla="val 3341"/>
                </a:avLst>
              </a:pr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6286153" y="3295650"/>
                <a:ext cx="2373064" cy="67928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商品管理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6286153" y="3974937"/>
                <a:ext cx="2373064" cy="170196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spcAft>
                    <a:spcPts val="600"/>
                  </a:spcAft>
                  <a:buClr>
                    <a:srgbClr val="2B252B">
                      <a:alpha val="100000"/>
                    </a:srgbClr>
                  </a:buClr>
                  <a:buFont typeface="Arial"/>
                  <a:buChar char="•"/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支持商品的上架、下架、编辑等维护操作，对应后端ProductManagement模块。</a:t>
                </a:r>
                <a:endParaRPr lang="en-US" sz="110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6934222" y="2768600"/>
                <a:ext cx="1076926" cy="456082"/>
              </a:xfrm>
              <a:prstGeom prst="roundRect">
                <a:avLst>
                  <a:gd name="adj" fmla="val 50000"/>
                </a:avLst>
              </a:prstGeom>
              <a:solidFill>
                <a:srgbClr val="372E68">
                  <a:alpha val="100000"/>
                  <a:lumMod val="75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4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8958614" y="2477770"/>
              <a:ext cx="2560286" cy="3522980"/>
              <a:chOff x="8958614" y="2477770"/>
              <a:chExt cx="2560286" cy="3522980"/>
            </a:xfrm>
          </p:grpSpPr>
          <p:sp>
            <p:nvSpPr>
              <p:cNvPr id="21" name="AutoShape 21"/>
              <p:cNvSpPr/>
              <p:nvPr/>
            </p:nvSpPr>
            <p:spPr>
              <a:xfrm>
                <a:off x="8958614" y="2477770"/>
                <a:ext cx="2560286" cy="3522980"/>
              </a:xfrm>
              <a:prstGeom prst="roundRect">
                <a:avLst>
                  <a:gd name="adj" fmla="val 3341"/>
                </a:avLst>
              </a:pr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9052225" y="3295650"/>
                <a:ext cx="2373064" cy="67928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系统配置管理</a:t>
                </a:r>
                <a:endParaRPr lang="en-US" sz="1100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9052225" y="3974937"/>
                <a:ext cx="2373064" cy="170196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spcAft>
                    <a:spcPts val="600"/>
                  </a:spcAft>
                  <a:buClr>
                    <a:srgbClr val="2B252B">
                      <a:alpha val="100000"/>
                    </a:srgbClr>
                  </a:buClr>
                  <a:buFont typeface="Arial"/>
                  <a:buChar char="•"/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对数据字典、系统参数、配置项等进行管理，保障平台的灵活性和可配置性。</a:t>
                </a:r>
                <a:endParaRPr lang="en-US" sz="1100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9700294" y="2768600"/>
                <a:ext cx="1076926" cy="456082"/>
              </a:xfrm>
              <a:prstGeom prst="roundRect">
                <a:avLst>
                  <a:gd name="adj" fmla="val 50000"/>
                </a:avLst>
              </a:prstGeom>
              <a:solidFill>
                <a:srgbClr val="372E68">
                  <a:alpha val="100000"/>
                  <a:lumMod val="75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4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04</a:t>
                </a:r>
                <a:endParaRPr lang="en-US" sz="1100"/>
              </a:p>
            </p:txBody>
          </p:sp>
        </p:grpSp>
      </p:grpSp>
      <p:sp>
        <p:nvSpPr>
          <p:cNvPr id="25" name="TextBox 25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 strike="noStrike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后台管理功能模块介绍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317998" y="1130300"/>
            <a:ext cx="7200901" cy="1398993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6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未来发展规划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4317998" y="2529293"/>
            <a:ext cx="7200901" cy="3604807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buFont typeface="Arial"/>
              <a:buChar char="•"/>
              <a:defRPr/>
            </a:pPr>
            <a:r>
              <a:rPr lang="en-US" sz="1400" b="0" i="0" strike="noStrike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支付与资产规划</a:t>
            </a:r>
            <a:endParaRPr lang="en-US" sz="1100"/>
          </a:p>
          <a:p>
            <a:pPr algn="l">
              <a:lnSpc>
                <a:spcPct val="100000"/>
              </a:lnSpc>
              <a:spcBef>
                <a:spcPts val="0"/>
              </a:spcBef>
              <a:buFont typeface="Arial"/>
              <a:buChar char="•"/>
            </a:pPr>
            <a:r>
              <a:rPr sz="1400" b="0" i="0" strike="noStrike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增长与社区规划</a:t>
            </a:r>
            <a:endParaRPr/>
          </a:p>
          <a:p>
            <a:pPr algn="l">
              <a:lnSpc>
                <a:spcPct val="100000"/>
              </a:lnSpc>
              <a:spcBef>
                <a:spcPts val="0"/>
              </a:spcBef>
              <a:buFont typeface="Arial"/>
              <a:buChar char="•"/>
            </a:pPr>
            <a:r>
              <a:rPr sz="1400" b="0" i="0" strike="noStrike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创作者与商业化</a:t>
            </a:r>
            <a:endParaRPr/>
          </a:p>
          <a:p>
            <a:pPr algn="l">
              <a:lnSpc>
                <a:spcPct val="100000"/>
              </a:lnSpc>
              <a:spcBef>
                <a:spcPts val="0"/>
              </a:spcBef>
              <a:buFont typeface="Arial"/>
              <a:buChar char="•"/>
            </a:pPr>
            <a:r>
              <a:rPr sz="1400" b="0" i="0" strike="noStrike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安全与工程化交付</a:t>
            </a:r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000000">
                    <a:alpha val="100000"/>
                    <a:tint val="75000"/>
                  </a:srgbClr>
                </a:solidFill>
                <a:latin typeface="Arial"/>
                <a:ea typeface="Arial"/>
                <a:cs typeface="Arial"/>
              </a:rPr>
              <a:t>3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73277981-ae9a-4043-b87f-e089ce2f8e8a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000000">
                    <a:alpha val="100000"/>
                    <a:tint val="75000"/>
                  </a:srgbClr>
                </a:solidFill>
                <a:latin typeface="Arial"/>
                <a:ea typeface="Arial"/>
                <a:cs typeface="Arial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660400" y="1130300"/>
            <a:ext cx="10858500" cy="5003800"/>
            <a:chOff x="660400" y="1130300"/>
            <a:chExt cx="10858500" cy="5003800"/>
          </a:xfrm>
        </p:grpSpPr>
        <p:sp>
          <p:nvSpPr>
            <p:cNvPr id="4" name="TextBox 4"/>
            <p:cNvSpPr txBox="1"/>
            <p:nvPr/>
          </p:nvSpPr>
          <p:spPr>
            <a:xfrm>
              <a:off x="660400" y="1130300"/>
              <a:ext cx="10858500" cy="1658620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lnSpc>
                  <a:spcPct val="120000"/>
                </a:lnSpc>
                <a:defRPr/>
              </a:pPr>
              <a:r>
                <a:rPr lang="en-US" sz="2400" b="1" i="0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持续深化支付体系与资产能力</a:t>
              </a:r>
              <a:endParaRPr lang="en-US" sz="1100"/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767080" y="3256280"/>
              <a:ext cx="3276600" cy="2877820"/>
              <a:chOff x="767080" y="3256280"/>
              <a:chExt cx="3276600" cy="2877820"/>
            </a:xfrm>
          </p:grpSpPr>
          <p:sp>
            <p:nvSpPr>
              <p:cNvPr id="6" name="AutoShape 6"/>
              <p:cNvSpPr/>
              <p:nvPr/>
            </p:nvSpPr>
            <p:spPr>
              <a:xfrm>
                <a:off x="767080" y="3256280"/>
                <a:ext cx="3276600" cy="2877820"/>
              </a:xfrm>
              <a:prstGeom prst="roundRect">
                <a:avLst>
                  <a:gd name="adj" fmla="val 11033"/>
                </a:avLst>
              </a:prstGeom>
              <a:solidFill>
                <a:srgbClr val="372E68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960120" y="3535680"/>
                <a:ext cx="2890520" cy="630952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更多支付资产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960121" y="4166632"/>
                <a:ext cx="2890520" cy="1208008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在现有“双币支付”基础上，扩展支持更多合规的主流稳定币与资产，丰富支付选择。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043940" y="5516880"/>
                <a:ext cx="1361440" cy="360680"/>
              </a:xfrm>
              <a:prstGeom prst="roundRect">
                <a:avLst/>
              </a:pr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800" b="0" i="0">
                    <a:ln/>
                    <a:solidFill>
                      <a:srgbClr val="372E68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4504690" y="3256280"/>
              <a:ext cx="3276600" cy="2877820"/>
              <a:chOff x="767080" y="3256280"/>
              <a:chExt cx="3276600" cy="2877820"/>
            </a:xfrm>
          </p:grpSpPr>
          <p:sp>
            <p:nvSpPr>
              <p:cNvPr id="11" name="AutoShape 11"/>
              <p:cNvSpPr/>
              <p:nvPr/>
            </p:nvSpPr>
            <p:spPr>
              <a:xfrm>
                <a:off x="767080" y="3256280"/>
                <a:ext cx="3276600" cy="2877820"/>
              </a:xfrm>
              <a:prstGeom prst="roundRect">
                <a:avLst>
                  <a:gd name="adj" fmla="val 11033"/>
                </a:avLst>
              </a:prstGeom>
              <a:solidFill>
                <a:srgbClr val="372E68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960120" y="3535680"/>
                <a:ext cx="2890520" cy="630952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多链网络体验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960121" y="4166632"/>
                <a:ext cx="2890520" cy="1208008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推进多链部署，优化跨链资产视图与切换体验，提升用户在不同链上的资产操作效率。</a:t>
                </a:r>
                <a:endParaRPr lang="en-US" sz="110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043940" y="5516880"/>
                <a:ext cx="1361440" cy="360680"/>
              </a:xfrm>
              <a:prstGeom prst="roundRect">
                <a:avLst/>
              </a:pr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800" b="0" i="0">
                    <a:ln/>
                    <a:solidFill>
                      <a:srgbClr val="372E68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8242300" y="3256280"/>
              <a:ext cx="3276600" cy="2877820"/>
              <a:chOff x="767080" y="3256280"/>
              <a:chExt cx="3276600" cy="2877820"/>
            </a:xfrm>
          </p:grpSpPr>
          <p:sp>
            <p:nvSpPr>
              <p:cNvPr id="16" name="AutoShape 16"/>
              <p:cNvSpPr/>
              <p:nvPr/>
            </p:nvSpPr>
            <p:spPr>
              <a:xfrm>
                <a:off x="767080" y="3256280"/>
                <a:ext cx="3276600" cy="2877820"/>
              </a:xfrm>
              <a:prstGeom prst="roundRect">
                <a:avLst>
                  <a:gd name="adj" fmla="val 11033"/>
                </a:avLst>
              </a:prstGeom>
              <a:solidFill>
                <a:srgbClr val="372E68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960120" y="3535680"/>
                <a:ext cx="2890520" cy="630952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核心合约深化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960121" y="4166632"/>
                <a:ext cx="2890520" cy="1208008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持续迭代核心交易、商家认证、商品形态等合约逻辑，从V1 MVP向V2\/V3高级版本演进。</a:t>
                </a:r>
                <a:endParaRPr lang="en-US" sz="110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043940" y="5516880"/>
                <a:ext cx="1361440" cy="360680"/>
              </a:xfrm>
              <a:prstGeom prst="roundRect">
                <a:avLst/>
              </a:pr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800" b="0" i="0">
                    <a:ln/>
                    <a:solidFill>
                      <a:srgbClr val="372E68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</p:grpSp>
      </p:grpSp>
      <p:sp>
        <p:nvSpPr>
          <p:cNvPr id="20" name="TextBox 20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支付与资产规划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109db50-407d-4248-9301-5a70e5ea2762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000000">
                    <a:alpha val="100000"/>
                    <a:tint val="75000"/>
                  </a:srgbClr>
                </a:solidFill>
                <a:latin typeface="Arial"/>
                <a:ea typeface="Arial"/>
                <a:cs typeface="Arial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660400" y="1130301"/>
            <a:ext cx="10858500" cy="5003799"/>
            <a:chOff x="660400" y="1130301"/>
            <a:chExt cx="10858500" cy="5003799"/>
          </a:xfrm>
        </p:grpSpPr>
        <p:sp>
          <p:nvSpPr>
            <p:cNvPr id="4" name="AutoShape 4"/>
            <p:cNvSpPr/>
            <p:nvPr/>
          </p:nvSpPr>
          <p:spPr>
            <a:xfrm>
              <a:off x="660400" y="2996141"/>
              <a:ext cx="10858500" cy="261690"/>
            </a:xfrm>
            <a:prstGeom prst="homePlate">
              <a:avLst>
                <a:gd name="adj" fmla="val 50000"/>
              </a:avLst>
            </a:prstGeom>
            <a:solidFill>
              <a:srgbClr val="768394">
                <a:alpha val="10196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4122786" y="3126986"/>
              <a:ext cx="362310" cy="0"/>
            </a:xfrm>
            <a:prstGeom prst="straightConnector1">
              <a:avLst/>
            </a:prstGeom>
            <a:ln w="12700">
              <a:solidFill>
                <a:srgbClr val="768394">
                  <a:alpha val="50196"/>
                </a:srgbClr>
              </a:solidFill>
              <a:prstDash val="sysDash"/>
              <a:headEnd type="none"/>
              <a:tailEnd type="triangle"/>
            </a:ln>
          </p:spPr>
        </p:sp>
        <p:sp>
          <p:nvSpPr>
            <p:cNvPr id="6" name="AutoShape 6"/>
            <p:cNvSpPr/>
            <p:nvPr/>
          </p:nvSpPr>
          <p:spPr>
            <a:xfrm>
              <a:off x="7930991" y="3126986"/>
              <a:ext cx="362310" cy="0"/>
            </a:xfrm>
            <a:prstGeom prst="straightConnector1">
              <a:avLst/>
            </a:prstGeom>
            <a:ln w="12700">
              <a:solidFill>
                <a:srgbClr val="768394">
                  <a:alpha val="50196"/>
                </a:srgbClr>
              </a:solidFill>
              <a:prstDash val="sysDash"/>
              <a:headEnd type="none"/>
              <a:tailEnd type="triangle"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60400" y="1130301"/>
              <a:ext cx="10858500" cy="1084876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  <a:r>
                <a:rPr lang="en-US" sz="2400" b="1" i="0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强化社区治理与生态增长能力</a:t>
              </a:r>
              <a:endParaRPr lang="en-US" sz="1100"/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660400" y="2584366"/>
              <a:ext cx="3480905" cy="3549734"/>
              <a:chOff x="660400" y="2584366"/>
              <a:chExt cx="3480905" cy="3549734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1858233" y="2584366"/>
                <a:ext cx="1085240" cy="1085240"/>
              </a:xfrm>
              <a:prstGeom prst="ellipse">
                <a:avLst/>
              </a:prstGeom>
              <a:gradFill>
                <a:gsLst>
                  <a:gs pos="0">
                    <a:srgbClr val="372E68">
                      <a:alpha val="100000"/>
                    </a:srgbClr>
                  </a:gs>
                  <a:gs pos="77999">
                    <a:srgbClr val="3462E1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4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660400" y="3800451"/>
                <a:ext cx="3480905" cy="80301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spcBef>
                    <a:spcPts val="0"/>
                  </a:spcBef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活动编排深化</a:t>
                </a:r>
                <a:endParaRPr lang="en-US" sz="110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660400" y="4603470"/>
                <a:ext cx="3480905" cy="153063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spcBef>
                    <a:spcPts val="0"/>
                  </a:spcBef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持续完善Bags活动从列表、launch到快照权益等全流程功能，增强活动吸引力。</a:t>
                </a:r>
                <a:endParaRPr lang="en-US" sz="1100"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4349200" y="2584366"/>
              <a:ext cx="3480905" cy="3549734"/>
              <a:chOff x="4349200" y="2584366"/>
              <a:chExt cx="3480905" cy="3549734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5547030" y="2584366"/>
                <a:ext cx="1085240" cy="1085240"/>
              </a:xfrm>
              <a:prstGeom prst="ellipse">
                <a:avLst/>
              </a:prstGeom>
              <a:gradFill>
                <a:gsLst>
                  <a:gs pos="0">
                    <a:srgbClr val="372E68">
                      <a:alpha val="100000"/>
                    </a:srgbClr>
                  </a:gs>
                  <a:gs pos="77999">
                    <a:srgbClr val="3462E1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4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349200" y="3800451"/>
                <a:ext cx="3480905" cy="80301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spcBef>
                    <a:spcPts val="0"/>
                  </a:spcBef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DAO治理深化</a:t>
                </a:r>
                <a:endParaRPr lang="en-US" sz="110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349200" y="4603470"/>
                <a:ext cx="3480905" cy="153063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spcBef>
                    <a:spcPts val="0"/>
                  </a:spcBef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引入贡献度加权投票、金库子预算、委托投票等高级治理功能，提升社区治理效率与参与度。</a:t>
                </a:r>
                <a:endParaRPr lang="en-US" sz="1100"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8037995" y="2584366"/>
              <a:ext cx="3480905" cy="3549734"/>
              <a:chOff x="8037995" y="2584366"/>
              <a:chExt cx="3480905" cy="3549734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9235827" y="2584366"/>
                <a:ext cx="1085240" cy="1085240"/>
              </a:xfrm>
              <a:prstGeom prst="ellipse">
                <a:avLst/>
              </a:prstGeom>
              <a:gradFill>
                <a:gsLst>
                  <a:gs pos="0">
                    <a:srgbClr val="372E68">
                      <a:alpha val="100000"/>
                    </a:srgbClr>
                  </a:gs>
                  <a:gs pos="77999">
                    <a:srgbClr val="3462E1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4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8037995" y="3800451"/>
                <a:ext cx="3480905" cy="80301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spcBef>
                    <a:spcPts val="0"/>
                  </a:spcBef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社区运营工具</a:t>
                </a:r>
                <a:endParaRPr lang="en-US" sz="110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8037995" y="4603470"/>
                <a:ext cx="3480905" cy="153063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spcBef>
                    <a:spcPts val="0"/>
                  </a:spcBef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开发评论、讨论、通知、等级徽章等社交功能，增强社区成员间的互动与粘性。</a:t>
                </a:r>
                <a:endParaRPr lang="en-US" sz="1100"/>
              </a:p>
            </p:txBody>
          </p:sp>
        </p:grpSp>
      </p:grpSp>
      <p:sp>
        <p:nvSpPr>
          <p:cNvPr id="20" name="TextBox 20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增长与社区规划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587eec33-e0b8-4fdf-ae9f-d503b5ccd190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000000">
                    <a:alpha val="100000"/>
                    <a:tint val="75000"/>
                  </a:srgbClr>
                </a:solidFill>
                <a:latin typeface="Arial"/>
                <a:ea typeface="Arial"/>
                <a:cs typeface="Arial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660400" y="1130300"/>
            <a:ext cx="10858500" cy="5003800"/>
            <a:chOff x="660400" y="1130300"/>
            <a:chExt cx="10858500" cy="5003800"/>
          </a:xfrm>
        </p:grpSpPr>
        <p:sp>
          <p:nvSpPr>
            <p:cNvPr id="4" name="AutoShape 4"/>
            <p:cNvSpPr/>
            <p:nvPr/>
          </p:nvSpPr>
          <p:spPr>
            <a:xfrm>
              <a:off x="660400" y="1130300"/>
              <a:ext cx="10858500" cy="5003800"/>
            </a:xfrm>
            <a:prstGeom prst="roundRect">
              <a:avLst>
                <a:gd name="adj" fmla="val 4421"/>
              </a:avLst>
            </a:prstGeom>
            <a:solidFill>
              <a:srgbClr val="372E68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49651" y="1337017"/>
              <a:ext cx="10080000" cy="821609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  <a:r>
                <a:rPr lang="en-US" sz="2400" b="1" i="0">
                  <a:ln/>
                  <a:solidFill>
                    <a:srgbClr val="FFFFFF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赋能创作者并拓展平台商业模式</a:t>
              </a:r>
              <a:endParaRPr lang="en-US" sz="1100"/>
            </a:p>
          </p:txBody>
        </p:sp>
        <p:sp>
          <p:nvSpPr>
            <p:cNvPr id="6" name="AutoShape 6"/>
            <p:cNvSpPr/>
            <p:nvPr/>
          </p:nvSpPr>
          <p:spPr>
            <a:xfrm>
              <a:off x="1229651" y="2333274"/>
              <a:ext cx="9720000" cy="0"/>
            </a:xfrm>
            <a:prstGeom prst="line">
              <a:avLst/>
            </a:prstGeom>
            <a:ln w="6350">
              <a:solidFill>
                <a:srgbClr val="FFFFFF">
                  <a:alpha val="50196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7" name="AutoShape 7"/>
            <p:cNvSpPr/>
            <p:nvPr/>
          </p:nvSpPr>
          <p:spPr>
            <a:xfrm>
              <a:off x="1229651" y="3275463"/>
              <a:ext cx="9720000" cy="0"/>
            </a:xfrm>
            <a:prstGeom prst="line">
              <a:avLst/>
            </a:prstGeom>
            <a:ln w="6350">
              <a:solidFill>
                <a:srgbClr val="FFFFFF">
                  <a:alpha val="50196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8" name="AutoShape 8"/>
            <p:cNvSpPr/>
            <p:nvPr/>
          </p:nvSpPr>
          <p:spPr>
            <a:xfrm>
              <a:off x="1229651" y="4217652"/>
              <a:ext cx="9720000" cy="0"/>
            </a:xfrm>
            <a:prstGeom prst="line">
              <a:avLst/>
            </a:prstGeom>
            <a:ln w="6350">
              <a:solidFill>
                <a:srgbClr val="FFFFFF">
                  <a:alpha val="50196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9" name="AutoShape 9"/>
            <p:cNvSpPr/>
            <p:nvPr/>
          </p:nvSpPr>
          <p:spPr>
            <a:xfrm>
              <a:off x="1229651" y="5159840"/>
              <a:ext cx="9720000" cy="0"/>
            </a:xfrm>
            <a:prstGeom prst="line">
              <a:avLst/>
            </a:prstGeom>
            <a:ln w="6350">
              <a:solidFill>
                <a:srgbClr val="FFFFFF">
                  <a:alpha val="50196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1322364" y="2507922"/>
              <a:ext cx="9627287" cy="592893"/>
              <a:chOff x="1999020" y="1998799"/>
              <a:chExt cx="9627287" cy="829613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1999020" y="2061798"/>
                <a:ext cx="519136" cy="705228"/>
              </a:xfrm>
              <a:prstGeom prst="roundRect">
                <a:avLst>
                  <a:gd name="adj" fmla="val 50000"/>
                </a:avLst>
              </a:pr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ln/>
                    <a:solidFill>
                      <a:srgbClr val="372E68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5651074" y="1998799"/>
                <a:ext cx="5975233" cy="82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开发模板、批量上架、版税设置、二次销售版税聚合等工具，降低创作者运营门槛。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2626494" y="2000412"/>
                <a:ext cx="2880000" cy="82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spcBef>
                    <a:spcPts val="0"/>
                  </a:spcBef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创作者工具箱</a:t>
                </a:r>
                <a:endParaRPr lang="en-US" sz="110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1322364" y="3450111"/>
              <a:ext cx="9627287" cy="592893"/>
              <a:chOff x="1999020" y="3002164"/>
              <a:chExt cx="9627287" cy="829613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1999020" y="3065163"/>
                <a:ext cx="519136" cy="705228"/>
              </a:xfrm>
              <a:prstGeom prst="roundRect">
                <a:avLst>
                  <a:gd name="adj" fmla="val 50000"/>
                </a:avLst>
              </a:pr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ln/>
                    <a:solidFill>
                      <a:srgbClr val="372E68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5651074" y="3002164"/>
                <a:ext cx="5975233" cy="82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逐步支持从虚拟商品到更丰富的数字资产标准（如ERC-1155），拓展平台交易品类。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2626494" y="3003777"/>
                <a:ext cx="2880000" cy="82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spcBef>
                    <a:spcPts val="0"/>
                  </a:spcBef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商品类型扩展</a:t>
                </a:r>
                <a:endParaRPr lang="en-US" sz="1100"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1322364" y="4392300"/>
              <a:ext cx="9627287" cy="592892"/>
              <a:chOff x="1999020" y="4005529"/>
              <a:chExt cx="9627287" cy="829612"/>
            </a:xfrm>
          </p:grpSpPr>
          <p:sp>
            <p:nvSpPr>
              <p:cNvPr id="19" name="TextBox 19"/>
              <p:cNvSpPr txBox="1"/>
              <p:nvPr/>
            </p:nvSpPr>
            <p:spPr>
              <a:xfrm>
                <a:off x="1999020" y="4068528"/>
                <a:ext cx="519136" cy="705229"/>
              </a:xfrm>
              <a:prstGeom prst="roundRect">
                <a:avLst>
                  <a:gd name="adj" fmla="val 50000"/>
                </a:avLst>
              </a:pr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ln/>
                    <a:solidFill>
                      <a:srgbClr val="372E68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5651074" y="4005529"/>
                <a:ext cx="5975233" cy="82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提供对外API\/SDK，集成第三方服务，构建开放的生态系统，实现价值共创。</a:t>
                </a:r>
                <a:endParaRPr lang="en-US" sz="1100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2626494" y="4007141"/>
                <a:ext cx="2880000" cy="82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spcBef>
                    <a:spcPts val="0"/>
                  </a:spcBef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开放生态集成</a:t>
                </a:r>
                <a:endParaRPr lang="en-US" sz="1100"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1322364" y="5334491"/>
              <a:ext cx="9627287" cy="592892"/>
              <a:chOff x="1999020" y="4005529"/>
              <a:chExt cx="9627287" cy="829612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1999020" y="4068528"/>
                <a:ext cx="519136" cy="705229"/>
              </a:xfrm>
              <a:prstGeom prst="roundRect">
                <a:avLst>
                  <a:gd name="adj" fmla="val 50000"/>
                </a:avLst>
              </a:pr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ln/>
                    <a:solidFill>
                      <a:srgbClr val="372E68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04</a:t>
                </a:r>
                <a:endParaRPr lang="en-US" sz="1100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5651074" y="4005529"/>
                <a:ext cx="5975233" cy="82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建设行为分析、销售看板、A\/B测试框架等数据能力，驱动精细化运营与商业化决策。</a:t>
                </a:r>
                <a:endParaRPr lang="en-US" sz="1100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2626494" y="4007141"/>
                <a:ext cx="2880000" cy="82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spcBef>
                    <a:spcPts val="0"/>
                  </a:spcBef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数据分析与运营</a:t>
                </a:r>
                <a:endParaRPr lang="en-US" sz="1100"/>
              </a:p>
            </p:txBody>
          </p:sp>
        </p:grpSp>
      </p:grpSp>
      <p:sp>
        <p:nvSpPr>
          <p:cNvPr id="26" name="TextBox 26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创作者与商业化</a:t>
            </a:r>
            <a:endParaRPr lang="en-US" sz="11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0f23fbe-4568-4c5b-aef9-dd6a420edb55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000000">
                    <a:alpha val="100000"/>
                    <a:tint val="75000"/>
                  </a:srgbClr>
                </a:solidFill>
                <a:latin typeface="Arial"/>
                <a:ea typeface="Arial"/>
                <a:cs typeface="Arial"/>
              </a:rPr>
              <a:t>4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660400" y="1130300"/>
            <a:ext cx="10858500" cy="49025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1"/>
          <a:lstStyle/>
          <a:p>
            <a:pPr algn="ctr">
              <a:defRPr/>
            </a:pPr>
            <a:r>
              <a:rPr lang="en-US" sz="24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确保平台长期稳定与安全运行</a:t>
            </a:r>
            <a:endParaRPr lang="en-US" sz="1100"/>
          </a:p>
        </p:txBody>
      </p:sp>
      <p:grpSp>
        <p:nvGrpSpPr>
          <p:cNvPr id="4" name="Group 4"/>
          <p:cNvGrpSpPr/>
          <p:nvPr/>
        </p:nvGrpSpPr>
        <p:grpSpPr>
          <a:xfrm>
            <a:off x="744358" y="2336800"/>
            <a:ext cx="10690584" cy="3086100"/>
            <a:chOff x="828316" y="2336800"/>
            <a:chExt cx="10690584" cy="3086100"/>
          </a:xfrm>
        </p:grpSpPr>
        <p:grpSp>
          <p:nvGrpSpPr>
            <p:cNvPr id="5" name="Group 5"/>
            <p:cNvGrpSpPr/>
            <p:nvPr/>
          </p:nvGrpSpPr>
          <p:grpSpPr>
            <a:xfrm>
              <a:off x="828316" y="2336800"/>
              <a:ext cx="5203042" cy="1388850"/>
              <a:chOff x="1054100" y="2044700"/>
              <a:chExt cx="4726075" cy="1261533"/>
            </a:xfrm>
          </p:grpSpPr>
          <p:sp>
            <p:nvSpPr>
              <p:cNvPr id="6" name="AutoShape 6"/>
              <p:cNvSpPr/>
              <p:nvPr/>
            </p:nvSpPr>
            <p:spPr>
              <a:xfrm>
                <a:off x="1054100" y="2044700"/>
                <a:ext cx="4726075" cy="1261533"/>
              </a:xfrm>
              <a:custGeom>
                <a:avLst/>
                <a:gdLst/>
                <a:ahLst/>
                <a:cxnLst/>
                <a:rect l="l" t="t" r="r" b="b"/>
                <a:pathLst>
                  <a:path w="4726075" h="1205804">
                    <a:moveTo>
                      <a:pt x="0" y="0"/>
                    </a:moveTo>
                    <a:lnTo>
                      <a:pt x="4123173" y="0"/>
                    </a:lnTo>
                    <a:cubicBezTo>
                      <a:pt x="4456147" y="0"/>
                      <a:pt x="4726075" y="269928"/>
                      <a:pt x="4726075" y="602902"/>
                    </a:cubicBezTo>
                    <a:lnTo>
                      <a:pt x="4726074" y="602902"/>
                    </a:lnTo>
                    <a:cubicBezTo>
                      <a:pt x="4726074" y="935876"/>
                      <a:pt x="4456146" y="1205804"/>
                      <a:pt x="4123172" y="1205804"/>
                    </a:cubicBezTo>
                    <a:lnTo>
                      <a:pt x="0" y="1205803"/>
                    </a:lnTo>
                    <a:close/>
                  </a:path>
                </a:pathLst>
              </a:custGeom>
              <a:solidFill>
                <a:srgbClr val="768394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grpSp>
            <p:nvGrpSpPr>
              <p:cNvPr id="7" name="Group 7"/>
              <p:cNvGrpSpPr/>
              <p:nvPr/>
            </p:nvGrpSpPr>
            <p:grpSpPr>
              <a:xfrm>
                <a:off x="1178025" y="2089671"/>
                <a:ext cx="4465952" cy="1169996"/>
                <a:chOff x="1178025" y="2089671"/>
                <a:chExt cx="4465952" cy="1169996"/>
              </a:xfrm>
            </p:grpSpPr>
            <p:sp>
              <p:nvSpPr>
                <p:cNvPr id="8" name="TextBox 8"/>
                <p:cNvSpPr txBox="1"/>
                <p:nvPr/>
              </p:nvSpPr>
              <p:spPr>
                <a:xfrm>
                  <a:off x="4595739" y="2151347"/>
                  <a:ext cx="1048238" cy="1048238"/>
                </a:xfrm>
                <a:prstGeom prst="ellipse">
                  <a:avLst/>
                </a:prstGeom>
                <a:solidFill>
                  <a:srgbClr val="372E68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ctr" anchorCtr="0"/>
                <a:lstStyle/>
                <a:p>
                  <a:pPr algn="ctr">
                    <a:defRPr/>
                  </a:pPr>
                  <a:r>
                    <a:rPr lang="en-US" sz="2400" b="1" i="0">
                      <a:ln/>
                      <a:solidFill>
                        <a:srgbClr val="FFFFFF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01</a:t>
                  </a:r>
                  <a:endParaRPr lang="en-US" sz="1100"/>
                </a:p>
              </p:txBody>
            </p:sp>
            <p:sp>
              <p:nvSpPr>
                <p:cNvPr id="9" name="TextBox 9"/>
                <p:cNvSpPr txBox="1"/>
                <p:nvPr/>
              </p:nvSpPr>
              <p:spPr>
                <a:xfrm>
                  <a:off x="1178025" y="2089671"/>
                  <a:ext cx="3293789" cy="435717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defRPr/>
                  </a:pPr>
                  <a:r>
                    <a:rPr lang="en-US" sz="1800" b="1" i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智能合约安全审计</a:t>
                  </a:r>
                  <a:endParaRPr lang="en-US" sz="1100"/>
                </a:p>
              </p:txBody>
            </p:sp>
            <p:sp>
              <p:nvSpPr>
                <p:cNvPr id="10" name="TextBox 10"/>
                <p:cNvSpPr txBox="1"/>
                <p:nvPr/>
              </p:nvSpPr>
              <p:spPr>
                <a:xfrm>
                  <a:off x="1178025" y="2525388"/>
                  <a:ext cx="3293789" cy="734279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1200" b="0" i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在核心合约部署前及每次重大升级后，均需经过严格的第三方安全审计，防范潜在漏洞风险。</a:t>
                  </a:r>
                  <a:endParaRPr lang="en-US" sz="1100"/>
                </a:p>
              </p:txBody>
            </p:sp>
          </p:grpSp>
        </p:grpSp>
        <p:grpSp>
          <p:nvGrpSpPr>
            <p:cNvPr id="11" name="Group 11"/>
            <p:cNvGrpSpPr/>
            <p:nvPr/>
          </p:nvGrpSpPr>
          <p:grpSpPr>
            <a:xfrm>
              <a:off x="6315858" y="2336800"/>
              <a:ext cx="5203042" cy="1388850"/>
              <a:chOff x="6373725" y="2044700"/>
              <a:chExt cx="4726075" cy="1261533"/>
            </a:xfrm>
          </p:grpSpPr>
          <p:sp>
            <p:nvSpPr>
              <p:cNvPr id="12" name="AutoShape 12"/>
              <p:cNvSpPr/>
              <p:nvPr/>
            </p:nvSpPr>
            <p:spPr>
              <a:xfrm>
                <a:off x="6373725" y="2044700"/>
                <a:ext cx="4726075" cy="1261533"/>
              </a:xfrm>
              <a:custGeom>
                <a:avLst/>
                <a:gdLst/>
                <a:ahLst/>
                <a:cxnLst/>
                <a:rect l="l" t="t" r="r" b="b"/>
                <a:pathLst>
                  <a:path w="4726075" h="1205804">
                    <a:moveTo>
                      <a:pt x="0" y="0"/>
                    </a:moveTo>
                    <a:lnTo>
                      <a:pt x="4123173" y="0"/>
                    </a:lnTo>
                    <a:cubicBezTo>
                      <a:pt x="4456147" y="0"/>
                      <a:pt x="4726075" y="269928"/>
                      <a:pt x="4726075" y="602902"/>
                    </a:cubicBezTo>
                    <a:lnTo>
                      <a:pt x="4726074" y="602902"/>
                    </a:lnTo>
                    <a:cubicBezTo>
                      <a:pt x="4726074" y="935876"/>
                      <a:pt x="4456146" y="1205804"/>
                      <a:pt x="4123172" y="1205804"/>
                    </a:cubicBezTo>
                    <a:lnTo>
                      <a:pt x="0" y="1205803"/>
                    </a:lnTo>
                    <a:close/>
                  </a:path>
                </a:pathLst>
              </a:custGeom>
              <a:solidFill>
                <a:srgbClr val="768394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grpSp>
            <p:nvGrpSpPr>
              <p:cNvPr id="13" name="Group 13"/>
              <p:cNvGrpSpPr/>
              <p:nvPr/>
            </p:nvGrpSpPr>
            <p:grpSpPr>
              <a:xfrm>
                <a:off x="6497650" y="2089671"/>
                <a:ext cx="4465952" cy="1169996"/>
                <a:chOff x="6497650" y="2089671"/>
                <a:chExt cx="4465952" cy="1169996"/>
              </a:xfrm>
            </p:grpSpPr>
            <p:sp>
              <p:nvSpPr>
                <p:cNvPr id="14" name="TextBox 14"/>
                <p:cNvSpPr txBox="1"/>
                <p:nvPr/>
              </p:nvSpPr>
              <p:spPr>
                <a:xfrm>
                  <a:off x="9915364" y="2151347"/>
                  <a:ext cx="1048238" cy="1048238"/>
                </a:xfrm>
                <a:prstGeom prst="ellipse">
                  <a:avLst/>
                </a:prstGeom>
                <a:solidFill>
                  <a:srgbClr val="372E68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ctr" anchorCtr="0"/>
                <a:lstStyle/>
                <a:p>
                  <a:pPr algn="ctr">
                    <a:defRPr/>
                  </a:pPr>
                  <a:r>
                    <a:rPr lang="en-US" sz="2400" b="1" i="0">
                      <a:ln/>
                      <a:solidFill>
                        <a:srgbClr val="FFFFFF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02</a:t>
                  </a:r>
                  <a:endParaRPr lang="en-US" sz="1100"/>
                </a:p>
              </p:txBody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6497650" y="2089671"/>
                  <a:ext cx="3293789" cy="435717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defRPr/>
                  </a:pPr>
                  <a:r>
                    <a:rPr lang="en-US" sz="1800" b="1" i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前后端性能优化</a:t>
                  </a:r>
                  <a:endParaRPr lang="en-US" sz="1100"/>
                </a:p>
              </p:txBody>
            </p:sp>
            <p:sp>
              <p:nvSpPr>
                <p:cNvPr id="16" name="TextBox 16"/>
                <p:cNvSpPr txBox="1"/>
                <p:nvPr/>
              </p:nvSpPr>
              <p:spPr>
                <a:xfrm>
                  <a:off x="6497650" y="2525388"/>
                  <a:ext cx="3293789" cy="734279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1200" b="0" i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持续对DApp前端和后端服务进行性能分析与优化，提升用户访问速度与系统吞吐量。</a:t>
                  </a:r>
                  <a:endParaRPr lang="en-US" sz="1100"/>
                </a:p>
              </p:txBody>
            </p:sp>
          </p:grpSp>
        </p:grpSp>
        <p:grpSp>
          <p:nvGrpSpPr>
            <p:cNvPr id="17" name="Group 17"/>
            <p:cNvGrpSpPr/>
            <p:nvPr/>
          </p:nvGrpSpPr>
          <p:grpSpPr>
            <a:xfrm>
              <a:off x="828316" y="4034050"/>
              <a:ext cx="5203042" cy="1388850"/>
              <a:chOff x="1054100" y="3458634"/>
              <a:chExt cx="4726075" cy="1261533"/>
            </a:xfrm>
          </p:grpSpPr>
          <p:sp>
            <p:nvSpPr>
              <p:cNvPr id="18" name="AutoShape 18"/>
              <p:cNvSpPr/>
              <p:nvPr/>
            </p:nvSpPr>
            <p:spPr>
              <a:xfrm>
                <a:off x="1054100" y="3458634"/>
                <a:ext cx="4726075" cy="1261533"/>
              </a:xfrm>
              <a:custGeom>
                <a:avLst/>
                <a:gdLst/>
                <a:ahLst/>
                <a:cxnLst/>
                <a:rect l="l" t="t" r="r" b="b"/>
                <a:pathLst>
                  <a:path w="4726075" h="1205804">
                    <a:moveTo>
                      <a:pt x="0" y="0"/>
                    </a:moveTo>
                    <a:lnTo>
                      <a:pt x="4123173" y="0"/>
                    </a:lnTo>
                    <a:cubicBezTo>
                      <a:pt x="4456147" y="0"/>
                      <a:pt x="4726075" y="269928"/>
                      <a:pt x="4726075" y="602902"/>
                    </a:cubicBezTo>
                    <a:lnTo>
                      <a:pt x="4726074" y="602902"/>
                    </a:lnTo>
                    <a:cubicBezTo>
                      <a:pt x="4726074" y="935876"/>
                      <a:pt x="4456146" y="1205804"/>
                      <a:pt x="4123172" y="1205804"/>
                    </a:cubicBezTo>
                    <a:lnTo>
                      <a:pt x="0" y="1205803"/>
                    </a:lnTo>
                    <a:close/>
                  </a:path>
                </a:pathLst>
              </a:custGeom>
              <a:solidFill>
                <a:srgbClr val="768394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grpSp>
            <p:nvGrpSpPr>
              <p:cNvPr id="19" name="Group 19"/>
              <p:cNvGrpSpPr/>
              <p:nvPr/>
            </p:nvGrpSpPr>
            <p:grpSpPr>
              <a:xfrm>
                <a:off x="1178025" y="3503605"/>
                <a:ext cx="4465952" cy="1169996"/>
                <a:chOff x="1178025" y="3503605"/>
                <a:chExt cx="4465952" cy="1169996"/>
              </a:xfrm>
            </p:grpSpPr>
            <p:sp>
              <p:nvSpPr>
                <p:cNvPr id="20" name="TextBox 20"/>
                <p:cNvSpPr txBox="1"/>
                <p:nvPr/>
              </p:nvSpPr>
              <p:spPr>
                <a:xfrm>
                  <a:off x="4595739" y="3565281"/>
                  <a:ext cx="1048238" cy="1048238"/>
                </a:xfrm>
                <a:prstGeom prst="ellipse">
                  <a:avLst/>
                </a:prstGeom>
                <a:solidFill>
                  <a:srgbClr val="372E68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ctr" anchorCtr="0"/>
                <a:lstStyle/>
                <a:p>
                  <a:pPr algn="ctr">
                    <a:defRPr/>
                  </a:pPr>
                  <a:r>
                    <a:rPr lang="en-US" sz="2400" b="1" i="0">
                      <a:ln/>
                      <a:solidFill>
                        <a:srgbClr val="FFFFFF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03</a:t>
                  </a:r>
                  <a:endParaRPr lang="en-US" sz="1100"/>
                </a:p>
              </p:txBody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1178025" y="3503605"/>
                  <a:ext cx="3293789" cy="435717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defRPr/>
                  </a:pPr>
                  <a:r>
                    <a:rPr lang="en-US" sz="1800" b="1" i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完善技术文档</a:t>
                  </a:r>
                  <a:endParaRPr lang="en-US" sz="1100"/>
                </a:p>
              </p:txBody>
            </p:sp>
            <p:sp>
              <p:nvSpPr>
                <p:cNvPr id="22" name="TextBox 22"/>
                <p:cNvSpPr txBox="1"/>
                <p:nvPr/>
              </p:nvSpPr>
              <p:spPr>
                <a:xfrm>
                  <a:off x="1178025" y="3939322"/>
                  <a:ext cx="3293789" cy="734279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1200" b="0" i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编写并维护详尽的开发者文档、API参考和贡献指南，降低外部开发者参与门槛。</a:t>
                  </a:r>
                  <a:endParaRPr lang="en-US" sz="1100"/>
                </a:p>
              </p:txBody>
            </p:sp>
          </p:grpSp>
        </p:grpSp>
        <p:grpSp>
          <p:nvGrpSpPr>
            <p:cNvPr id="23" name="Group 23"/>
            <p:cNvGrpSpPr/>
            <p:nvPr/>
          </p:nvGrpSpPr>
          <p:grpSpPr>
            <a:xfrm>
              <a:off x="6315858" y="4034050"/>
              <a:ext cx="5203042" cy="1388850"/>
              <a:chOff x="6373725" y="3458634"/>
              <a:chExt cx="4726075" cy="1261533"/>
            </a:xfrm>
          </p:grpSpPr>
          <p:sp>
            <p:nvSpPr>
              <p:cNvPr id="24" name="AutoShape 24"/>
              <p:cNvSpPr/>
              <p:nvPr/>
            </p:nvSpPr>
            <p:spPr>
              <a:xfrm>
                <a:off x="6373725" y="3458634"/>
                <a:ext cx="4726075" cy="1261533"/>
              </a:xfrm>
              <a:custGeom>
                <a:avLst/>
                <a:gdLst/>
                <a:ahLst/>
                <a:cxnLst/>
                <a:rect l="l" t="t" r="r" b="b"/>
                <a:pathLst>
                  <a:path w="4726075" h="1205804">
                    <a:moveTo>
                      <a:pt x="0" y="0"/>
                    </a:moveTo>
                    <a:lnTo>
                      <a:pt x="4123173" y="0"/>
                    </a:lnTo>
                    <a:cubicBezTo>
                      <a:pt x="4456147" y="0"/>
                      <a:pt x="4726075" y="269928"/>
                      <a:pt x="4726075" y="602902"/>
                    </a:cubicBezTo>
                    <a:lnTo>
                      <a:pt x="4726074" y="602902"/>
                    </a:lnTo>
                    <a:cubicBezTo>
                      <a:pt x="4726074" y="935876"/>
                      <a:pt x="4456146" y="1205804"/>
                      <a:pt x="4123172" y="1205804"/>
                    </a:cubicBezTo>
                    <a:lnTo>
                      <a:pt x="0" y="1205803"/>
                    </a:lnTo>
                    <a:close/>
                  </a:path>
                </a:pathLst>
              </a:custGeom>
              <a:solidFill>
                <a:srgbClr val="768394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grpSp>
            <p:nvGrpSpPr>
              <p:cNvPr id="25" name="Group 25"/>
              <p:cNvGrpSpPr/>
              <p:nvPr/>
            </p:nvGrpSpPr>
            <p:grpSpPr>
              <a:xfrm>
                <a:off x="6497650" y="3503605"/>
                <a:ext cx="4465952" cy="1169996"/>
                <a:chOff x="6497650" y="3503605"/>
                <a:chExt cx="4465952" cy="1169996"/>
              </a:xfrm>
            </p:grpSpPr>
            <p:sp>
              <p:nvSpPr>
                <p:cNvPr id="26" name="TextBox 26"/>
                <p:cNvSpPr txBox="1"/>
                <p:nvPr/>
              </p:nvSpPr>
              <p:spPr>
                <a:xfrm>
                  <a:off x="9915364" y="3565281"/>
                  <a:ext cx="1048238" cy="1048238"/>
                </a:xfrm>
                <a:prstGeom prst="ellipse">
                  <a:avLst/>
                </a:prstGeom>
                <a:solidFill>
                  <a:srgbClr val="372E68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ctr" anchorCtr="0"/>
                <a:lstStyle/>
                <a:p>
                  <a:pPr algn="ctr">
                    <a:defRPr/>
                  </a:pPr>
                  <a:r>
                    <a:rPr lang="en-US" sz="2400" b="1" i="0">
                      <a:ln/>
                      <a:solidFill>
                        <a:srgbClr val="FFFFFF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04</a:t>
                  </a:r>
                  <a:endParaRPr lang="en-US" sz="1100"/>
                </a:p>
              </p:txBody>
            </p:sp>
            <p:sp>
              <p:nvSpPr>
                <p:cNvPr id="27" name="TextBox 27"/>
                <p:cNvSpPr txBox="1"/>
                <p:nvPr/>
              </p:nvSpPr>
              <p:spPr>
                <a:xfrm>
                  <a:off x="6497650" y="3503605"/>
                  <a:ext cx="3293789" cy="435717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defRPr/>
                  </a:pPr>
                  <a:r>
                    <a:rPr lang="en-US" sz="1800" b="1" i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建立社区指南</a:t>
                  </a:r>
                  <a:endParaRPr lang="en-US" sz="1100"/>
                </a:p>
              </p:txBody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6497650" y="3939322"/>
                  <a:ext cx="3293789" cy="734279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1200" b="0" i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制定清晰的社区行为准则、治理流程和贡献激励计划，引导社区健康、有序发展。</a:t>
                  </a:r>
                  <a:endParaRPr lang="en-US" sz="1100"/>
                </a:p>
              </p:txBody>
            </p:sp>
          </p:grpSp>
        </p:grpSp>
      </p:grpSp>
      <p:sp>
        <p:nvSpPr>
          <p:cNvPr id="29" name="TextBox 29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安全与工程化交付</a:t>
            </a:r>
            <a:endParaRPr lang="en-US" sz="11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442868" y="2694467"/>
            <a:ext cx="4945064" cy="109378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48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谢谢观看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6442867" y="3885727"/>
            <a:ext cx="4945063" cy="274320"/>
          </a:xfrm>
          <a:prstGeom prst="rect">
            <a:avLst/>
          </a:prstGeom>
          <a:ln>
            <a:headEnd type="none"/>
            <a:tailEnd type="none"/>
          </a:ln>
        </p:spPr>
      </p:sp>
      <p:sp>
        <p:nvSpPr>
          <p:cNvPr id="4" name="AutoShape 4"/>
          <p:cNvSpPr/>
          <p:nvPr/>
        </p:nvSpPr>
        <p:spPr>
          <a:xfrm>
            <a:off x="6442867" y="4160047"/>
            <a:ext cx="4945063" cy="274320"/>
          </a:xfrm>
          <a:prstGeom prst="rect">
            <a:avLst/>
          </a:prstGeom>
          <a:ln>
            <a:headEnd type="none"/>
            <a:tailEnd type="none"/>
          </a:ln>
        </p:spPr>
      </p:sp>
      <p:sp>
        <p:nvSpPr>
          <p:cNvPr id="5" name="TextBox 5"/>
          <p:cNvSpPr txBox="1"/>
          <p:nvPr/>
        </p:nvSpPr>
        <p:spPr>
          <a:xfrm>
            <a:off x="8990012" y="4086848"/>
            <a:ext cx="4905377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1400" b="0" i="0" strike="noStrike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Sapphire Mall 品牌宣传部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5b608ae8-84f8-45f4-b5ec-ab7c78d4751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1126</Words>
  <Application>Microsoft Office PowerPoint</Application>
  <PresentationFormat>宽屏</PresentationFormat>
  <Paragraphs>289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29" baseType="lpstr">
      <vt:lpstr>微软雅黑</vt:lpstr>
      <vt:lpstr>Arial</vt:lpstr>
      <vt:lpstr>Calibri</vt:lpstr>
      <vt:lpstr>5b608ae8-84f8-45f4-b5ec-ab7c78d47513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Administrator</cp:lastModifiedBy>
  <cp:revision>8</cp:revision>
  <dcterms:created xsi:type="dcterms:W3CDTF">2006-08-16T00:00:00Z</dcterms:created>
  <dcterms:modified xsi:type="dcterms:W3CDTF">2026-07-21T09:36:45Z</dcterms:modified>
</cp:coreProperties>
</file>